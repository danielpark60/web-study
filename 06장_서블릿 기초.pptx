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95"/>
  </p:notesMasterIdLst>
  <p:handoutMasterIdLst>
    <p:handoutMasterId r:id="rId96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329" r:id="rId14"/>
    <p:sldId id="269" r:id="rId15"/>
    <p:sldId id="270" r:id="rId16"/>
    <p:sldId id="330" r:id="rId17"/>
    <p:sldId id="271" r:id="rId18"/>
    <p:sldId id="272" r:id="rId19"/>
    <p:sldId id="273" r:id="rId20"/>
    <p:sldId id="274" r:id="rId21"/>
    <p:sldId id="331" r:id="rId22"/>
    <p:sldId id="275" r:id="rId23"/>
    <p:sldId id="332" r:id="rId24"/>
    <p:sldId id="276" r:id="rId25"/>
    <p:sldId id="277" r:id="rId26"/>
    <p:sldId id="278" r:id="rId27"/>
    <p:sldId id="279" r:id="rId28"/>
    <p:sldId id="280" r:id="rId29"/>
    <p:sldId id="333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334" r:id="rId38"/>
    <p:sldId id="288" r:id="rId39"/>
    <p:sldId id="289" r:id="rId40"/>
    <p:sldId id="290" r:id="rId41"/>
    <p:sldId id="291" r:id="rId42"/>
    <p:sldId id="292" r:id="rId43"/>
    <p:sldId id="335" r:id="rId44"/>
    <p:sldId id="336" r:id="rId45"/>
    <p:sldId id="35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37" r:id="rId54"/>
    <p:sldId id="338" r:id="rId55"/>
    <p:sldId id="300" r:id="rId56"/>
    <p:sldId id="301" r:id="rId57"/>
    <p:sldId id="302" r:id="rId58"/>
    <p:sldId id="303" r:id="rId59"/>
    <p:sldId id="339" r:id="rId60"/>
    <p:sldId id="304" r:id="rId61"/>
    <p:sldId id="305" r:id="rId62"/>
    <p:sldId id="306" r:id="rId63"/>
    <p:sldId id="307" r:id="rId64"/>
    <p:sldId id="340" r:id="rId65"/>
    <p:sldId id="308" r:id="rId66"/>
    <p:sldId id="309" r:id="rId67"/>
    <p:sldId id="341" r:id="rId68"/>
    <p:sldId id="310" r:id="rId69"/>
    <p:sldId id="311" r:id="rId70"/>
    <p:sldId id="342" r:id="rId71"/>
    <p:sldId id="312" r:id="rId72"/>
    <p:sldId id="313" r:id="rId73"/>
    <p:sldId id="343" r:id="rId74"/>
    <p:sldId id="314" r:id="rId75"/>
    <p:sldId id="315" r:id="rId76"/>
    <p:sldId id="316" r:id="rId77"/>
    <p:sldId id="317" r:id="rId78"/>
    <p:sldId id="344" r:id="rId79"/>
    <p:sldId id="345" r:id="rId80"/>
    <p:sldId id="319" r:id="rId81"/>
    <p:sldId id="346" r:id="rId82"/>
    <p:sldId id="320" r:id="rId83"/>
    <p:sldId id="321" r:id="rId84"/>
    <p:sldId id="347" r:id="rId85"/>
    <p:sldId id="322" r:id="rId86"/>
    <p:sldId id="324" r:id="rId87"/>
    <p:sldId id="348" r:id="rId88"/>
    <p:sldId id="325" r:id="rId89"/>
    <p:sldId id="326" r:id="rId90"/>
    <p:sldId id="349" r:id="rId91"/>
    <p:sldId id="327" r:id="rId92"/>
    <p:sldId id="328" r:id="rId93"/>
    <p:sldId id="350" r:id="rId9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SEN Kim" initials="S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aj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aj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aj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aj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aj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73"/>
    <p:restoredTop sz="94660"/>
  </p:normalViewPr>
  <p:slideViewPr>
    <p:cSldViewPr snapToGrid="0">
      <p:cViewPr varScale="1">
        <p:scale>
          <a:sx n="91" d="100"/>
          <a:sy n="91" d="100"/>
        </p:scale>
        <p:origin x="1080" y="84"/>
      </p:cViewPr>
      <p:guideLst>
        <p:guide orient="horz" pos="2154"/>
        <p:guide pos="287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2025-08-11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>
              <a:defRPr/>
            </a:pPr>
            <a:fld id="{0E7094D2-52B1-4A24-9772-F4ABB377CA0B}" type="datetime1">
              <a:rPr lang="ko-KR" altLang="en-US"/>
              <a:pPr>
                <a:defRPr/>
              </a:pPr>
              <a:t>2025-08-11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303C5F93-DBD8-475E-B5C0-664EF94AA89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이(가) 표시된 사진  매우 높은 신뢰도로 생성된 설명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1" y="-8503"/>
            <a:ext cx="9144000" cy="687500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>
            <a:off x="11309" y="0"/>
            <a:ext cx="9121381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preserve="1" userDrawn="1">
  <p:cSld name="제목 및 내용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11309" y="0"/>
            <a:ext cx="9121381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ransition/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5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2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52004"/>
            <a:ext cx="9144000" cy="803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5000"/>
              </a:lnSpc>
            </a:pPr>
            <a:r>
              <a:rPr lang="en-US" altLang="ko-KR" sz="2800"/>
              <a:t>6</a:t>
            </a:r>
            <a:r>
              <a:rPr lang="ko-KR" altLang="en-US" sz="2800"/>
              <a:t>장</a:t>
            </a:r>
            <a:r>
              <a:rPr lang="en-US" altLang="ko-KR" sz="2800"/>
              <a:t>  </a:t>
            </a:r>
            <a:r>
              <a:rPr lang="ko-KR" altLang="en-US" sz="2800"/>
              <a:t>서블릿 기초</a:t>
            </a:r>
            <a:endParaRPr lang="ko-KR" altLang="en-US" sz="2800" spc="-89"/>
          </a:p>
        </p:txBody>
      </p:sp>
      <p:cxnSp>
        <p:nvCxnSpPr>
          <p:cNvPr id="5" name="직선 연결선 4"/>
          <p:cNvCxnSpPr/>
          <p:nvPr/>
        </p:nvCxnSpPr>
        <p:spPr>
          <a:xfrm>
            <a:off x="716437" y="1455301"/>
            <a:ext cx="7748833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66887" y="1909244"/>
            <a:ext cx="6400800" cy="411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6.1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ko-KR" altLang="en-US" sz="2000" dirty="0" err="1">
                <a:solidFill>
                  <a:schemeClr val="bg1">
                    <a:lumMod val="85000"/>
                  </a:schemeClr>
                </a:solidFill>
              </a:rPr>
              <a:t>서블릿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 세 가지 기본 기능</a:t>
            </a:r>
          </a:p>
          <a:p>
            <a:pPr>
              <a:lnSpc>
                <a:spcPct val="165000"/>
              </a:lnSpc>
            </a:pP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6.2  &lt;form&gt; 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태그 이용해 </a:t>
            </a:r>
            <a:r>
              <a:rPr lang="ko-KR" altLang="en-US" sz="2000" dirty="0" err="1">
                <a:solidFill>
                  <a:schemeClr val="bg1">
                    <a:lumMod val="85000"/>
                  </a:schemeClr>
                </a:solidFill>
              </a:rPr>
              <a:t>서블릿에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 요청하기</a:t>
            </a:r>
          </a:p>
          <a:p>
            <a:pPr>
              <a:lnSpc>
                <a:spcPct val="165000"/>
              </a:lnSpc>
            </a:pP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6.3 </a:t>
            </a:r>
            <a:r>
              <a:rPr lang="ko-KR" altLang="en-US" sz="2000" dirty="0" err="1">
                <a:solidFill>
                  <a:schemeClr val="bg1">
                    <a:lumMod val="85000"/>
                  </a:schemeClr>
                </a:solidFill>
              </a:rPr>
              <a:t>서블릿에서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 클라이언트의 요청 얻는 방법</a:t>
            </a:r>
          </a:p>
          <a:p>
            <a:pPr>
              <a:lnSpc>
                <a:spcPct val="165000"/>
              </a:lnSpc>
            </a:pP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6.4 </a:t>
            </a:r>
            <a:r>
              <a:rPr lang="ko-KR" altLang="en-US" sz="2000" dirty="0" err="1">
                <a:solidFill>
                  <a:schemeClr val="bg1">
                    <a:lumMod val="85000"/>
                  </a:schemeClr>
                </a:solidFill>
              </a:rPr>
              <a:t>서블릿의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 응답 처리 방법</a:t>
            </a:r>
          </a:p>
          <a:p>
            <a:pPr>
              <a:lnSpc>
                <a:spcPct val="165000"/>
              </a:lnSpc>
            </a:pP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6.5 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웹 브라우저에서 </a:t>
            </a:r>
            <a:r>
              <a:rPr lang="ko-KR" altLang="en-US" sz="2000" dirty="0" err="1">
                <a:solidFill>
                  <a:schemeClr val="bg1">
                    <a:lumMod val="85000"/>
                  </a:schemeClr>
                </a:solidFill>
              </a:rPr>
              <a:t>서블릿으로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 데이터 전송하기</a:t>
            </a:r>
          </a:p>
          <a:p>
            <a:pPr>
              <a:lnSpc>
                <a:spcPct val="165000"/>
              </a:lnSpc>
            </a:pP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6.6 GET 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방식과 </a:t>
            </a: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POST 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방식 요청 동시에 처리하기</a:t>
            </a:r>
          </a:p>
          <a:p>
            <a:pPr>
              <a:lnSpc>
                <a:spcPct val="165000"/>
              </a:lnSpc>
            </a:pP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6.7 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자바스크립트로 </a:t>
            </a:r>
            <a:r>
              <a:rPr lang="ko-KR" altLang="en-US" sz="2000" dirty="0" err="1">
                <a:solidFill>
                  <a:schemeClr val="bg1">
                    <a:lumMod val="85000"/>
                  </a:schemeClr>
                </a:solidFill>
              </a:rPr>
              <a:t>서블릿에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 요청하기</a:t>
            </a:r>
          </a:p>
          <a:p>
            <a:pPr>
              <a:lnSpc>
                <a:spcPct val="165000"/>
              </a:lnSpc>
            </a:pP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6.8 </a:t>
            </a:r>
            <a:r>
              <a:rPr lang="ko-KR" altLang="en-US" sz="2000" dirty="0" err="1">
                <a:solidFill>
                  <a:schemeClr val="bg1">
                    <a:lumMod val="85000"/>
                  </a:schemeClr>
                </a:solidFill>
              </a:rPr>
              <a:t>서블릿을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</a:rPr>
              <a:t> 이용한 여러 가지 실습 예제</a:t>
            </a:r>
            <a:endParaRPr lang="en-US" altLang="ko-KR" sz="20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17429" y="1411341"/>
            <a:ext cx="8039111" cy="491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6.1.1 </a:t>
            </a:r>
            <a:r>
              <a:rPr lang="ko-KR" altLang="en-US" b="1"/>
              <a:t>서블릿 기본 기능 수행 과정</a:t>
            </a:r>
            <a:endParaRPr lang="en-US" altLang="ko-KR" b="1" spc="-95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6.1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세 가지 기본 기능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6516" y="1896604"/>
            <a:ext cx="7307038" cy="26366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Wingdings"/>
              <a:buChar char="Ø"/>
            </a:pPr>
            <a:r>
              <a:rPr lang="ko-KR" altLang="en-US" sz="1200" b="1"/>
              <a:t> 초기의 웹 프로그래밍에선 서블릿을 이용해서  브라워저의 요청을 처리해서 서비스를 제공했음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16" y="2299305"/>
            <a:ext cx="7307038" cy="30777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ko-KR" altLang="en-US" sz="1400" b="1"/>
              <a:t> 서블릿의 세 가지 기본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852" y="5631722"/>
            <a:ext cx="6721222" cy="106182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400"/>
              <a:t>클라이언트로부터 요청을 얻음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400"/>
              <a:t>데이터베이스 연동과 같은 비즈니스 로직을 처리함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400"/>
              <a:t>처리된 결과를 클라이언트에 응답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1747048" y="2629645"/>
            <a:ext cx="4596570" cy="2952281"/>
            <a:chOff x="2027582" y="2499758"/>
            <a:chExt cx="4695962" cy="3059605"/>
          </a:xfrm>
        </p:grpSpPr>
        <p:pic>
          <p:nvPicPr>
            <p:cNvPr id="1030" name="Picture 6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2027583" y="2499758"/>
              <a:ext cx="4695961" cy="30596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TextBox 10"/>
            <p:cNvSpPr txBox="1"/>
            <p:nvPr/>
          </p:nvSpPr>
          <p:spPr>
            <a:xfrm>
              <a:off x="2027582" y="4052943"/>
              <a:ext cx="1341783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/>
                <a:t>클라이언트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094919" y="4808316"/>
              <a:ext cx="1341783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/>
                <a:t>톰캣 컨테이너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20278" y="3150702"/>
              <a:ext cx="485241" cy="276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1200" b="1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293474" y="3434759"/>
              <a:ext cx="485239" cy="276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1200" b="1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40154" y="3704700"/>
              <a:ext cx="485241" cy="276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1200" b="1">
                  <a:solidFill>
                    <a:srgbClr val="FF0000"/>
                  </a:solidFill>
                </a:rPr>
                <a:t>③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6.1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세 가지 기본 기능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7429" y="1411341"/>
            <a:ext cx="8039111" cy="491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6.1.2 </a:t>
            </a:r>
            <a:r>
              <a:rPr lang="ko-KR" altLang="en-US" b="1"/>
              <a:t>서블릿 요청과 응답 수행 </a:t>
            </a:r>
            <a:r>
              <a:rPr lang="en-US" altLang="ko-KR" b="1"/>
              <a:t>API </a:t>
            </a:r>
            <a:r>
              <a:rPr lang="ko-KR" altLang="en-US" b="1"/>
              <a:t>기능</a:t>
            </a:r>
            <a:endParaRPr lang="en-US" altLang="ko-KR" b="1" spc="-95"/>
          </a:p>
        </p:txBody>
      </p:sp>
      <p:sp>
        <p:nvSpPr>
          <p:cNvPr id="5" name="TextBox 4"/>
          <p:cNvSpPr txBox="1"/>
          <p:nvPr/>
        </p:nvSpPr>
        <p:spPr>
          <a:xfrm>
            <a:off x="685800" y="1874833"/>
            <a:ext cx="6430617" cy="64633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/>
              <a:t>요청과 관련된 </a:t>
            </a:r>
            <a:r>
              <a:rPr lang="en-US" altLang="ko-KR" sz="1200"/>
              <a:t>API: javax.servlet.http.HttpServletRequest </a:t>
            </a:r>
            <a:r>
              <a:rPr lang="ko-KR" altLang="en-US" sz="1200"/>
              <a:t>클래스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/>
              <a:t>응답과 관련된 </a:t>
            </a:r>
            <a:r>
              <a:rPr lang="en-US" altLang="ko-KR" sz="1200"/>
              <a:t>API: javax.servlet.http.HttpServletResponse </a:t>
            </a:r>
            <a:r>
              <a:rPr lang="ko-KR" altLang="en-US" sz="1200"/>
              <a:t>클래스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461" y="3031435"/>
            <a:ext cx="50987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ko-KR" altLang="en-US" sz="1200" b="1">
                <a:latin typeface="+mj-ea"/>
                <a:ea typeface="+mj-ea"/>
              </a:rPr>
              <a:t>요청과 응답 관련 </a:t>
            </a:r>
            <a:r>
              <a:rPr lang="en-US" altLang="ko-KR" sz="1200" b="1">
                <a:latin typeface="+mj-ea"/>
                <a:ea typeface="+mj-ea"/>
              </a:rPr>
              <a:t>API </a:t>
            </a:r>
            <a:r>
              <a:rPr lang="ko-KR" altLang="en-US" sz="1200" b="1">
                <a:latin typeface="+mj-ea"/>
                <a:ea typeface="+mj-ea"/>
              </a:rPr>
              <a:t>사용 예</a:t>
            </a:r>
          </a:p>
        </p:txBody>
      </p:sp>
      <p:pic>
        <p:nvPicPr>
          <p:cNvPr id="9" name="그림 8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929308" y="3308434"/>
            <a:ext cx="5943600" cy="30397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2295939" y="4355275"/>
            <a:ext cx="4576969" cy="19878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2295938" y="5104841"/>
            <a:ext cx="4576969" cy="19878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6.1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세 가지 기본 기능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5119" y="1401826"/>
            <a:ext cx="4253948" cy="2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HttpServletRequest</a:t>
            </a:r>
            <a:r>
              <a:rPr lang="ko-KR" altLang="en-US" sz="1200" b="1">
                <a:latin typeface="+mj-ea"/>
                <a:ea typeface="+mj-ea"/>
              </a:rPr>
              <a:t>의 여러가지 메서드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505119" y="1717285"/>
          <a:ext cx="7391400" cy="5109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3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2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5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반환형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메서드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boolean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Authenticate (HttpServletResponse</a:t>
                      </a:r>
                    </a:p>
                    <a:p>
                      <a:pPr lvl="0"/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                       response)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현재 요청한 사용자가 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ServletContext 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객체에 대한 인증을 하기 위한 컨테이너 로그인 메커니즘을 사용합니다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450">
                <a:tc>
                  <a:txBody>
                    <a:bodyPr/>
                    <a:lstStyle/>
                    <a:p>
                      <a:pPr lvl="0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String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changeSessionId()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현재 요청과 연관된 현재 세션의 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id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를 변경하여 새 세션 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id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를 반환합니다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302">
                <a:tc>
                  <a:txBody>
                    <a:bodyPr/>
                    <a:lstStyle/>
                    <a:p>
                      <a:pPr lvl="0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String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getContextPath()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요청한 컨텍스트를 가리키는 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URI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를 반환합니다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215">
                <a:tc>
                  <a:txBody>
                    <a:bodyPr/>
                    <a:lstStyle/>
                    <a:p>
                      <a:pPr lvl="0"/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Cookie[]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getCookies()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클라이어트가 현재의 요청과 함께 보낸 쿠키 객체들에 대한 배열을</a:t>
                      </a:r>
                    </a:p>
                    <a:p>
                      <a:pPr lvl="0"/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반환합니다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215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 b="0" i="0">
                          <a:latin typeface="+mj-ea"/>
                          <a:ea typeface="+mj-ea"/>
                        </a:rPr>
                        <a:t>String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getHeader(String name)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i="0">
                          <a:latin typeface="+mj-ea"/>
                          <a:ea typeface="+mj-ea"/>
                        </a:rPr>
                        <a:t>특정 요청에 대한 헤더 정보를 문자열로 반환합니다</a:t>
                      </a:r>
                      <a:r>
                        <a:rPr lang="en-US" altLang="ko-KR" sz="1100" b="0" i="0">
                          <a:latin typeface="+mj-ea"/>
                          <a:ea typeface="+mj-ea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215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 b="0" i="0">
                          <a:latin typeface="+mj-ea"/>
                          <a:ea typeface="+mj-ea"/>
                        </a:rPr>
                        <a:t>Enumeration</a:t>
                      </a:r>
                    </a:p>
                    <a:p>
                      <a:pPr algn="l"/>
                      <a:r>
                        <a:rPr lang="en-US" altLang="ko-KR" sz="1100" b="0" i="0">
                          <a:latin typeface="+mj-ea"/>
                          <a:ea typeface="+mj-ea"/>
                        </a:rPr>
                        <a:t>&lt;String&gt;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 b="0" i="0">
                          <a:latin typeface="+mj-ea"/>
                          <a:ea typeface="+mj-ea"/>
                        </a:rPr>
                        <a:t>getHeaderNames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i="0">
                          <a:latin typeface="+mj-ea"/>
                          <a:ea typeface="+mj-ea"/>
                        </a:rPr>
                        <a:t>현재의 요청에 포함된 헤더의 </a:t>
                      </a:r>
                      <a:r>
                        <a:rPr lang="en-US" altLang="ko-KR" sz="1100" b="0" i="0">
                          <a:latin typeface="+mj-ea"/>
                          <a:ea typeface="+mj-ea"/>
                        </a:rPr>
                        <a:t>name </a:t>
                      </a:r>
                      <a:r>
                        <a:rPr lang="ko-KR" altLang="en-US" sz="1100" b="0" i="0">
                          <a:latin typeface="+mj-ea"/>
                          <a:ea typeface="+mj-ea"/>
                        </a:rPr>
                        <a:t>속성을 </a:t>
                      </a:r>
                      <a:r>
                        <a:rPr lang="en-US" altLang="ko-KR" sz="1100" b="0" i="0">
                          <a:latin typeface="+mj-ea"/>
                          <a:ea typeface="+mj-ea"/>
                        </a:rPr>
                        <a:t>enumeration</a:t>
                      </a:r>
                      <a:r>
                        <a:rPr lang="ko-KR" altLang="en-US" sz="1100" b="0" i="0">
                          <a:latin typeface="+mj-ea"/>
                          <a:ea typeface="+mj-ea"/>
                        </a:rPr>
                        <a:t>으로 반환합니다</a:t>
                      </a:r>
                      <a:r>
                        <a:rPr lang="en-US" altLang="ko-KR" sz="1100" b="0" i="0">
                          <a:latin typeface="+mj-ea"/>
                          <a:ea typeface="+mj-ea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215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String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getMethod()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현재 요청이 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GET, POST 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또는 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PUT 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방식 중 어떤 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HTTP 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요청인지</a:t>
                      </a:r>
                    </a:p>
                    <a:p>
                      <a:pPr lvl="0"/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를 반환합니다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550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String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260157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getRequestURI()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요청한 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URL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의 컨텍스트 이름과 파일 경로까지 반환합니다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550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String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getServletPath()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요청한 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URL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에서 서블릿이나 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JSP 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이름을 반환합니다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550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HttpSession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getSession()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현재의 요청과 연관된 세션을 반환합니다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 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만약 세션이 없으면 새로</a:t>
                      </a:r>
                    </a:p>
                    <a:p>
                      <a:pPr lvl="0"/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만들어서 반환합니다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550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String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getPathInfo()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클라이언트가 요청 시 보낸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URL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과 관련된 추가 경로 정보를 반환합니다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6.1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세 가지 기본 기능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5119" y="1401826"/>
            <a:ext cx="4253948" cy="2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HttpServletResponse</a:t>
            </a:r>
            <a:r>
              <a:rPr lang="ko-KR" altLang="en-US" sz="1200" b="1">
                <a:latin typeface="+mj-ea"/>
                <a:ea typeface="+mj-ea"/>
              </a:rPr>
              <a:t>의 여러가지 메서드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505119" y="1717285"/>
          <a:ext cx="757010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1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5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3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5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반환형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메서드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void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addCookie</a:t>
                      </a:r>
                    </a:p>
                    <a:p>
                      <a:pPr lvl="0"/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(Cookie cookie)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응답에 쿠키를 추가합니다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450">
                <a:tc>
                  <a:txBody>
                    <a:bodyPr/>
                    <a:lstStyle/>
                    <a:p>
                      <a:pPr lvl="0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void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addHeader(String name,</a:t>
                      </a:r>
                    </a:p>
                    <a:p>
                      <a:pPr lvl="0"/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                   String value)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name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과 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value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를 헤더에 추가합니다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302">
                <a:tc>
                  <a:txBody>
                    <a:bodyPr/>
                    <a:lstStyle/>
                    <a:p>
                      <a:pPr lvl="0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String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encodeURL(String url)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클라이언트가 쿠키를 지원하지 않을 때 세션 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id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를 포함한 특정 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URL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을 인코딩합니다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696">
                <a:tc>
                  <a:txBody>
                    <a:bodyPr/>
                    <a:lstStyle/>
                    <a:p>
                      <a:pPr lvl="0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Collection &lt;String&gt;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getHeaderNames()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현재 응답의 헤더에 포함된 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name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을 얻어옵니다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215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void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sendRedirect</a:t>
                      </a:r>
                    </a:p>
                    <a:p>
                      <a:pPr lvl="0"/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(String location)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클라이언트에게 리다이렉트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(redirect) 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응답을 보낸 후 특정 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URL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로 다시 요청하게 합니다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05119" y="711235"/>
            <a:ext cx="760521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6.2  &lt;form&gt;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태그를 이용해 서블릿에 요청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5117" y="1302010"/>
            <a:ext cx="8039111" cy="49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6.2.1 &lt;form&gt; </a:t>
            </a:r>
            <a:r>
              <a:rPr lang="ko-KR" altLang="en-US" b="1"/>
              <a:t>태그로 서블릿에 요청하는 과정</a:t>
            </a:r>
            <a:endParaRPr lang="en-US" altLang="ko-KR" b="1" spc="-95"/>
          </a:p>
        </p:txBody>
      </p:sp>
      <p:sp>
        <p:nvSpPr>
          <p:cNvPr id="3" name="TextBox 2"/>
          <p:cNvSpPr txBox="1"/>
          <p:nvPr/>
        </p:nvSpPr>
        <p:spPr>
          <a:xfrm>
            <a:off x="744874" y="5891269"/>
            <a:ext cx="7840925" cy="907676"/>
          </a:xfrm>
          <a:prstGeom prst="rect">
            <a:avLst/>
          </a:prstGeom>
          <a:noFill/>
          <a:ln w="19050">
            <a:solidFill>
              <a:srgbClr val="B8301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+mj-ea"/>
                <a:ea typeface="+mj-ea"/>
              </a:rPr>
              <a:t>서블릿</a:t>
            </a:r>
            <a:r>
              <a:rPr lang="en-US" altLang="ko-KR" sz="1200">
                <a:latin typeface="+mj-ea"/>
                <a:ea typeface="+mj-ea"/>
              </a:rPr>
              <a:t>/JSP </a:t>
            </a:r>
            <a:r>
              <a:rPr lang="ko-KR" altLang="en-US" sz="1200">
                <a:latin typeface="+mj-ea"/>
                <a:ea typeface="+mj-ea"/>
              </a:rPr>
              <a:t>프로그래밍을 하려면 기본적으로 </a:t>
            </a:r>
            <a:r>
              <a:rPr lang="en-US" altLang="ko-KR" sz="1200">
                <a:latin typeface="+mj-ea"/>
                <a:ea typeface="+mj-ea"/>
              </a:rPr>
              <a:t>HTML</a:t>
            </a:r>
            <a:r>
              <a:rPr lang="ko-KR" altLang="en-US" sz="1200">
                <a:latin typeface="+mj-ea"/>
                <a:ea typeface="+mj-ea"/>
              </a:rPr>
              <a:t>이나 자바스크립트에 대해 알아두는 것이 좋습니다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+mj-ea"/>
                <a:ea typeface="+mj-ea"/>
              </a:rPr>
              <a:t>특히 클라이언트에서 서버로 데이터를 전송하는 기능을 담당하는 </a:t>
            </a:r>
            <a:r>
              <a:rPr lang="en-US" altLang="ko-KR" sz="1200">
                <a:latin typeface="+mj-ea"/>
                <a:ea typeface="+mj-ea"/>
              </a:rPr>
              <a:t>&lt;form&gt; </a:t>
            </a:r>
            <a:r>
              <a:rPr lang="ko-KR" altLang="en-US" sz="1200">
                <a:latin typeface="+mj-ea"/>
                <a:ea typeface="+mj-ea"/>
              </a:rPr>
              <a:t>태그와 </a:t>
            </a:r>
            <a:r>
              <a:rPr lang="en-US" altLang="ko-KR" sz="1200">
                <a:latin typeface="+mj-ea"/>
                <a:ea typeface="+mj-ea"/>
              </a:rPr>
              <a:t>&lt;input&gt; </a:t>
            </a:r>
            <a:r>
              <a:rPr lang="ko-KR" altLang="en-US" sz="1200">
                <a:latin typeface="+mj-ea"/>
                <a:ea typeface="+mj-ea"/>
              </a:rPr>
              <a:t>태그의 기능은 자주 사용되므로 반드시 익혀 두기 바랍니다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4875" y="5614270"/>
            <a:ext cx="11587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/>
              <a:buChar char="v"/>
            </a:pPr>
            <a:r>
              <a:rPr lang="en-US" altLang="ko-KR" sz="1200" b="1">
                <a:latin typeface="+mj-ea"/>
                <a:ea typeface="+mj-ea"/>
              </a:rPr>
              <a:t>Tip</a:t>
            </a:r>
            <a:endParaRPr lang="ko-KR" altLang="en-US" sz="1200" b="1">
              <a:latin typeface="+mj-ea"/>
              <a:ea typeface="+mj-ea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1903672" y="1813795"/>
            <a:ext cx="5305425" cy="3800475"/>
            <a:chOff x="1780140" y="1813795"/>
            <a:chExt cx="5305425" cy="3800475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1780140" y="1813795"/>
              <a:ext cx="5305425" cy="3800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TextBox 7"/>
            <p:cNvSpPr txBox="1"/>
            <p:nvPr/>
          </p:nvSpPr>
          <p:spPr>
            <a:xfrm>
              <a:off x="1903672" y="3025349"/>
              <a:ext cx="1282147" cy="220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/>
                <a:t>클라이언트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994742" y="3949688"/>
              <a:ext cx="1282147" cy="2203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/>
                <a:t>톰캣 컨테이너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517429" y="1411341"/>
            <a:ext cx="8039111" cy="491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6.2.2 &lt;form&gt; </a:t>
            </a:r>
            <a:r>
              <a:rPr lang="ko-KR" altLang="en-US" b="1"/>
              <a:t>태그의 여러 가지 속성</a:t>
            </a:r>
            <a:endParaRPr lang="en-US" altLang="ko-KR" b="1" spc="-95"/>
          </a:p>
        </p:txBody>
      </p:sp>
      <p:sp>
        <p:nvSpPr>
          <p:cNvPr id="3" name="아래쪽 화살표 2"/>
          <p:cNvSpPr/>
          <p:nvPr/>
        </p:nvSpPr>
        <p:spPr>
          <a:xfrm>
            <a:off x="3930925" y="3210339"/>
            <a:ext cx="268356" cy="387626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05119" y="711235"/>
            <a:ext cx="760521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6.2  &lt;form&gt;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태그를 이용해 서블릿에 요청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2961233" y="2149959"/>
            <a:ext cx="2486025" cy="828675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 rotWithShape="1">
          <a:blip r:embed="rId3">
            <a:alphaModFix/>
            <a:lum/>
          </a:blip>
          <a:srcRect/>
          <a:stretch>
            <a:fillRect/>
          </a:stretch>
        </p:blipFill>
        <p:spPr>
          <a:xfrm>
            <a:off x="1457471" y="3685385"/>
            <a:ext cx="5700505" cy="779310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1023729" y="1610139"/>
            <a:ext cx="7106479" cy="26438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Wingdings"/>
              <a:buChar char="Ø"/>
            </a:pPr>
            <a:r>
              <a:rPr lang="ko-KR" altLang="en-US" sz="1200">
                <a:latin typeface="+mj-ea"/>
                <a:ea typeface="+mj-ea"/>
              </a:rPr>
              <a:t>로그인 버튼 클릭 시 </a:t>
            </a:r>
            <a:r>
              <a:rPr lang="en-US" altLang="ko-KR" sz="1200">
                <a:latin typeface="+mj-ea"/>
                <a:ea typeface="+mj-ea"/>
              </a:rPr>
              <a:t>&lt;form&gt; </a:t>
            </a:r>
            <a:r>
              <a:rPr lang="ko-KR" altLang="en-US" sz="1200">
                <a:latin typeface="+mj-ea"/>
                <a:ea typeface="+mj-ea"/>
              </a:rPr>
              <a:t>태그의 </a:t>
            </a:r>
            <a:r>
              <a:rPr lang="en-US" altLang="ko-KR" sz="1200">
                <a:latin typeface="+mj-ea"/>
                <a:ea typeface="+mj-ea"/>
              </a:rPr>
              <a:t>action </a:t>
            </a:r>
            <a:r>
              <a:rPr lang="ko-KR" altLang="en-US" sz="1200">
                <a:latin typeface="+mj-ea"/>
                <a:ea typeface="+mj-ea"/>
              </a:rPr>
              <a:t>속성에 지정한 </a:t>
            </a:r>
            <a:r>
              <a:rPr lang="en-US" altLang="ko-KR" sz="1200">
                <a:latin typeface="+mj-ea"/>
                <a:ea typeface="+mj-ea"/>
              </a:rPr>
              <a:t>JSP</a:t>
            </a:r>
            <a:r>
              <a:rPr lang="ko-KR" altLang="en-US" sz="1200">
                <a:latin typeface="+mj-ea"/>
                <a:ea typeface="+mj-ea"/>
              </a:rPr>
              <a:t>나 서블릿으로  </a:t>
            </a:r>
            <a:r>
              <a:rPr lang="en-US" altLang="ko-KR" sz="1200">
                <a:latin typeface="+mj-ea"/>
                <a:ea typeface="+mj-ea"/>
              </a:rPr>
              <a:t>name/value</a:t>
            </a:r>
            <a:r>
              <a:rPr lang="ko-KR" altLang="en-US" sz="1200">
                <a:latin typeface="+mj-ea"/>
                <a:ea typeface="+mj-ea"/>
              </a:rPr>
              <a:t>로 전송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5119" y="711235"/>
            <a:ext cx="760521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6.2  &lt;form&gt;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태그를 이용해 서블릿에 요청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1628980" y="2150993"/>
            <a:ext cx="5895975" cy="3848100"/>
            <a:chOff x="1628980" y="1991967"/>
            <a:chExt cx="5895975" cy="3848100"/>
          </a:xfrm>
        </p:grpSpPr>
        <p:pic>
          <p:nvPicPr>
            <p:cNvPr id="3076" name="Picture 4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1628980" y="1991967"/>
              <a:ext cx="5895975" cy="384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사각형 설명선 7"/>
            <p:cNvSpPr/>
            <p:nvPr/>
          </p:nvSpPr>
          <p:spPr>
            <a:xfrm>
              <a:off x="2903674" y="3030191"/>
              <a:ext cx="1895475" cy="624922"/>
            </a:xfrm>
            <a:prstGeom prst="wedgeRectCallout">
              <a:avLst>
                <a:gd name="adj1" fmla="val -35209"/>
                <a:gd name="adj2" fmla="val 85507"/>
              </a:avLst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="horz" wrap="square" lIns="91440" tIns="45720" rIns="91440" bIns="45720" anchor="ctr" anchorCtr="0">
              <a:noAutofit/>
            </a:bodyPr>
            <a:lstStyle/>
            <a:p>
              <a:pPr algn="l" latinLnBrk="1">
                <a:spcAft>
                  <a:spcPct val="3000"/>
                </a:spcAft>
              </a:pPr>
              <a:r>
                <a:rPr lang="en-US" altLang="en-US" sz="1000" b="1">
                  <a:solidFill>
                    <a:srgbClr val="000000"/>
                  </a:solidFill>
                  <a:latin typeface="+mj-ea"/>
                  <a:ea typeface="+mj-ea"/>
                  <a:cs typeface="Times New Roman"/>
                </a:rPr>
                <a:t>&lt;input&gt; </a:t>
              </a:r>
              <a:r>
                <a:rPr lang="ko-KR" altLang="en-US" sz="1000" b="1">
                  <a:solidFill>
                    <a:srgbClr val="000000"/>
                  </a:solidFill>
                  <a:latin typeface="+mj-ea"/>
                  <a:ea typeface="+mj-ea"/>
                  <a:cs typeface="Times New Roman"/>
                </a:rPr>
                <a:t>태그의</a:t>
              </a:r>
              <a:r>
                <a:rPr lang="en-US" altLang="en-US" sz="1000" b="1">
                  <a:solidFill>
                    <a:srgbClr val="000000"/>
                  </a:solidFill>
                  <a:latin typeface="+mj-ea"/>
                  <a:ea typeface="+mj-ea"/>
                  <a:cs typeface="Times New Roman"/>
                </a:rPr>
                <a:t> name </a:t>
              </a:r>
              <a:r>
                <a:rPr lang="ko-KR" altLang="en-US" sz="1000" b="1">
                  <a:solidFill>
                    <a:srgbClr val="000000"/>
                  </a:solidFill>
                  <a:latin typeface="+mj-ea"/>
                  <a:ea typeface="+mj-ea"/>
                  <a:cs typeface="Times New Roman"/>
                </a:rPr>
                <a:t>속성의 값과 실제 입력한 데이터가 쌍으로 전송됩니다</a:t>
              </a:r>
              <a:r>
                <a:rPr lang="en-US" altLang="en-US" sz="1000" b="1">
                  <a:solidFill>
                    <a:srgbClr val="000000"/>
                  </a:solidFill>
                  <a:latin typeface="+mj-ea"/>
                  <a:ea typeface="+mj-ea"/>
                  <a:cs typeface="Times New Roman"/>
                </a:rPr>
                <a:t>.</a:t>
              </a:r>
              <a:endParaRPr lang="ko-KR" altLang="en-US" sz="1000">
                <a:latin typeface="+mj-ea"/>
                <a:ea typeface="+mj-ea"/>
                <a:cs typeface="Times New Roman"/>
              </a:endParaRPr>
            </a:p>
          </p:txBody>
        </p:sp>
        <p:pic>
          <p:nvPicPr>
            <p:cNvPr id="3077" name="Picture 5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2053965" y="4901028"/>
              <a:ext cx="1651554" cy="5107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5" name="TextBox 4"/>
          <p:cNvSpPr txBox="1"/>
          <p:nvPr/>
        </p:nvSpPr>
        <p:spPr>
          <a:xfrm>
            <a:off x="505119" y="1401826"/>
            <a:ext cx="4253948" cy="2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&lt;form&gt; </a:t>
            </a:r>
            <a:r>
              <a:rPr lang="ko-KR" altLang="en-US" sz="1200" b="1">
                <a:latin typeface="+mj-ea"/>
                <a:ea typeface="+mj-ea"/>
              </a:rPr>
              <a:t>태그와 관련된 여러 가지 속성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584631" y="1707346"/>
          <a:ext cx="7545577" cy="2000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1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3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35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name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&lt;form&gt;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태그의 이름을 지정합니다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여러 개의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form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 존재할 경우 구분하는 역할을 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자바스크립트에서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&lt;form&gt;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태그에 접근할 때 자주 사용합니다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450">
                <a:tc>
                  <a:txBody>
                    <a:bodyPr/>
                    <a:lstStyle/>
                    <a:p>
                      <a:pPr lvl="0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method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&lt;form&gt;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태그 안에서 데이터를 전송할 때 전송 방법을 지정합니다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GET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또는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지정합니다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아무것도 지정하지 않으면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입니다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302">
                <a:tc>
                  <a:txBody>
                    <a:bodyPr/>
                    <a:lstStyle/>
                    <a:p>
                      <a:pPr lvl="0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action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&lt;form&gt;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태그에서 데이터를 전송할 서블릿이나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JSP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지정합니다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서블릿으로 전송할 때는 매핑 이름을 사용합니다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215">
                <a:tc>
                  <a:txBody>
                    <a:bodyPr/>
                    <a:lstStyle/>
                    <a:p>
                      <a:pPr lvl="0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encType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&lt;form&gt;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태그에서 전송할 데이터의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encoding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타입을 지정합니다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파일을 업로드할 때는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multipart/form-data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지정합니다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5119" y="711235"/>
            <a:ext cx="760521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6.2  &lt;form&gt;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태그를 이용해 서블릿에 요청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6819" y="1540565"/>
            <a:ext cx="7108254" cy="26728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altLang="ko-KR" sz="1200">
                <a:latin typeface="+mj-ea"/>
                <a:ea typeface="+mj-ea"/>
              </a:rPr>
              <a:t>HttpServletRequest </a:t>
            </a:r>
            <a:r>
              <a:rPr lang="ko-KR" altLang="en-US" sz="1200">
                <a:latin typeface="+mj-ea"/>
                <a:ea typeface="+mj-ea"/>
              </a:rPr>
              <a:t>클래스의 여러가지 메서드를 이용해서 전송된 데이터를 얻음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5116" y="2137322"/>
            <a:ext cx="4253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&lt;form&gt; </a:t>
            </a:r>
            <a:r>
              <a:rPr lang="ko-KR" altLang="en-US" sz="1200" b="1">
                <a:latin typeface="+mj-ea"/>
                <a:ea typeface="+mj-ea"/>
              </a:rPr>
              <a:t>태그로 전송된 데이터를 받아 오는 메서드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505119" y="2452782"/>
          <a:ext cx="7545577" cy="1252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5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0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3505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메서드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 sz="1100" b="0" i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>
                          <a:solidFill>
                            <a:srgbClr val="800080"/>
                          </a:solidFill>
                          <a:latin typeface="+mn-lt"/>
                          <a:ea typeface="+mn-ea"/>
                          <a:cs typeface="+mn-cs"/>
                        </a:rPr>
                        <a:t>getParameter(String name)</a:t>
                      </a:r>
                      <a:endParaRPr lang="ko-KR" altLang="en-US" sz="1100">
                        <a:solidFill>
                          <a:srgbClr val="800080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의 값을 알고 있을 때 그리고 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 대한 전송된 값을 받아오는 데 사용합니다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450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 sz="1100" b="0" i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String[]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>
                          <a:solidFill>
                            <a:srgbClr val="800080"/>
                          </a:solidFill>
                          <a:latin typeface="+mn-lt"/>
                          <a:ea typeface="+mn-ea"/>
                          <a:cs typeface="+mn-cs"/>
                        </a:rPr>
                        <a:t>getParameterValues(String name)</a:t>
                      </a:r>
                      <a:endParaRPr lang="ko-KR" altLang="en-US" sz="1100">
                        <a:solidFill>
                          <a:srgbClr val="800080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Font typeface="Arial"/>
                        <a:buNone/>
                        <a:defRPr/>
                      </a:pP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같은 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 대해 여러 개의 값을 얻을 때 사용합니다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302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 sz="1100" b="0" i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Enumeration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>
                          <a:solidFill>
                            <a:srgbClr val="800080"/>
                          </a:solidFill>
                          <a:latin typeface="+mn-lt"/>
                          <a:ea typeface="+mn-ea"/>
                          <a:cs typeface="+mn-cs"/>
                        </a:rPr>
                        <a:t>getParameterNames()</a:t>
                      </a:r>
                      <a:endParaRPr lang="ko-KR" altLang="en-US" sz="1100">
                        <a:solidFill>
                          <a:srgbClr val="800080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Font typeface="Arial"/>
                        <a:buNone/>
                        <a:defRPr/>
                      </a:pP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 </a:t>
                      </a:r>
                      <a:r>
                        <a:rPr lang="ko-KR" altLang="en-US" sz="11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값을 모를 때 사용합니다</a:t>
                      </a:r>
                      <a:r>
                        <a:rPr lang="en-US" altLang="ko-KR" sz="11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517429" y="1371585"/>
            <a:ext cx="8039111" cy="493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  <a:defRPr/>
            </a:pPr>
            <a:r>
              <a:rPr lang="en-US" altLang="ko-KR" b="1"/>
              <a:t>6.3.1 HttpServletRequest</a:t>
            </a:r>
            <a:r>
              <a:rPr lang="ko-KR" altLang="en-US" b="1"/>
              <a:t>로 요청 처리 실습</a:t>
            </a:r>
            <a:endParaRPr lang="en-US" altLang="ko-KR" b="1" spc="-95"/>
          </a:p>
        </p:txBody>
      </p:sp>
      <p:sp>
        <p:nvSpPr>
          <p:cNvPr id="3" name="TextBox 2"/>
          <p:cNvSpPr txBox="1"/>
          <p:nvPr/>
        </p:nvSpPr>
        <p:spPr>
          <a:xfrm>
            <a:off x="517429" y="1965530"/>
            <a:ext cx="78115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pro06</a:t>
            </a:r>
            <a:r>
              <a:rPr lang="ko-KR" altLang="en-US" sz="1200">
                <a:latin typeface="+mj-ea"/>
                <a:ea typeface="+mj-ea"/>
              </a:rPr>
              <a:t>이라는 새 프로젝트를 생성합니다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그리고 톰캣의 </a:t>
            </a:r>
            <a:r>
              <a:rPr lang="en-US" altLang="ko-KR" sz="1200">
                <a:latin typeface="+mj-ea"/>
                <a:ea typeface="+mj-ea"/>
              </a:rPr>
              <a:t>servlet-api.jar</a:t>
            </a:r>
            <a:r>
              <a:rPr lang="ko-KR" altLang="en-US" sz="1200">
                <a:latin typeface="+mj-ea"/>
                <a:ea typeface="+mj-ea"/>
              </a:rPr>
              <a:t>를 클래스 패스에 지정합니다</a:t>
            </a:r>
            <a:r>
              <a:rPr lang="en-US" altLang="ko-KR" sz="1200">
                <a:latin typeface="+mj-ea"/>
                <a:ea typeface="+mj-ea"/>
              </a:rPr>
              <a:t>(5</a:t>
            </a:r>
            <a:r>
              <a:rPr lang="ko-KR" altLang="en-US" sz="1200">
                <a:latin typeface="+mj-ea"/>
                <a:ea typeface="+mj-ea"/>
              </a:rPr>
              <a:t>장 참고</a:t>
            </a:r>
            <a:r>
              <a:rPr lang="en-US" altLang="ko-KR" sz="1200">
                <a:latin typeface="+mj-ea"/>
                <a:ea typeface="+mj-ea"/>
              </a:rPr>
              <a:t>).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7429" y="4093679"/>
            <a:ext cx="7982898" cy="266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webapp </a:t>
            </a:r>
            <a:r>
              <a:rPr lang="ko-KR" altLang="en-US" sz="1200">
                <a:latin typeface="+mj-ea"/>
                <a:ea typeface="+mj-ea"/>
              </a:rPr>
              <a:t>폴더 하위에 다음과 같이 사용자 정보를 입력 받을 </a:t>
            </a:r>
            <a:r>
              <a:rPr lang="en-US" altLang="ko-KR" sz="1200">
                <a:latin typeface="+mj-ea"/>
                <a:ea typeface="+mj-ea"/>
              </a:rPr>
              <a:t>login.html</a:t>
            </a:r>
            <a:r>
              <a:rPr lang="ko-KR" altLang="en-US" sz="1200">
                <a:latin typeface="+mj-ea"/>
                <a:ea typeface="+mj-ea"/>
              </a:rPr>
              <a:t>을 생성합니다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0" name="그림 9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625173" y="2545453"/>
            <a:ext cx="2443784" cy="11906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2625173" y="4643230"/>
            <a:ext cx="2390775" cy="1905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/>
          <p:cNvSpPr/>
          <p:nvPr/>
        </p:nvSpPr>
        <p:spPr>
          <a:xfrm>
            <a:off x="3001617" y="6351104"/>
            <a:ext cx="845448" cy="19712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가로 글상자 11"/>
          <p:cNvSpPr txBox="1"/>
          <p:nvPr/>
        </p:nvSpPr>
        <p:spPr>
          <a:xfrm>
            <a:off x="3097776" y="5808711"/>
            <a:ext cx="688257" cy="163464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100"/>
              <a:t>webapp</a:t>
            </a:r>
          </a:p>
        </p:txBody>
      </p:sp>
      <p:sp>
        <p:nvSpPr>
          <p:cNvPr id="13" name="가로 글상자 12"/>
          <p:cNvSpPr txBox="1"/>
          <p:nvPr/>
        </p:nvSpPr>
        <p:spPr>
          <a:xfrm>
            <a:off x="3131574" y="3553129"/>
            <a:ext cx="688257" cy="163464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100"/>
              <a:t>webapp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540565"/>
            <a:ext cx="7635027" cy="44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ko-KR" altLang="en-US" sz="1200">
                <a:latin typeface="+mj-ea"/>
                <a:ea typeface="+mj-ea"/>
              </a:rPr>
              <a:t>다음과 같이 </a:t>
            </a:r>
            <a:r>
              <a:rPr lang="en-US" altLang="ko-KR" sz="1200">
                <a:latin typeface="+mj-ea"/>
                <a:ea typeface="+mj-ea"/>
              </a:rPr>
              <a:t>login.html </a:t>
            </a:r>
            <a:r>
              <a:rPr lang="ko-KR" altLang="en-US" sz="1200">
                <a:latin typeface="+mj-ea"/>
                <a:ea typeface="+mj-ea"/>
              </a:rPr>
              <a:t>파일을 작성합니다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로그인창에서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비밀번호를 입력 받은 후 서블릿으로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전송하는 내용입니다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112708" y="2076036"/>
            <a:ext cx="64198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195" name="가로 글상자 8194"/>
          <p:cNvSpPr txBox="1"/>
          <p:nvPr/>
        </p:nvSpPr>
        <p:spPr>
          <a:xfrm>
            <a:off x="2126226" y="2121000"/>
            <a:ext cx="1333499" cy="179442"/>
          </a:xfrm>
          <a:prstGeom prst="rect">
            <a:avLst/>
          </a:prstGeom>
          <a:solidFill>
            <a:srgbClr val="D8BEE4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200"/>
              <a:t>webapp/login.html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6" name="TextBox 5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195" name="TextBox 8194"/>
          <p:cNvSpPr txBox="1"/>
          <p:nvPr/>
        </p:nvSpPr>
        <p:spPr>
          <a:xfrm>
            <a:off x="0" y="1467901"/>
            <a:ext cx="9144000" cy="264499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&lt;!DOCTYPE html&gt;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&lt;html&gt;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&lt;head&gt;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&lt;meta charset="UTF-8"&gt;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&lt;title&gt;로그인창&lt;/title&gt;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&lt;/head&gt;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&lt;body&gt;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  &lt;form name="frmLogin" 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method="get" action="login" </a:t>
            </a:r>
            <a:r>
              <a:rPr lang="en-US" altLang="ko-KR" sz="1200">
                <a:latin typeface="한컴산뜻돋움"/>
                <a:ea typeface="한컴산뜻돋움"/>
              </a:rPr>
              <a:t> encType="UTF-8"&gt;</a:t>
            </a:r>
          </a:p>
          <a:p>
            <a:pPr lvl="0"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     </a:t>
            </a:r>
            <a:r>
              <a:rPr lang="en-US" altLang="ko-KR" sz="1200">
                <a:latin typeface="한컴산뜻돋움"/>
                <a:ea typeface="한컴산뜻돋움"/>
              </a:rPr>
              <a:t>아이디  :&lt;input type="text" name="user_id"&gt;&lt;br&gt;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     비밀번호:&lt;input type="password" name="user_pw" &gt;&lt;br&gt;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    &lt;input type="submit" value="로그인"&gt;  &lt;input type="reset" value="다시입력"&gt;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  &lt;/form&gt;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&lt;/body&gt;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&lt;/html&gt;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580322"/>
            <a:ext cx="7853690" cy="446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en-US" altLang="ko-KR" sz="1200">
                <a:latin typeface="+mj-ea"/>
                <a:ea typeface="+mj-ea"/>
              </a:rPr>
              <a:t>sec01.ex01 </a:t>
            </a:r>
            <a:r>
              <a:rPr lang="ko-KR" altLang="en-US" sz="1200">
                <a:latin typeface="+mj-ea"/>
                <a:ea typeface="+mj-ea"/>
              </a:rPr>
              <a:t>패키지를 만들고 요청을 받을 서블릿인 </a:t>
            </a:r>
            <a:r>
              <a:rPr lang="en-US" altLang="ko-KR" sz="1200">
                <a:latin typeface="+mj-ea"/>
                <a:ea typeface="+mj-ea"/>
              </a:rPr>
              <a:t>LoginServlet </a:t>
            </a:r>
            <a:r>
              <a:rPr lang="ko-KR" altLang="en-US" sz="1200">
                <a:latin typeface="+mj-ea"/>
                <a:ea typeface="+mj-ea"/>
              </a:rPr>
              <a:t>클래스를 생성합니다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 (5</a:t>
            </a:r>
            <a:r>
              <a:rPr lang="ko-KR" altLang="en-US" sz="1200">
                <a:latin typeface="+mj-ea"/>
                <a:ea typeface="+mj-ea"/>
              </a:rPr>
              <a:t>장 애너테이션을 이용한 서블릿 생성 과정을 참고하세요</a:t>
            </a:r>
            <a:r>
              <a:rPr lang="en-US" altLang="ko-KR" sz="1200">
                <a:latin typeface="+mj-ea"/>
                <a:ea typeface="+mj-ea"/>
              </a:rPr>
              <a:t>).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그림 6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400299" y="2215596"/>
            <a:ext cx="2320787" cy="14420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3130826" y="3250096"/>
            <a:ext cx="1301138" cy="24847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8" name="가로 글상자 7"/>
          <p:cNvSpPr txBox="1"/>
          <p:nvPr/>
        </p:nvSpPr>
        <p:spPr>
          <a:xfrm>
            <a:off x="3076575" y="2951826"/>
            <a:ext cx="1524000" cy="143799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000" b="1"/>
              <a:t>src/main/java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6" y="1470991"/>
            <a:ext cx="8199783" cy="451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ko-KR" altLang="en-US" sz="1200">
                <a:latin typeface="+mj-ea"/>
                <a:ea typeface="+mj-ea"/>
              </a:rPr>
              <a:t>다음과 같이 </a:t>
            </a:r>
            <a:r>
              <a:rPr lang="en-US" altLang="ko-KR" sz="1200">
                <a:latin typeface="+mj-ea"/>
                <a:ea typeface="+mj-ea"/>
              </a:rPr>
              <a:t>LoginServlet.java </a:t>
            </a:r>
            <a:r>
              <a:rPr lang="ko-KR" altLang="en-US" sz="1200">
                <a:latin typeface="+mj-ea"/>
                <a:ea typeface="+mj-ea"/>
              </a:rPr>
              <a:t>코드를 작성합니다</a:t>
            </a:r>
            <a:r>
              <a:rPr lang="en-US" altLang="ko-KR" sz="1200">
                <a:latin typeface="+mj-ea"/>
                <a:ea typeface="+mj-ea"/>
              </a:rPr>
              <a:t>. HttpServletRequest </a:t>
            </a:r>
            <a:r>
              <a:rPr lang="ko-KR" altLang="en-US" sz="1200">
                <a:latin typeface="+mj-ea"/>
                <a:ea typeface="+mj-ea"/>
              </a:rPr>
              <a:t>클래스의 </a:t>
            </a:r>
            <a:r>
              <a:rPr lang="en-US" altLang="ko-KR" sz="1200">
                <a:latin typeface="+mj-ea"/>
                <a:ea typeface="+mj-ea"/>
              </a:rPr>
              <a:t>getParameter() </a:t>
            </a:r>
            <a:r>
              <a:rPr lang="ko-KR" altLang="en-US" sz="1200">
                <a:latin typeface="+mj-ea"/>
                <a:ea typeface="+mj-ea"/>
              </a:rPr>
              <a:t>메서드로 전송된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비밀번호를 받아 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822911" y="1932655"/>
            <a:ext cx="5146875" cy="493242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6" name="TextBox 5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243" name="TextBox 10242"/>
          <p:cNvSpPr txBox="1"/>
          <p:nvPr/>
        </p:nvSpPr>
        <p:spPr>
          <a:xfrm>
            <a:off x="-1" y="1433710"/>
            <a:ext cx="9144001" cy="521283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dirty="0" err="1">
                <a:latin typeface="한컴산뜻돋움"/>
                <a:ea typeface="한컴산뜻돋움"/>
              </a:rPr>
              <a:t>package</a:t>
            </a:r>
            <a:r>
              <a:rPr lang="ko-KR" altLang="en-US" sz="1200" dirty="0">
                <a:latin typeface="한컴산뜻돋움"/>
                <a:ea typeface="한컴산뜻돋움"/>
              </a:rPr>
              <a:t> sec01.ex01;</a:t>
            </a:r>
          </a:p>
          <a:p>
            <a:pPr>
              <a:defRPr/>
            </a:pPr>
            <a:endParaRPr lang="ko-KR" altLang="en-US" sz="1200" dirty="0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ko-KR" altLang="en-US" sz="1200" dirty="0" err="1">
                <a:latin typeface="한컴산뜻돋움"/>
                <a:ea typeface="한컴산뜻돋움"/>
              </a:rPr>
              <a:t>import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java.io.IOException</a:t>
            </a:r>
            <a:r>
              <a:rPr lang="ko-KR" altLang="en-US" sz="1200" dirty="0">
                <a:latin typeface="한컴산뜻돋움"/>
                <a:ea typeface="한컴산뜻돋움"/>
              </a:rPr>
              <a:t>;</a:t>
            </a:r>
          </a:p>
          <a:p>
            <a:pPr>
              <a:defRPr/>
            </a:pPr>
            <a:r>
              <a:rPr lang="ko-KR" altLang="en-US" sz="1200" dirty="0" err="1">
                <a:latin typeface="한컴산뜻돋움"/>
                <a:ea typeface="한컴산뜻돋움"/>
              </a:rPr>
              <a:t>import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javax.servlet.ServletException</a:t>
            </a:r>
            <a:r>
              <a:rPr lang="ko-KR" altLang="en-US" sz="1200" dirty="0">
                <a:latin typeface="한컴산뜻돋움"/>
                <a:ea typeface="한컴산뜻돋움"/>
              </a:rPr>
              <a:t>;</a:t>
            </a:r>
          </a:p>
          <a:p>
            <a:pPr>
              <a:defRPr/>
            </a:pPr>
            <a:r>
              <a:rPr lang="ko-KR" altLang="en-US" sz="1200" dirty="0" err="1">
                <a:latin typeface="한컴산뜻돋움"/>
                <a:ea typeface="한컴산뜻돋움"/>
              </a:rPr>
              <a:t>import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javax.servlet.annotation.WebServlet</a:t>
            </a:r>
            <a:r>
              <a:rPr lang="ko-KR" altLang="en-US" sz="1200" dirty="0">
                <a:latin typeface="한컴산뜻돋움"/>
                <a:ea typeface="한컴산뜻돋움"/>
              </a:rPr>
              <a:t>;</a:t>
            </a:r>
          </a:p>
          <a:p>
            <a:pPr>
              <a:defRPr/>
            </a:pPr>
            <a:r>
              <a:rPr lang="ko-KR" altLang="en-US" sz="1200" dirty="0" err="1">
                <a:latin typeface="한컴산뜻돋움"/>
                <a:ea typeface="한컴산뜻돋움"/>
              </a:rPr>
              <a:t>import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javax.servlet.http.HttpServlet</a:t>
            </a:r>
            <a:r>
              <a:rPr lang="ko-KR" altLang="en-US" sz="1200" dirty="0">
                <a:latin typeface="한컴산뜻돋움"/>
                <a:ea typeface="한컴산뜻돋움"/>
              </a:rPr>
              <a:t>;</a:t>
            </a:r>
          </a:p>
          <a:p>
            <a:pPr>
              <a:defRPr/>
            </a:pPr>
            <a:r>
              <a:rPr lang="ko-KR" altLang="en-US" sz="1200" dirty="0" err="1">
                <a:latin typeface="한컴산뜻돋움"/>
                <a:ea typeface="한컴산뜻돋움"/>
              </a:rPr>
              <a:t>import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javax.servlet.http.HttpServletRequest</a:t>
            </a:r>
            <a:r>
              <a:rPr lang="ko-KR" altLang="en-US" sz="1200" dirty="0">
                <a:latin typeface="한컴산뜻돋움"/>
                <a:ea typeface="한컴산뜻돋움"/>
              </a:rPr>
              <a:t>;</a:t>
            </a:r>
          </a:p>
          <a:p>
            <a:pPr>
              <a:defRPr/>
            </a:pPr>
            <a:r>
              <a:rPr lang="ko-KR" altLang="en-US" sz="1200" dirty="0" err="1">
                <a:latin typeface="한컴산뜻돋움"/>
                <a:ea typeface="한컴산뜻돋움"/>
              </a:rPr>
              <a:t>import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javax.servlet.http.HttpServletResponse</a:t>
            </a:r>
            <a:r>
              <a:rPr lang="ko-KR" altLang="en-US" sz="1200" dirty="0">
                <a:latin typeface="한컴산뜻돋움"/>
                <a:ea typeface="한컴산뜻돋움"/>
              </a:rPr>
              <a:t>;</a:t>
            </a:r>
          </a:p>
          <a:p>
            <a:pPr>
              <a:defRPr/>
            </a:pPr>
            <a:endParaRPr lang="ko-KR" altLang="en-US" sz="1200" dirty="0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@WebServlet("/login") </a:t>
            </a:r>
          </a:p>
          <a:p>
            <a:pPr>
              <a:defRPr/>
            </a:pPr>
            <a:r>
              <a:rPr lang="ko-KR" altLang="en-US" sz="1200" dirty="0" err="1">
                <a:latin typeface="한컴산뜻돋움"/>
                <a:ea typeface="한컴산뜻돋움"/>
              </a:rPr>
              <a:t>public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class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LoginServlet</a:t>
            </a:r>
            <a:r>
              <a:rPr lang="ko-KR" altLang="en-US" sz="1200" dirty="0">
                <a:latin typeface="한컴산뜻돋움"/>
                <a:ea typeface="한컴산뜻돋움"/>
              </a:rPr>
              <a:t>  </a:t>
            </a:r>
            <a:r>
              <a:rPr lang="ko-KR" altLang="en-US" sz="1200" dirty="0" err="1">
                <a:latin typeface="한컴산뜻돋움"/>
                <a:ea typeface="한컴산뜻돋움"/>
              </a:rPr>
              <a:t>extends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HttpServlet</a:t>
            </a:r>
            <a:r>
              <a:rPr lang="ko-KR" altLang="en-US" sz="1200" dirty="0">
                <a:latin typeface="한컴산뜻돋움"/>
                <a:ea typeface="한컴산뜻돋움"/>
              </a:rPr>
              <a:t>{</a:t>
            </a:r>
          </a:p>
          <a:p>
            <a:pPr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</a:t>
            </a:r>
            <a:r>
              <a:rPr lang="ko-KR" altLang="en-US" sz="1200" dirty="0" err="1">
                <a:latin typeface="한컴산뜻돋움"/>
                <a:ea typeface="한컴산뜻돋움"/>
              </a:rPr>
              <a:t>public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void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init</a:t>
            </a:r>
            <a:r>
              <a:rPr lang="ko-KR" altLang="en-US" sz="1200" dirty="0">
                <a:latin typeface="한컴산뜻돋움"/>
                <a:ea typeface="한컴산뜻돋움"/>
              </a:rPr>
              <a:t>() </a:t>
            </a:r>
            <a:r>
              <a:rPr lang="ko-KR" altLang="en-US" sz="1200" dirty="0" err="1">
                <a:latin typeface="한컴산뜻돋움"/>
                <a:ea typeface="한컴산뜻돋움"/>
              </a:rPr>
              <a:t>throws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ServletException</a:t>
            </a:r>
            <a:r>
              <a:rPr lang="ko-KR" altLang="en-US" sz="1200" dirty="0">
                <a:latin typeface="한컴산뜻돋움"/>
                <a:ea typeface="한컴산뜻돋움"/>
              </a:rPr>
              <a:t> {</a:t>
            </a:r>
          </a:p>
          <a:p>
            <a:pPr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   </a:t>
            </a:r>
            <a:r>
              <a:rPr lang="ko-KR" altLang="en-US" sz="1200" dirty="0" err="1">
                <a:latin typeface="한컴산뜻돋움"/>
                <a:ea typeface="한컴산뜻돋움"/>
              </a:rPr>
              <a:t>System.out.println</a:t>
            </a:r>
            <a:r>
              <a:rPr lang="ko-KR" altLang="en-US" sz="1200" dirty="0">
                <a:latin typeface="한컴산뜻돋움"/>
                <a:ea typeface="한컴산뜻돋움"/>
              </a:rPr>
              <a:t>("</a:t>
            </a:r>
            <a:r>
              <a:rPr lang="ko-KR" altLang="en-US" sz="1200" dirty="0" err="1">
                <a:latin typeface="한컴산뜻돋움"/>
                <a:ea typeface="한컴산뜻돋움"/>
              </a:rPr>
              <a:t>init</a:t>
            </a:r>
            <a:r>
              <a:rPr lang="ko-KR" altLang="en-US" sz="1200" dirty="0">
                <a:latin typeface="한컴산뜻돋움"/>
                <a:ea typeface="한컴산뜻돋움"/>
              </a:rPr>
              <a:t> 메서드 호출");</a:t>
            </a:r>
          </a:p>
          <a:p>
            <a:pPr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}</a:t>
            </a:r>
          </a:p>
          <a:p>
            <a:pPr>
              <a:defRPr/>
            </a:pPr>
            <a:endParaRPr lang="ko-KR" altLang="en-US" sz="1200" dirty="0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</a:t>
            </a:r>
            <a:r>
              <a:rPr lang="ko-KR" altLang="en-US" sz="1200" dirty="0" err="1">
                <a:latin typeface="한컴산뜻돋움"/>
                <a:ea typeface="한컴산뜻돋움"/>
              </a:rPr>
              <a:t>protected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void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doGet</a:t>
            </a:r>
            <a:r>
              <a:rPr lang="ko-KR" altLang="en-US" sz="1200" dirty="0">
                <a:latin typeface="한컴산뜻돋움"/>
                <a:ea typeface="한컴산뜻돋움"/>
              </a:rPr>
              <a:t>(</a:t>
            </a:r>
            <a:r>
              <a:rPr lang="ko-KR" altLang="en-US" sz="1200" dirty="0" err="1">
                <a:latin typeface="한컴산뜻돋움"/>
                <a:ea typeface="한컴산뜻돋움"/>
              </a:rPr>
              <a:t>HttpServletRequest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request</a:t>
            </a:r>
            <a:r>
              <a:rPr lang="ko-KR" altLang="en-US" sz="1200" dirty="0">
                <a:latin typeface="한컴산뜻돋움"/>
                <a:ea typeface="한컴산뜻돋움"/>
              </a:rPr>
              <a:t> , </a:t>
            </a:r>
            <a:r>
              <a:rPr lang="ko-KR" altLang="en-US" sz="1200" dirty="0" err="1">
                <a:latin typeface="한컴산뜻돋움"/>
                <a:ea typeface="한컴산뜻돋움"/>
              </a:rPr>
              <a:t>HttpServletResponse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response</a:t>
            </a:r>
            <a:r>
              <a:rPr lang="ko-KR" altLang="en-US" sz="1200" dirty="0">
                <a:latin typeface="한컴산뜻돋움"/>
                <a:ea typeface="한컴산뜻돋움"/>
              </a:rPr>
              <a:t>) </a:t>
            </a:r>
          </a:p>
          <a:p>
            <a:pPr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                                         </a:t>
            </a:r>
            <a:r>
              <a:rPr lang="ko-KR" altLang="en-US" sz="1200" dirty="0" err="1">
                <a:latin typeface="한컴산뜻돋움"/>
                <a:ea typeface="한컴산뜻돋움"/>
              </a:rPr>
              <a:t>throws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ServletException</a:t>
            </a:r>
            <a:r>
              <a:rPr lang="ko-KR" altLang="en-US" sz="1200" dirty="0">
                <a:latin typeface="한컴산뜻돋움"/>
                <a:ea typeface="한컴산뜻돋움"/>
              </a:rPr>
              <a:t>, </a:t>
            </a:r>
            <a:r>
              <a:rPr lang="ko-KR" altLang="en-US" sz="1200" dirty="0" err="1">
                <a:latin typeface="한컴산뜻돋움"/>
                <a:ea typeface="한컴산뜻돋움"/>
              </a:rPr>
              <a:t>IOException</a:t>
            </a:r>
            <a:r>
              <a:rPr lang="ko-KR" altLang="en-US" sz="1200" dirty="0">
                <a:latin typeface="한컴산뜻돋움"/>
                <a:ea typeface="한컴산뜻돋움"/>
              </a:rPr>
              <a:t> {</a:t>
            </a:r>
          </a:p>
          <a:p>
            <a:pPr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   </a:t>
            </a:r>
            <a:r>
              <a:rPr lang="ko-KR" altLang="en-US" sz="1200" dirty="0" err="1">
                <a:latin typeface="한컴산뜻돋움"/>
                <a:ea typeface="한컴산뜻돋움"/>
              </a:rPr>
              <a:t>request.setCharacterEncoding</a:t>
            </a:r>
            <a:r>
              <a:rPr lang="ko-KR" altLang="en-US" sz="1200" dirty="0">
                <a:latin typeface="한컴산뜻돋움"/>
                <a:ea typeface="한컴산뜻돋움"/>
              </a:rPr>
              <a:t>("utf-8"); 	</a:t>
            </a:r>
          </a:p>
          <a:p>
            <a:pPr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   </a:t>
            </a:r>
            <a:r>
              <a:rPr lang="ko-KR" altLang="en-US" sz="1200" b="1" dirty="0" err="1">
                <a:solidFill>
                  <a:srgbClr val="FF0000"/>
                </a:solidFill>
                <a:latin typeface="한컴산뜻돋움"/>
                <a:ea typeface="한컴산뜻돋움"/>
              </a:rPr>
              <a:t>String</a:t>
            </a: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 </a:t>
            </a:r>
            <a:r>
              <a:rPr lang="ko-KR" altLang="en-US" sz="1200" b="1" dirty="0" err="1">
                <a:solidFill>
                  <a:srgbClr val="FF0000"/>
                </a:solidFill>
                <a:latin typeface="한컴산뜻돋움"/>
                <a:ea typeface="한컴산뜻돋움"/>
              </a:rPr>
              <a:t>user_id</a:t>
            </a: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=</a:t>
            </a:r>
            <a:r>
              <a:rPr lang="ko-KR" altLang="en-US" sz="1200" b="1" dirty="0" err="1">
                <a:solidFill>
                  <a:srgbClr val="FF0000"/>
                </a:solidFill>
                <a:latin typeface="한컴산뜻돋움"/>
                <a:ea typeface="한컴산뜻돋움"/>
              </a:rPr>
              <a:t>request.getParameter</a:t>
            </a: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("</a:t>
            </a:r>
            <a:r>
              <a:rPr lang="ko-KR" altLang="en-US" sz="1200" b="1" dirty="0" err="1">
                <a:solidFill>
                  <a:srgbClr val="FF0000"/>
                </a:solidFill>
                <a:latin typeface="한컴산뜻돋움"/>
                <a:ea typeface="한컴산뜻돋움"/>
              </a:rPr>
              <a:t>user_id</a:t>
            </a: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");</a:t>
            </a:r>
          </a:p>
          <a:p>
            <a:pPr>
              <a:defRPr/>
            </a:pP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      </a:t>
            </a:r>
            <a:r>
              <a:rPr lang="ko-KR" altLang="en-US" sz="1200" b="1" dirty="0" err="1">
                <a:solidFill>
                  <a:srgbClr val="FF0000"/>
                </a:solidFill>
                <a:latin typeface="한컴산뜻돋움"/>
                <a:ea typeface="한컴산뜻돋움"/>
              </a:rPr>
              <a:t>String</a:t>
            </a: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 </a:t>
            </a:r>
            <a:r>
              <a:rPr lang="ko-KR" altLang="en-US" sz="1200" b="1" dirty="0" err="1">
                <a:solidFill>
                  <a:srgbClr val="FF0000"/>
                </a:solidFill>
                <a:latin typeface="한컴산뜻돋움"/>
                <a:ea typeface="한컴산뜻돋움"/>
              </a:rPr>
              <a:t>user_pw</a:t>
            </a: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=</a:t>
            </a:r>
            <a:r>
              <a:rPr lang="ko-KR" altLang="en-US" sz="1200" b="1" dirty="0" err="1">
                <a:solidFill>
                  <a:srgbClr val="FF0000"/>
                </a:solidFill>
                <a:latin typeface="한컴산뜻돋움"/>
                <a:ea typeface="한컴산뜻돋움"/>
              </a:rPr>
              <a:t>request.getParameter</a:t>
            </a: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("</a:t>
            </a:r>
            <a:r>
              <a:rPr lang="ko-KR" altLang="en-US" sz="1200" b="1" dirty="0" err="1">
                <a:solidFill>
                  <a:srgbClr val="FF0000"/>
                </a:solidFill>
                <a:latin typeface="한컴산뜻돋움"/>
                <a:ea typeface="한컴산뜻돋움"/>
              </a:rPr>
              <a:t>user_pw</a:t>
            </a: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"); </a:t>
            </a:r>
          </a:p>
          <a:p>
            <a:pPr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   </a:t>
            </a:r>
            <a:r>
              <a:rPr lang="ko-KR" altLang="en-US" sz="1200" dirty="0" err="1">
                <a:latin typeface="한컴산뜻돋움"/>
                <a:ea typeface="한컴산뜻돋움"/>
              </a:rPr>
              <a:t>System.out.println</a:t>
            </a:r>
            <a:r>
              <a:rPr lang="ko-KR" altLang="en-US" sz="1200" dirty="0">
                <a:latin typeface="한컴산뜻돋움"/>
                <a:ea typeface="한컴산뜻돋움"/>
              </a:rPr>
              <a:t>("아이디:"+</a:t>
            </a:r>
            <a:r>
              <a:rPr lang="ko-KR" altLang="en-US" sz="1200" dirty="0" err="1">
                <a:latin typeface="한컴산뜻돋움"/>
                <a:ea typeface="한컴산뜻돋움"/>
              </a:rPr>
              <a:t>user_id</a:t>
            </a:r>
            <a:r>
              <a:rPr lang="ko-KR" altLang="en-US" sz="1200" dirty="0">
                <a:latin typeface="한컴산뜻돋움"/>
                <a:ea typeface="한컴산뜻돋움"/>
              </a:rPr>
              <a:t>);</a:t>
            </a:r>
          </a:p>
          <a:p>
            <a:pPr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   </a:t>
            </a:r>
            <a:r>
              <a:rPr lang="ko-KR" altLang="en-US" sz="1200" dirty="0" err="1">
                <a:latin typeface="한컴산뜻돋움"/>
                <a:ea typeface="한컴산뜻돋움"/>
              </a:rPr>
              <a:t>System.out.println</a:t>
            </a:r>
            <a:r>
              <a:rPr lang="ko-KR" altLang="en-US" sz="1200" dirty="0">
                <a:latin typeface="한컴산뜻돋움"/>
                <a:ea typeface="한컴산뜻돋움"/>
              </a:rPr>
              <a:t>("비밀번호:"+</a:t>
            </a:r>
            <a:r>
              <a:rPr lang="ko-KR" altLang="en-US" sz="1200" dirty="0" err="1">
                <a:latin typeface="한컴산뜻돋움"/>
                <a:ea typeface="한컴산뜻돋움"/>
              </a:rPr>
              <a:t>user_pw</a:t>
            </a:r>
            <a:r>
              <a:rPr lang="ko-KR" altLang="en-US" sz="1200" dirty="0">
                <a:latin typeface="한컴산뜻돋움"/>
                <a:ea typeface="한컴산뜻돋움"/>
              </a:rPr>
              <a:t>);</a:t>
            </a:r>
          </a:p>
          <a:p>
            <a:pPr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}</a:t>
            </a:r>
          </a:p>
          <a:p>
            <a:pPr>
              <a:defRPr/>
            </a:pPr>
            <a:endParaRPr lang="ko-KR" altLang="en-US" sz="1200" dirty="0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</a:t>
            </a:r>
            <a:r>
              <a:rPr lang="ko-KR" altLang="en-US" sz="1200" dirty="0" err="1">
                <a:latin typeface="한컴산뜻돋움"/>
                <a:ea typeface="한컴산뜻돋움"/>
              </a:rPr>
              <a:t>public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void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destroy</a:t>
            </a:r>
            <a:r>
              <a:rPr lang="ko-KR" altLang="en-US" sz="1200" dirty="0">
                <a:latin typeface="한컴산뜻돋움"/>
                <a:ea typeface="한컴산뜻돋움"/>
              </a:rPr>
              <a:t>() {</a:t>
            </a:r>
          </a:p>
          <a:p>
            <a:pPr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   </a:t>
            </a:r>
            <a:r>
              <a:rPr lang="ko-KR" altLang="en-US" sz="1200" dirty="0" err="1">
                <a:latin typeface="한컴산뜻돋움"/>
                <a:ea typeface="한컴산뜻돋움"/>
              </a:rPr>
              <a:t>System.out.println</a:t>
            </a:r>
            <a:r>
              <a:rPr lang="ko-KR" altLang="en-US" sz="1200" dirty="0">
                <a:latin typeface="한컴산뜻돋움"/>
                <a:ea typeface="한컴산뜻돋움"/>
              </a:rPr>
              <a:t>("</a:t>
            </a:r>
            <a:r>
              <a:rPr lang="ko-KR" altLang="en-US" sz="1200" dirty="0" err="1">
                <a:latin typeface="한컴산뜻돋움"/>
                <a:ea typeface="한컴산뜻돋움"/>
              </a:rPr>
              <a:t>destroy</a:t>
            </a:r>
            <a:r>
              <a:rPr lang="ko-KR" altLang="en-US" sz="1200" dirty="0">
                <a:latin typeface="한컴산뜻돋움"/>
                <a:ea typeface="한컴산뜻돋움"/>
              </a:rPr>
              <a:t> 메서드 호출");</a:t>
            </a:r>
          </a:p>
          <a:p>
            <a:pPr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}</a:t>
            </a:r>
          </a:p>
          <a:p>
            <a:pPr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536424" y="5062951"/>
            <a:ext cx="2552700" cy="866775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</p:spPr>
      </p:pic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540565"/>
            <a:ext cx="7883507" cy="44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6. </a:t>
            </a:r>
            <a:r>
              <a:rPr lang="en-US" altLang="ko-KR" sz="1200">
                <a:latin typeface="+mj-ea"/>
                <a:ea typeface="+mj-ea"/>
              </a:rPr>
              <a:t>pro06 </a:t>
            </a:r>
            <a:r>
              <a:rPr lang="ko-KR" altLang="en-US" sz="1200">
                <a:latin typeface="+mj-ea"/>
                <a:ea typeface="+mj-ea"/>
              </a:rPr>
              <a:t>프로젝트를 톰캣에 등록하여 실행한 후 브라우저에서 </a:t>
            </a:r>
            <a:r>
              <a:rPr lang="en-US" altLang="ko-KR" sz="1200">
                <a:latin typeface="+mj-ea"/>
                <a:ea typeface="+mj-ea"/>
              </a:rPr>
              <a:t>http://localhost:8090/pro06/login.html</a:t>
            </a:r>
            <a:r>
              <a:rPr lang="ko-KR" altLang="en-US" sz="1200">
                <a:latin typeface="+mj-ea"/>
                <a:ea typeface="+mj-ea"/>
              </a:rPr>
              <a:t>을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요청합니다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6348" y="3876261"/>
            <a:ext cx="7951304" cy="446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7. </a:t>
            </a:r>
            <a:r>
              <a:rPr lang="ko-KR" altLang="en-US" sz="1200">
                <a:latin typeface="+mj-ea"/>
                <a:ea typeface="+mj-ea"/>
              </a:rPr>
              <a:t>텍스트 박스에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비밀번호를 입력한 후 로그인을 클릭하면 서블릿이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비밀번호를 이클립스 콘솔에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출력합니다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0" name="그림 9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4940175" y="5148207"/>
            <a:ext cx="2503805" cy="8807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4940175" y="5496339"/>
            <a:ext cx="1251902" cy="4572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 rotWithShape="1">
          <a:blip r:embed="rId4">
            <a:alphaModFix/>
            <a:lum/>
          </a:blip>
          <a:srcRect/>
          <a:stretch>
            <a:fillRect/>
          </a:stretch>
        </p:blipFill>
        <p:spPr>
          <a:xfrm>
            <a:off x="2937226" y="2197376"/>
            <a:ext cx="26289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86409" y="1570383"/>
            <a:ext cx="7822095" cy="266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>
                <a:latin typeface="+mj-ea"/>
                <a:ea typeface="+mj-ea"/>
              </a:rPr>
              <a:t>단</a:t>
            </a:r>
            <a:r>
              <a:rPr lang="en-US" altLang="ko-KR" sz="1200">
                <a:latin typeface="+mj-ea"/>
                <a:ea typeface="+mj-ea"/>
              </a:rPr>
              <a:t>, </a:t>
            </a:r>
            <a:r>
              <a:rPr lang="ko-KR" altLang="en-US" sz="1200">
                <a:latin typeface="+mj-ea"/>
                <a:ea typeface="+mj-ea"/>
              </a:rPr>
              <a:t>서블릿이 처리한 후의 응답 기능은 아직 구현하지 않았으므로 웹 브라우저에는 아무것도 출력되지 않습니다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771944" y="1847382"/>
            <a:ext cx="5133975" cy="18764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517429" y="1351707"/>
            <a:ext cx="8039111" cy="494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6.3.2 </a:t>
            </a:r>
            <a:r>
              <a:rPr lang="ko-KR" altLang="en-US" b="1"/>
              <a:t>여러 개의 값을 전송할 때의 요청 처리</a:t>
            </a:r>
            <a:endParaRPr lang="en-US" altLang="ko-KR" b="1" spc="-95"/>
          </a:p>
        </p:txBody>
      </p:sp>
      <p:sp>
        <p:nvSpPr>
          <p:cNvPr id="3" name="TextBox 2"/>
          <p:cNvSpPr txBox="1"/>
          <p:nvPr/>
        </p:nvSpPr>
        <p:spPr>
          <a:xfrm>
            <a:off x="644266" y="1804972"/>
            <a:ext cx="6670934" cy="27699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Wingdings"/>
              <a:buChar char="Ø"/>
            </a:pPr>
            <a:r>
              <a:rPr lang="ko-KR" altLang="en-US" sz="1200">
                <a:latin typeface="+mj-ea"/>
                <a:ea typeface="+mj-ea"/>
              </a:rPr>
              <a:t>한번에 여러 개의 값이 전송되는 경우 </a:t>
            </a:r>
            <a:r>
              <a:rPr lang="en-US" altLang="ko-KR" sz="1200">
                <a:latin typeface="+mj-ea"/>
                <a:ea typeface="+mj-ea"/>
              </a:rPr>
              <a:t>getParameterValues() </a:t>
            </a:r>
            <a:r>
              <a:rPr lang="ko-KR" altLang="en-US" sz="1200">
                <a:latin typeface="+mj-ea"/>
                <a:ea typeface="+mj-ea"/>
              </a:rPr>
              <a:t>메서드를 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266" y="2484783"/>
            <a:ext cx="6261653" cy="266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ko-KR" altLang="en-US" sz="1200">
                <a:latin typeface="+mj-ea"/>
                <a:ea typeface="+mj-ea"/>
              </a:rPr>
              <a:t>다음과 같이 </a:t>
            </a:r>
            <a:r>
              <a:rPr lang="en-US" altLang="ko-KR" sz="1200">
                <a:latin typeface="+mj-ea"/>
                <a:ea typeface="+mj-ea"/>
              </a:rPr>
              <a:t>input.html</a:t>
            </a:r>
            <a:r>
              <a:rPr lang="ko-KR" altLang="en-US" sz="1200">
                <a:latin typeface="+mj-ea"/>
                <a:ea typeface="+mj-ea"/>
              </a:rPr>
              <a:t>을 추가하고 </a:t>
            </a:r>
            <a:r>
              <a:rPr lang="en-US" altLang="ko-KR" sz="1200">
                <a:latin typeface="+mj-ea"/>
                <a:ea typeface="+mj-ea"/>
              </a:rPr>
              <a:t>InputSevlet </a:t>
            </a:r>
            <a:r>
              <a:rPr lang="ko-KR" altLang="en-US" sz="1200">
                <a:latin typeface="+mj-ea"/>
                <a:ea typeface="+mj-ea"/>
              </a:rPr>
              <a:t>클래스를 새로 만듭니다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732227" y="2761782"/>
            <a:ext cx="2495012" cy="31007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3558209" y="3836504"/>
            <a:ext cx="1381539" cy="17890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250096" y="5486400"/>
            <a:ext cx="904461" cy="17890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가로 글상자 11"/>
          <p:cNvSpPr txBox="1"/>
          <p:nvPr/>
        </p:nvSpPr>
        <p:spPr>
          <a:xfrm>
            <a:off x="3306096" y="4945008"/>
            <a:ext cx="817305" cy="198492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300"/>
              <a:t>webapp</a:t>
            </a:r>
          </a:p>
        </p:txBody>
      </p:sp>
      <p:sp>
        <p:nvSpPr>
          <p:cNvPr id="13" name="가로 글상자 12"/>
          <p:cNvSpPr txBox="1"/>
          <p:nvPr/>
        </p:nvSpPr>
        <p:spPr>
          <a:xfrm>
            <a:off x="3460033" y="3476625"/>
            <a:ext cx="1524000" cy="171450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100" b="1"/>
              <a:t>src/main/java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387625" y="1540565"/>
            <a:ext cx="8557591" cy="44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input.html</a:t>
            </a:r>
            <a:r>
              <a:rPr lang="ko-KR" altLang="en-US" sz="1200">
                <a:latin typeface="+mj-ea"/>
                <a:ea typeface="+mj-ea"/>
              </a:rPr>
              <a:t>을 다음과 같이 작성합니다</a:t>
            </a:r>
            <a:r>
              <a:rPr lang="en-US" altLang="ko-KR" sz="1200">
                <a:latin typeface="+mj-ea"/>
                <a:ea typeface="+mj-ea"/>
              </a:rPr>
              <a:t>. &lt;input&gt; </a:t>
            </a:r>
            <a:r>
              <a:rPr lang="ko-KR" altLang="en-US" sz="1200">
                <a:latin typeface="+mj-ea"/>
                <a:ea typeface="+mj-ea"/>
              </a:rPr>
              <a:t>타입이 여러 개일 때는 체크박스</a:t>
            </a:r>
            <a:r>
              <a:rPr lang="en-US" altLang="ko-KR" sz="1200">
                <a:latin typeface="+mj-ea"/>
                <a:ea typeface="+mj-ea"/>
              </a:rPr>
              <a:t>(Checkbox)</a:t>
            </a:r>
            <a:r>
              <a:rPr lang="ko-KR" altLang="en-US" sz="1200">
                <a:latin typeface="+mj-ea"/>
                <a:ea typeface="+mj-ea"/>
              </a:rPr>
              <a:t>를 사용해서 값을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설정하는 것이 좋습니다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체크박스의 </a:t>
            </a:r>
            <a:r>
              <a:rPr lang="en-US" altLang="ko-KR" sz="1200">
                <a:latin typeface="+mj-ea"/>
                <a:ea typeface="+mj-ea"/>
              </a:rPr>
              <a:t>name </a:t>
            </a:r>
            <a:r>
              <a:rPr lang="ko-KR" altLang="en-US" sz="1200">
                <a:latin typeface="+mj-ea"/>
                <a:ea typeface="+mj-ea"/>
              </a:rPr>
              <a:t>속성 값은 모두 </a:t>
            </a:r>
            <a:r>
              <a:rPr lang="en-US" altLang="ko-KR" sz="1200">
                <a:latin typeface="+mj-ea"/>
                <a:ea typeface="+mj-ea"/>
              </a:rPr>
              <a:t>subject</a:t>
            </a:r>
            <a:r>
              <a:rPr lang="ko-KR" altLang="en-US" sz="1200">
                <a:latin typeface="+mj-ea"/>
                <a:ea typeface="+mj-ea"/>
              </a:rPr>
              <a:t>이므로 서블릿으로 전송할 때 배열로</a:t>
            </a:r>
            <a:r>
              <a:rPr lang="en-US" altLang="ko-KR" sz="1200">
                <a:latin typeface="+mj-ea"/>
                <a:ea typeface="+mj-ea"/>
              </a:rPr>
              <a:t> </a:t>
            </a:r>
            <a:r>
              <a:rPr lang="ko-KR" altLang="en-US" sz="1200">
                <a:latin typeface="+mj-ea"/>
                <a:ea typeface="+mj-ea"/>
              </a:rPr>
              <a:t>전송됩니다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135430" y="2002230"/>
            <a:ext cx="6120135" cy="4706683"/>
            <a:chOff x="1135430" y="2260093"/>
            <a:chExt cx="5680421" cy="4297361"/>
          </a:xfrm>
        </p:grpSpPr>
        <p:pic>
          <p:nvPicPr>
            <p:cNvPr id="1433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1324274" y="2260093"/>
              <a:ext cx="5491577" cy="3200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39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1135430" y="5425890"/>
              <a:ext cx="5310809" cy="11315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340" name="가로 글상자 14339"/>
          <p:cNvSpPr txBox="1"/>
          <p:nvPr/>
        </p:nvSpPr>
        <p:spPr>
          <a:xfrm>
            <a:off x="2289380" y="2043878"/>
            <a:ext cx="1333499" cy="179442"/>
          </a:xfrm>
          <a:prstGeom prst="rect">
            <a:avLst/>
          </a:prstGeom>
          <a:solidFill>
            <a:srgbClr val="D8BEE4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200"/>
              <a:t>webapp/input.html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8" name="TextBox 7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341" name="TextBox 14340"/>
          <p:cNvSpPr txBox="1"/>
          <p:nvPr/>
        </p:nvSpPr>
        <p:spPr>
          <a:xfrm>
            <a:off x="0" y="1453553"/>
            <a:ext cx="9144000" cy="3926167"/>
          </a:xfrm>
          <a:prstGeom prst="rect">
            <a:avLst/>
          </a:prstGeom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&lt;!DOCTYPE html&gt;</a:t>
            </a:r>
          </a:p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&lt;html&gt;</a:t>
            </a:r>
          </a:p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&lt;head&gt;</a:t>
            </a:r>
          </a:p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&lt;meta charset="UTF-8"&gt;</a:t>
            </a:r>
          </a:p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&lt;title&gt;여러 가지 input 타입 표시창&lt;/title&gt;</a:t>
            </a:r>
          </a:p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&lt;/head&gt;</a:t>
            </a:r>
          </a:p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0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&lt;body&gt;</a:t>
            </a:r>
          </a:p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&lt;form name="frmInput" method="get" action="input"&gt;</a:t>
            </a:r>
          </a:p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아이디  :&lt;input type="text" name="user_id"&gt;&lt;br&gt;</a:t>
            </a:r>
          </a:p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비밀번호:&lt;input type="password" name="user_pw"&gt;&lt;br&gt;</a:t>
            </a:r>
          </a:p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&lt;input type="checkbox" name="subject" value="java" checked &gt;자바</a:t>
            </a:r>
          </a:p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&lt;input type="checkbox" name="subject" value="C언어"&gt;C언어</a:t>
            </a:r>
          </a:p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&lt;input type="checkbox" name="subject" value="JSP"&gt;JSP</a:t>
            </a:r>
          </a:p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&lt;input type="checkbox" name="subject" value="안드로이드"&gt;안드로이드 </a:t>
            </a:r>
          </a:p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&lt;br&gt;&lt;br&gt;</a:t>
            </a:r>
          </a:p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&lt;input type="submit" value="전송"&gt;   </a:t>
            </a:r>
          </a:p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&lt;input type="reset" value="초기화"&gt;</a:t>
            </a:r>
          </a:p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&lt;/form&gt;</a:t>
            </a:r>
          </a:p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&lt;/body&gt;</a:t>
            </a:r>
          </a:p>
          <a:p>
            <a:pPr marL="0" indent="0" algn="l" defTabSz="4572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&lt;/html&gt;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397565" y="1550504"/>
            <a:ext cx="8120270" cy="447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InputServlet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 getParameterValues()</a:t>
            </a:r>
            <a:r>
              <a:rPr lang="ko-KR" altLang="en-US" sz="1200">
                <a:latin typeface="+mj-ea"/>
                <a:ea typeface="+mj-ea"/>
              </a:rPr>
              <a:t>를 이용해 </a:t>
            </a:r>
            <a:r>
              <a:rPr lang="en-US" altLang="ko-KR" sz="1200">
                <a:latin typeface="+mj-ea"/>
                <a:ea typeface="+mj-ea"/>
              </a:rPr>
              <a:t>input.html</a:t>
            </a:r>
            <a:r>
              <a:rPr lang="ko-KR" altLang="en-US" sz="1200">
                <a:latin typeface="+mj-ea"/>
                <a:ea typeface="+mj-ea"/>
              </a:rPr>
              <a:t>에서 체크박스의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 name</a:t>
            </a:r>
            <a:r>
              <a:rPr lang="ko-KR" altLang="en-US" sz="1200">
                <a:latin typeface="+mj-ea"/>
                <a:ea typeface="+mj-ea"/>
              </a:rPr>
              <a:t>인 </a:t>
            </a:r>
            <a:r>
              <a:rPr lang="en-US" altLang="ko-KR" sz="1200">
                <a:latin typeface="+mj-ea"/>
                <a:ea typeface="+mj-ea"/>
              </a:rPr>
              <a:t>subject</a:t>
            </a:r>
            <a:r>
              <a:rPr lang="ko-KR" altLang="en-US" sz="1200">
                <a:latin typeface="+mj-ea"/>
                <a:ea typeface="+mj-ea"/>
              </a:rPr>
              <a:t>로 전송된 값들을 받아 와서 문자열 배열에 저장합니다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836159" y="2012169"/>
            <a:ext cx="4801901" cy="4845831"/>
            <a:chOff x="1541259" y="2012169"/>
            <a:chExt cx="4778651" cy="5051948"/>
          </a:xfrm>
        </p:grpSpPr>
        <p:pic>
          <p:nvPicPr>
            <p:cNvPr id="15362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1688351" y="2012169"/>
              <a:ext cx="4484469" cy="40219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63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1541259" y="6034115"/>
              <a:ext cx="4778651" cy="10300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0" y="2126369"/>
            <a:ext cx="9144000" cy="430110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@WebServlet("/input")</a:t>
            </a:r>
          </a:p>
          <a:p>
            <a:pPr lvl="0">
              <a:defRPr/>
            </a:pPr>
            <a:r>
              <a:rPr lang="ko-KR" altLang="en-US" sz="1200" dirty="0" err="1">
                <a:latin typeface="한컴산뜻돋움"/>
                <a:ea typeface="한컴산뜻돋움"/>
              </a:rPr>
              <a:t>public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class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InputServlet</a:t>
            </a:r>
            <a:r>
              <a:rPr lang="ko-KR" altLang="en-US" sz="1200" dirty="0">
                <a:latin typeface="한컴산뜻돋움"/>
                <a:ea typeface="한컴산뜻돋움"/>
              </a:rPr>
              <a:t>  </a:t>
            </a:r>
            <a:r>
              <a:rPr lang="ko-KR" altLang="en-US" sz="1200" dirty="0" err="1">
                <a:latin typeface="한컴산뜻돋움"/>
                <a:ea typeface="한컴산뜻돋움"/>
              </a:rPr>
              <a:t>extends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HttpServlet</a:t>
            </a:r>
            <a:r>
              <a:rPr lang="ko-KR" altLang="en-US" sz="1200" dirty="0">
                <a:latin typeface="한컴산뜻돋움"/>
                <a:ea typeface="한컴산뜻돋움"/>
              </a:rPr>
              <a:t>{</a:t>
            </a:r>
          </a:p>
          <a:p>
            <a:pPr lvl="0"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</a:t>
            </a:r>
            <a:r>
              <a:rPr lang="ko-KR" altLang="en-US" sz="1200" dirty="0" err="1">
                <a:latin typeface="한컴산뜻돋움"/>
                <a:ea typeface="한컴산뜻돋움"/>
              </a:rPr>
              <a:t>public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void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init</a:t>
            </a:r>
            <a:r>
              <a:rPr lang="ko-KR" altLang="en-US" sz="1200" dirty="0">
                <a:latin typeface="한컴산뜻돋움"/>
                <a:ea typeface="한컴산뜻돋움"/>
              </a:rPr>
              <a:t>() </a:t>
            </a:r>
            <a:r>
              <a:rPr lang="ko-KR" altLang="en-US" sz="1200" dirty="0" err="1">
                <a:latin typeface="한컴산뜻돋움"/>
                <a:ea typeface="한컴산뜻돋움"/>
              </a:rPr>
              <a:t>throws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ServletException</a:t>
            </a:r>
            <a:r>
              <a:rPr lang="ko-KR" altLang="en-US" sz="1200" dirty="0">
                <a:latin typeface="한컴산뜻돋움"/>
                <a:ea typeface="한컴산뜻돋움"/>
              </a:rPr>
              <a:t> {</a:t>
            </a:r>
          </a:p>
          <a:p>
            <a:pPr lvl="0"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   </a:t>
            </a:r>
            <a:r>
              <a:rPr lang="ko-KR" altLang="en-US" sz="1200" dirty="0" err="1">
                <a:latin typeface="한컴산뜻돋움"/>
                <a:ea typeface="한컴산뜻돋움"/>
              </a:rPr>
              <a:t>System.out.println</a:t>
            </a:r>
            <a:r>
              <a:rPr lang="ko-KR" altLang="en-US" sz="1200" dirty="0">
                <a:latin typeface="한컴산뜻돋움"/>
                <a:ea typeface="한컴산뜻돋움"/>
              </a:rPr>
              <a:t>("</a:t>
            </a:r>
            <a:r>
              <a:rPr lang="ko-KR" altLang="en-US" sz="1200" dirty="0" err="1">
                <a:latin typeface="한컴산뜻돋움"/>
                <a:ea typeface="한컴산뜻돋움"/>
              </a:rPr>
              <a:t>init</a:t>
            </a:r>
            <a:r>
              <a:rPr lang="ko-KR" altLang="en-US" sz="1200" dirty="0">
                <a:latin typeface="한컴산뜻돋움"/>
                <a:ea typeface="한컴산뜻돋움"/>
              </a:rPr>
              <a:t> 메서드 호출");</a:t>
            </a:r>
          </a:p>
          <a:p>
            <a:pPr lvl="0"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}</a:t>
            </a:r>
          </a:p>
          <a:p>
            <a:pPr lvl="0">
              <a:defRPr/>
            </a:pPr>
            <a:endParaRPr lang="ko-KR" altLang="en-US" sz="1200" dirty="0">
              <a:latin typeface="한컴산뜻돋움"/>
              <a:ea typeface="한컴산뜻돋움"/>
            </a:endParaRPr>
          </a:p>
          <a:p>
            <a:pPr lvl="0"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</a:t>
            </a:r>
            <a:r>
              <a:rPr lang="ko-KR" altLang="en-US" sz="1200" dirty="0" err="1">
                <a:latin typeface="한컴산뜻돋움"/>
                <a:ea typeface="한컴산뜻돋움"/>
              </a:rPr>
              <a:t>protected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void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doGet</a:t>
            </a:r>
            <a:r>
              <a:rPr lang="ko-KR" altLang="en-US" sz="1200" dirty="0">
                <a:latin typeface="한컴산뜻돋움"/>
                <a:ea typeface="한컴산뜻돋움"/>
              </a:rPr>
              <a:t>(</a:t>
            </a:r>
            <a:r>
              <a:rPr lang="ko-KR" altLang="en-US" sz="1200" dirty="0" err="1">
                <a:latin typeface="한컴산뜻돋움"/>
                <a:ea typeface="한컴산뜻돋움"/>
              </a:rPr>
              <a:t>HttpServletRequest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request</a:t>
            </a:r>
            <a:r>
              <a:rPr lang="ko-KR" altLang="en-US" sz="1200" dirty="0">
                <a:latin typeface="한컴산뜻돋움"/>
                <a:ea typeface="한컴산뜻돋움"/>
              </a:rPr>
              <a:t>, </a:t>
            </a:r>
            <a:r>
              <a:rPr lang="ko-KR" altLang="en-US" sz="1200" dirty="0" err="1">
                <a:latin typeface="한컴산뜻돋움"/>
                <a:ea typeface="한컴산뜻돋움"/>
              </a:rPr>
              <a:t>HttpServletResponse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response</a:t>
            </a:r>
            <a:r>
              <a:rPr lang="ko-KR" altLang="en-US" sz="1200" dirty="0">
                <a:latin typeface="한컴산뜻돋움"/>
                <a:ea typeface="한컴산뜻돋움"/>
              </a:rPr>
              <a:t>) </a:t>
            </a:r>
          </a:p>
          <a:p>
            <a:pPr lvl="0"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                                         </a:t>
            </a:r>
            <a:r>
              <a:rPr lang="ko-KR" altLang="en-US" sz="1200" dirty="0" err="1">
                <a:latin typeface="한컴산뜻돋움"/>
                <a:ea typeface="한컴산뜻돋움"/>
              </a:rPr>
              <a:t>throws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ServletException</a:t>
            </a:r>
            <a:r>
              <a:rPr lang="ko-KR" altLang="en-US" sz="1200" dirty="0">
                <a:latin typeface="한컴산뜻돋움"/>
                <a:ea typeface="한컴산뜻돋움"/>
              </a:rPr>
              <a:t>, </a:t>
            </a:r>
            <a:r>
              <a:rPr lang="ko-KR" altLang="en-US" sz="1200" dirty="0" err="1">
                <a:latin typeface="한컴산뜻돋움"/>
                <a:ea typeface="한컴산뜻돋움"/>
              </a:rPr>
              <a:t>IOException</a:t>
            </a:r>
            <a:r>
              <a:rPr lang="ko-KR" altLang="en-US" sz="1200" dirty="0">
                <a:latin typeface="한컴산뜻돋움"/>
                <a:ea typeface="한컴산뜻돋움"/>
              </a:rPr>
              <a:t> {</a:t>
            </a:r>
          </a:p>
          <a:p>
            <a:pPr lvl="0"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   </a:t>
            </a:r>
            <a:r>
              <a:rPr lang="ko-KR" altLang="en-US" sz="1200" dirty="0" err="1">
                <a:latin typeface="한컴산뜻돋움"/>
                <a:ea typeface="한컴산뜻돋움"/>
              </a:rPr>
              <a:t>request.setCharacterEncoding</a:t>
            </a:r>
            <a:r>
              <a:rPr lang="ko-KR" altLang="en-US" sz="1200" dirty="0">
                <a:latin typeface="한컴산뜻돋움"/>
                <a:ea typeface="한컴산뜻돋움"/>
              </a:rPr>
              <a:t>("utf-8");</a:t>
            </a:r>
          </a:p>
          <a:p>
            <a:pPr lvl="0"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   </a:t>
            </a:r>
            <a:r>
              <a:rPr lang="ko-KR" altLang="en-US" sz="1200" dirty="0" err="1">
                <a:latin typeface="한컴산뜻돋움"/>
                <a:ea typeface="한컴산뜻돋움"/>
              </a:rPr>
              <a:t>String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user_id</a:t>
            </a:r>
            <a:r>
              <a:rPr lang="ko-KR" altLang="en-US" sz="1200" dirty="0">
                <a:latin typeface="한컴산뜻돋움"/>
                <a:ea typeface="한컴산뜻돋움"/>
              </a:rPr>
              <a:t>=</a:t>
            </a:r>
            <a:r>
              <a:rPr lang="ko-KR" altLang="en-US" sz="1200" dirty="0" err="1">
                <a:latin typeface="한컴산뜻돋움"/>
                <a:ea typeface="한컴산뜻돋움"/>
              </a:rPr>
              <a:t>request.getParameter</a:t>
            </a:r>
            <a:r>
              <a:rPr lang="ko-KR" altLang="en-US" sz="1200" dirty="0">
                <a:latin typeface="한컴산뜻돋움"/>
                <a:ea typeface="한컴산뜻돋움"/>
              </a:rPr>
              <a:t>("</a:t>
            </a:r>
            <a:r>
              <a:rPr lang="ko-KR" altLang="en-US" sz="1200" dirty="0" err="1">
                <a:latin typeface="한컴산뜻돋움"/>
                <a:ea typeface="한컴산뜻돋움"/>
              </a:rPr>
              <a:t>user_id</a:t>
            </a:r>
            <a:r>
              <a:rPr lang="ko-KR" altLang="en-US" sz="1200" dirty="0">
                <a:latin typeface="한컴산뜻돋움"/>
                <a:ea typeface="한컴산뜻돋움"/>
              </a:rPr>
              <a:t>");</a:t>
            </a:r>
          </a:p>
          <a:p>
            <a:pPr lvl="0"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   </a:t>
            </a:r>
            <a:r>
              <a:rPr lang="ko-KR" altLang="en-US" sz="1200" dirty="0" err="1">
                <a:latin typeface="한컴산뜻돋움"/>
                <a:ea typeface="한컴산뜻돋움"/>
              </a:rPr>
              <a:t>String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user_pw</a:t>
            </a:r>
            <a:r>
              <a:rPr lang="ko-KR" altLang="en-US" sz="1200" dirty="0">
                <a:latin typeface="한컴산뜻돋움"/>
                <a:ea typeface="한컴산뜻돋움"/>
              </a:rPr>
              <a:t>=</a:t>
            </a:r>
            <a:r>
              <a:rPr lang="ko-KR" altLang="en-US" sz="1200" dirty="0" err="1">
                <a:latin typeface="한컴산뜻돋움"/>
                <a:ea typeface="한컴산뜻돋움"/>
              </a:rPr>
              <a:t>request.getParameter</a:t>
            </a:r>
            <a:r>
              <a:rPr lang="ko-KR" altLang="en-US" sz="1200" dirty="0">
                <a:latin typeface="한컴산뜻돋움"/>
                <a:ea typeface="한컴산뜻돋움"/>
              </a:rPr>
              <a:t>("</a:t>
            </a:r>
            <a:r>
              <a:rPr lang="ko-KR" altLang="en-US" sz="1200" dirty="0" err="1">
                <a:latin typeface="한컴산뜻돋움"/>
                <a:ea typeface="한컴산뜻돋움"/>
              </a:rPr>
              <a:t>user_pw</a:t>
            </a:r>
            <a:r>
              <a:rPr lang="ko-KR" altLang="en-US" sz="1200" dirty="0">
                <a:latin typeface="한컴산뜻돋움"/>
                <a:ea typeface="한컴산뜻돋움"/>
              </a:rPr>
              <a:t>"); </a:t>
            </a:r>
          </a:p>
          <a:p>
            <a:pPr lvl="0"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   </a:t>
            </a:r>
            <a:r>
              <a:rPr lang="ko-KR" altLang="en-US" sz="1200" dirty="0" err="1">
                <a:latin typeface="한컴산뜻돋움"/>
                <a:ea typeface="한컴산뜻돋움"/>
              </a:rPr>
              <a:t>System.out.println</a:t>
            </a:r>
            <a:r>
              <a:rPr lang="ko-KR" altLang="en-US" sz="1200" dirty="0">
                <a:latin typeface="한컴산뜻돋움"/>
                <a:ea typeface="한컴산뜻돋움"/>
              </a:rPr>
              <a:t>("아이디:"+</a:t>
            </a:r>
            <a:r>
              <a:rPr lang="ko-KR" altLang="en-US" sz="1200" dirty="0" err="1">
                <a:latin typeface="한컴산뜻돋움"/>
                <a:ea typeface="한컴산뜻돋움"/>
              </a:rPr>
              <a:t>user_id</a:t>
            </a:r>
            <a:r>
              <a:rPr lang="ko-KR" altLang="en-US" sz="1200" dirty="0">
                <a:latin typeface="한컴산뜻돋움"/>
                <a:ea typeface="한컴산뜻돋움"/>
              </a:rPr>
              <a:t>);</a:t>
            </a:r>
          </a:p>
          <a:p>
            <a:pPr lvl="0"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   </a:t>
            </a:r>
            <a:r>
              <a:rPr lang="ko-KR" altLang="en-US" sz="1200" dirty="0" err="1">
                <a:latin typeface="한컴산뜻돋움"/>
                <a:ea typeface="한컴산뜻돋움"/>
              </a:rPr>
              <a:t>System.out.println</a:t>
            </a:r>
            <a:r>
              <a:rPr lang="ko-KR" altLang="en-US" sz="1200" dirty="0">
                <a:latin typeface="한컴산뜻돋움"/>
                <a:ea typeface="한컴산뜻돋움"/>
              </a:rPr>
              <a:t>("비밀번호:"+</a:t>
            </a:r>
            <a:r>
              <a:rPr lang="ko-KR" altLang="en-US" sz="1200" dirty="0" err="1">
                <a:latin typeface="한컴산뜻돋움"/>
                <a:ea typeface="한컴산뜻돋움"/>
              </a:rPr>
              <a:t>user_pw</a:t>
            </a:r>
            <a:r>
              <a:rPr lang="ko-KR" altLang="en-US" sz="1200" dirty="0">
                <a:latin typeface="한컴산뜻돋움"/>
                <a:ea typeface="한컴산뜻돋움"/>
              </a:rPr>
              <a:t>);</a:t>
            </a:r>
          </a:p>
          <a:p>
            <a:pPr lvl="0"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   </a:t>
            </a:r>
            <a:r>
              <a:rPr lang="ko-KR" altLang="en-US" sz="1200" b="1" dirty="0" err="1">
                <a:solidFill>
                  <a:srgbClr val="FF0000"/>
                </a:solidFill>
                <a:latin typeface="한컴산뜻돋움"/>
                <a:ea typeface="한컴산뜻돋움"/>
              </a:rPr>
              <a:t>String</a:t>
            </a: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[] </a:t>
            </a:r>
            <a:r>
              <a:rPr lang="ko-KR" altLang="en-US" sz="1200" b="1" dirty="0" err="1">
                <a:solidFill>
                  <a:srgbClr val="FF0000"/>
                </a:solidFill>
                <a:latin typeface="한컴산뜻돋움"/>
                <a:ea typeface="한컴산뜻돋움"/>
              </a:rPr>
              <a:t>subject</a:t>
            </a: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=</a:t>
            </a:r>
            <a:r>
              <a:rPr lang="ko-KR" altLang="en-US" sz="1200" b="1" dirty="0" err="1">
                <a:solidFill>
                  <a:srgbClr val="FF0000"/>
                </a:solidFill>
                <a:latin typeface="한컴산뜻돋움"/>
                <a:ea typeface="한컴산뜻돋움"/>
              </a:rPr>
              <a:t>request.getParameterValues</a:t>
            </a: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("</a:t>
            </a:r>
            <a:r>
              <a:rPr lang="ko-KR" altLang="en-US" sz="1200" b="1" dirty="0" err="1">
                <a:solidFill>
                  <a:srgbClr val="FF0000"/>
                </a:solidFill>
                <a:latin typeface="한컴산뜻돋움"/>
                <a:ea typeface="한컴산뜻돋움"/>
              </a:rPr>
              <a:t>subject</a:t>
            </a: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"); </a:t>
            </a:r>
          </a:p>
          <a:p>
            <a:pPr lvl="0">
              <a:defRPr/>
            </a:pP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      </a:t>
            </a:r>
            <a:r>
              <a:rPr lang="ko-KR" altLang="en-US" sz="1200" b="1" dirty="0" err="1">
                <a:solidFill>
                  <a:srgbClr val="FF0000"/>
                </a:solidFill>
                <a:latin typeface="한컴산뜻돋움"/>
                <a:ea typeface="한컴산뜻돋움"/>
              </a:rPr>
              <a:t>for</a:t>
            </a: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(</a:t>
            </a:r>
            <a:r>
              <a:rPr lang="ko-KR" altLang="en-US" sz="1200" b="1" dirty="0" err="1">
                <a:solidFill>
                  <a:srgbClr val="FF0000"/>
                </a:solidFill>
                <a:latin typeface="한컴산뜻돋움"/>
                <a:ea typeface="한컴산뜻돋움"/>
              </a:rPr>
              <a:t>String</a:t>
            </a: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 </a:t>
            </a:r>
            <a:r>
              <a:rPr lang="ko-KR" altLang="en-US" sz="1200" b="1" dirty="0" err="1">
                <a:solidFill>
                  <a:srgbClr val="FF0000"/>
                </a:solidFill>
                <a:latin typeface="한컴산뜻돋움"/>
                <a:ea typeface="한컴산뜻돋움"/>
              </a:rPr>
              <a:t>str:subject</a:t>
            </a: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){</a:t>
            </a:r>
          </a:p>
          <a:p>
            <a:pPr lvl="0">
              <a:defRPr/>
            </a:pP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         </a:t>
            </a:r>
            <a:r>
              <a:rPr lang="ko-KR" altLang="en-US" sz="1200" b="1" dirty="0" err="1">
                <a:solidFill>
                  <a:srgbClr val="FF0000"/>
                </a:solidFill>
                <a:latin typeface="한컴산뜻돋움"/>
                <a:ea typeface="한컴산뜻돋움"/>
              </a:rPr>
              <a:t>System.out.println</a:t>
            </a: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("선택한 과목:"+</a:t>
            </a:r>
            <a:r>
              <a:rPr lang="ko-KR" altLang="en-US" sz="1200" b="1" dirty="0" err="1">
                <a:solidFill>
                  <a:srgbClr val="FF0000"/>
                </a:solidFill>
                <a:latin typeface="한컴산뜻돋움"/>
                <a:ea typeface="한컴산뜻돋움"/>
              </a:rPr>
              <a:t>str</a:t>
            </a: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);</a:t>
            </a:r>
          </a:p>
          <a:p>
            <a:pPr lvl="0">
              <a:defRPr/>
            </a:pPr>
            <a:r>
              <a:rPr lang="ko-KR" altLang="en-US" sz="1200" b="1" dirty="0">
                <a:solidFill>
                  <a:srgbClr val="FF0000"/>
                </a:solidFill>
                <a:latin typeface="한컴산뜻돋움"/>
                <a:ea typeface="한컴산뜻돋움"/>
              </a:rPr>
              <a:t>      }</a:t>
            </a:r>
          </a:p>
          <a:p>
            <a:pPr lvl="0"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}</a:t>
            </a:r>
          </a:p>
          <a:p>
            <a:pPr lvl="0">
              <a:defRPr/>
            </a:pPr>
            <a:endParaRPr lang="ko-KR" altLang="en-US" sz="1200" dirty="0">
              <a:latin typeface="한컴산뜻돋움"/>
              <a:ea typeface="한컴산뜻돋움"/>
            </a:endParaRPr>
          </a:p>
          <a:p>
            <a:pPr lvl="0"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</a:t>
            </a:r>
            <a:r>
              <a:rPr lang="ko-KR" altLang="en-US" sz="1200" dirty="0" err="1">
                <a:latin typeface="한컴산뜻돋움"/>
                <a:ea typeface="한컴산뜻돋움"/>
              </a:rPr>
              <a:t>public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void</a:t>
            </a:r>
            <a:r>
              <a:rPr lang="ko-KR" altLang="en-US" sz="1200" dirty="0">
                <a:latin typeface="한컴산뜻돋움"/>
                <a:ea typeface="한컴산뜻돋움"/>
              </a:rPr>
              <a:t> </a:t>
            </a:r>
            <a:r>
              <a:rPr lang="ko-KR" altLang="en-US" sz="1200" dirty="0" err="1">
                <a:latin typeface="한컴산뜻돋움"/>
                <a:ea typeface="한컴산뜻돋움"/>
              </a:rPr>
              <a:t>destroy</a:t>
            </a:r>
            <a:r>
              <a:rPr lang="ko-KR" altLang="en-US" sz="1200" dirty="0">
                <a:latin typeface="한컴산뜻돋움"/>
                <a:ea typeface="한컴산뜻돋움"/>
              </a:rPr>
              <a:t>() {</a:t>
            </a:r>
          </a:p>
          <a:p>
            <a:pPr lvl="0"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   </a:t>
            </a:r>
            <a:r>
              <a:rPr lang="ko-KR" altLang="en-US" sz="1200" dirty="0" err="1">
                <a:latin typeface="한컴산뜻돋움"/>
                <a:ea typeface="한컴산뜻돋움"/>
              </a:rPr>
              <a:t>System.out.println</a:t>
            </a:r>
            <a:r>
              <a:rPr lang="ko-KR" altLang="en-US" sz="1200" dirty="0">
                <a:latin typeface="한컴산뜻돋움"/>
                <a:ea typeface="한컴산뜻돋움"/>
              </a:rPr>
              <a:t>("</a:t>
            </a:r>
            <a:r>
              <a:rPr lang="ko-KR" altLang="en-US" sz="1200" dirty="0" err="1">
                <a:latin typeface="한컴산뜻돋움"/>
                <a:ea typeface="한컴산뜻돋움"/>
              </a:rPr>
              <a:t>destroy</a:t>
            </a:r>
            <a:r>
              <a:rPr lang="ko-KR" altLang="en-US" sz="1200" dirty="0">
                <a:latin typeface="한컴산뜻돋움"/>
                <a:ea typeface="한컴산뜻돋움"/>
              </a:rPr>
              <a:t> 메서드 호출");</a:t>
            </a:r>
          </a:p>
          <a:p>
            <a:pPr lvl="0"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   }</a:t>
            </a:r>
          </a:p>
          <a:p>
            <a:pPr lvl="0">
              <a:defRPr/>
            </a:pPr>
            <a:r>
              <a:rPr lang="ko-KR" altLang="en-US" sz="1200" dirty="0">
                <a:latin typeface="한컴산뜻돋움"/>
                <a:ea typeface="한컴산뜻돋움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364" name="TextBox 2"/>
          <p:cNvSpPr txBox="1"/>
          <p:nvPr/>
        </p:nvSpPr>
        <p:spPr>
          <a:xfrm>
            <a:off x="3611060" y="1227367"/>
            <a:ext cx="5532940" cy="1552028"/>
          </a:xfrm>
          <a:prstGeom prst="rect">
            <a:avLst/>
          </a:prstGeom>
          <a:solidFill>
            <a:schemeClr val="lt1"/>
          </a:solidFill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package sec01.ex01;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0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import java.io.IOException;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import javax.servlet.ServletException;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import javax.servlet.annotation.WebServlet;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import javax.servlet.http.HttpServlet;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import javax.servlet.http.HttpServletRequest;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import javax.servlet.http.HttpServletResponse;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407504" y="1620078"/>
            <a:ext cx="8090453" cy="263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브라우저에서 </a:t>
            </a:r>
            <a:r>
              <a:rPr lang="en-US" altLang="ko-KR" sz="1200">
                <a:latin typeface="+mj-ea"/>
                <a:ea typeface="+mj-ea"/>
              </a:rPr>
              <a:t>http://localhost:8090/pro06/input.html</a:t>
            </a:r>
            <a:r>
              <a:rPr lang="ko-KR" altLang="en-US" sz="1200">
                <a:latin typeface="+mj-ea"/>
                <a:ea typeface="+mj-ea"/>
              </a:rPr>
              <a:t>로 요청합니다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246244" y="1897077"/>
            <a:ext cx="3657600" cy="20764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550505"/>
            <a:ext cx="7764237" cy="26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ko-KR" altLang="en-US" sz="1200">
                <a:latin typeface="+mj-ea"/>
                <a:ea typeface="+mj-ea"/>
              </a:rPr>
              <a:t>체크박스에서 여러 개의 값에 체크한 후 전송을 클릭하면 이클립스 콘솔에 해당 과목명이 출력됩니다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566830" y="2013005"/>
            <a:ext cx="2576195" cy="14135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4377984" y="2308694"/>
            <a:ext cx="2527935" cy="11277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4377984" y="2872574"/>
            <a:ext cx="1528256" cy="55394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517429" y="1351707"/>
            <a:ext cx="8039111" cy="494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6.3.3 getParameterNames() </a:t>
            </a:r>
            <a:r>
              <a:rPr lang="ko-KR" altLang="en-US" b="1"/>
              <a:t>메서드를 이용한 요청 처리</a:t>
            </a:r>
            <a:endParaRPr lang="en-US" altLang="ko-KR" b="1" spc="-95"/>
          </a:p>
        </p:txBody>
      </p:sp>
      <p:sp>
        <p:nvSpPr>
          <p:cNvPr id="3" name="TextBox 2"/>
          <p:cNvSpPr txBox="1"/>
          <p:nvPr/>
        </p:nvSpPr>
        <p:spPr>
          <a:xfrm>
            <a:off x="505120" y="1888435"/>
            <a:ext cx="7525698" cy="4616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Wingdings"/>
              <a:buChar char="Ø"/>
            </a:pPr>
            <a:r>
              <a:rPr lang="ko-KR" altLang="en-US" sz="1200">
                <a:latin typeface="+mj-ea"/>
                <a:ea typeface="+mj-ea"/>
              </a:rPr>
              <a:t>전송되는 데이터가 많은 경우 </a:t>
            </a:r>
            <a:r>
              <a:rPr lang="en-US" altLang="ko-KR" sz="1200">
                <a:latin typeface="+mj-ea"/>
                <a:ea typeface="+mj-ea"/>
              </a:rPr>
              <a:t>name</a:t>
            </a:r>
            <a:r>
              <a:rPr lang="ko-KR" altLang="en-US" sz="1200">
                <a:latin typeface="+mj-ea"/>
                <a:ea typeface="+mj-ea"/>
              </a:rPr>
              <a:t>의 값을 일일이 기억할 필요없이 </a:t>
            </a:r>
            <a:r>
              <a:rPr lang="en-US" altLang="ko-KR" sz="1200">
                <a:latin typeface="+mj-ea"/>
                <a:ea typeface="+mj-ea"/>
              </a:rPr>
              <a:t>getParameterNames() </a:t>
            </a:r>
            <a:r>
              <a:rPr lang="ko-KR" altLang="en-US" sz="1200">
                <a:latin typeface="+mj-ea"/>
                <a:ea typeface="+mj-ea"/>
              </a:rPr>
              <a:t>메서드를 이용해서 </a:t>
            </a:r>
            <a:r>
              <a:rPr lang="en-US" altLang="ko-KR" sz="1200">
                <a:latin typeface="+mj-ea"/>
                <a:ea typeface="+mj-ea"/>
              </a:rPr>
              <a:t>name</a:t>
            </a:r>
            <a:r>
              <a:rPr lang="ko-KR" altLang="en-US" sz="1200">
                <a:latin typeface="+mj-ea"/>
                <a:ea typeface="+mj-ea"/>
              </a:rPr>
              <a:t>을 얻음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94721"/>
            <a:ext cx="7225748" cy="26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sec01.ex01 </a:t>
            </a:r>
            <a:r>
              <a:rPr lang="ko-KR" altLang="en-US" sz="1200">
                <a:latin typeface="+mj-ea"/>
                <a:ea typeface="+mj-ea"/>
              </a:rPr>
              <a:t>패키지에 </a:t>
            </a:r>
            <a:r>
              <a:rPr lang="en-US" altLang="ko-KR" sz="1200">
                <a:latin typeface="+mj-ea"/>
                <a:ea typeface="+mj-ea"/>
              </a:rPr>
              <a:t>InputServlet2 </a:t>
            </a:r>
            <a:r>
              <a:rPr lang="ko-KR" altLang="en-US" sz="1200">
                <a:latin typeface="+mj-ea"/>
                <a:ea typeface="+mj-ea"/>
              </a:rPr>
              <a:t>클래스를 생성합니다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546644" y="2771720"/>
            <a:ext cx="2601826" cy="3128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가로 글상자 9"/>
          <p:cNvSpPr txBox="1"/>
          <p:nvPr/>
        </p:nvSpPr>
        <p:spPr>
          <a:xfrm>
            <a:off x="3248639" y="3469556"/>
            <a:ext cx="1524000" cy="143799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000" b="1"/>
              <a:t>src/main/java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3067664" y="5025509"/>
            <a:ext cx="823450" cy="16561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100" b="1"/>
              <a:t>webapp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560443"/>
            <a:ext cx="7436246" cy="266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ko-KR" altLang="en-US" sz="1200">
                <a:latin typeface="+mj-ea"/>
                <a:ea typeface="+mj-ea"/>
              </a:rPr>
              <a:t>그리고 </a:t>
            </a:r>
            <a:r>
              <a:rPr lang="en-US" altLang="ko-KR" sz="1200">
                <a:latin typeface="+mj-ea"/>
                <a:ea typeface="+mj-ea"/>
              </a:rPr>
              <a:t>6.3.2</a:t>
            </a:r>
            <a:r>
              <a:rPr lang="ko-KR" altLang="en-US" sz="1200">
                <a:latin typeface="+mj-ea"/>
                <a:ea typeface="+mj-ea"/>
              </a:rPr>
              <a:t>절에서 이용했던 </a:t>
            </a:r>
            <a:r>
              <a:rPr lang="en-US" altLang="ko-KR" sz="1200">
                <a:latin typeface="+mj-ea"/>
                <a:ea typeface="+mj-ea"/>
              </a:rPr>
              <a:t>input.html</a:t>
            </a:r>
            <a:r>
              <a:rPr lang="ko-KR" altLang="en-US" sz="1200">
                <a:latin typeface="+mj-ea"/>
                <a:ea typeface="+mj-ea"/>
              </a:rPr>
              <a:t>을 다음과 같이 수정합니다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60356" y="2046218"/>
            <a:ext cx="6429375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459" name="TextBox 2"/>
          <p:cNvSpPr txBox="1"/>
          <p:nvPr/>
        </p:nvSpPr>
        <p:spPr>
          <a:xfrm>
            <a:off x="853877" y="4778702"/>
            <a:ext cx="7436246" cy="2676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&lt;form name="frmInput" method="get" action=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"input2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"&gt;</a:t>
            </a:r>
          </a:p>
        </p:txBody>
      </p:sp>
      <p:sp>
        <p:nvSpPr>
          <p:cNvPr id="19460" name="가로 글상자 19459"/>
          <p:cNvSpPr txBox="1"/>
          <p:nvPr/>
        </p:nvSpPr>
        <p:spPr>
          <a:xfrm>
            <a:off x="1886565" y="2077984"/>
            <a:ext cx="1333499" cy="179442"/>
          </a:xfrm>
          <a:prstGeom prst="rect">
            <a:avLst/>
          </a:prstGeom>
          <a:solidFill>
            <a:srgbClr val="D8BEE4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200" b="1"/>
              <a:t>webapp/input.html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427383" y="1480931"/>
            <a:ext cx="8001000" cy="45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InputServlet2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전송되는 데이터가 많은 경우에는 </a:t>
            </a:r>
            <a:r>
              <a:rPr lang="en-US" altLang="ko-KR" sz="1200">
                <a:latin typeface="+mj-ea"/>
                <a:ea typeface="+mj-ea"/>
              </a:rPr>
              <a:t>getParameterNames()</a:t>
            </a:r>
            <a:r>
              <a:rPr lang="ko-KR" altLang="en-US" sz="1200">
                <a:latin typeface="+mj-ea"/>
                <a:ea typeface="+mj-ea"/>
              </a:rPr>
              <a:t>를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이용해 </a:t>
            </a:r>
            <a:r>
              <a:rPr lang="en-US" altLang="ko-KR" sz="1200">
                <a:latin typeface="+mj-ea"/>
                <a:ea typeface="+mj-ea"/>
              </a:rPr>
              <a:t>name </a:t>
            </a:r>
            <a:r>
              <a:rPr lang="ko-KR" altLang="en-US" sz="1200">
                <a:latin typeface="+mj-ea"/>
                <a:ea typeface="+mj-ea"/>
              </a:rPr>
              <a:t>속성만 따로 구할 수 있습니다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2166730" y="1868556"/>
            <a:ext cx="4461426" cy="4899992"/>
            <a:chOff x="1451112" y="2052356"/>
            <a:chExt cx="5177045" cy="5736478"/>
          </a:xfrm>
        </p:grpSpPr>
        <p:pic>
          <p:nvPicPr>
            <p:cNvPr id="20482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1451112" y="2052356"/>
              <a:ext cx="5177045" cy="24434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83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1451112" y="4495799"/>
              <a:ext cx="4983853" cy="32930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0" y="1480931"/>
            <a:ext cx="9144000" cy="52132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package sec01.ex01;</a:t>
            </a:r>
          </a:p>
          <a:p>
            <a:pPr lvl="0">
              <a:defRPr/>
            </a:pPr>
            <a:endParaRPr lang="ko-KR" altLang="en-US" sz="1200">
              <a:latin typeface="한컴산뜻돋움"/>
              <a:ea typeface="한컴산뜻돋움"/>
            </a:endParaRPr>
          </a:p>
          <a:p>
            <a:pPr lvl="0"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import java.io.IOException;</a:t>
            </a:r>
          </a:p>
          <a:p>
            <a:pPr lvl="0">
              <a:defRPr/>
            </a:pPr>
            <a:r>
              <a:rPr lang="ko-KR" altLang="en-US" sz="1200" b="1">
                <a:solidFill>
                  <a:srgbClr val="800080"/>
                </a:solidFill>
                <a:latin typeface="한컴산뜻돋움"/>
                <a:ea typeface="한컴산뜻돋움"/>
              </a:rPr>
              <a:t>import java.util.Enumeration;</a:t>
            </a:r>
          </a:p>
          <a:p>
            <a:pPr lvl="0"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    </a:t>
            </a:r>
            <a:r>
              <a:rPr lang="en-US" altLang="ko-KR" sz="1200">
                <a:latin typeface="한컴산뜻돋움"/>
                <a:ea typeface="한컴산뜻돋움"/>
              </a:rPr>
              <a:t>:</a:t>
            </a:r>
          </a:p>
          <a:p>
            <a:pPr lvl="0">
              <a:defRPr/>
            </a:pPr>
            <a:endParaRPr lang="ko-KR" altLang="en-US" sz="1200">
              <a:latin typeface="한컴산뜻돋움"/>
              <a:ea typeface="한컴산뜻돋움"/>
            </a:endParaRPr>
          </a:p>
          <a:p>
            <a:pPr lvl="0"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@WebServlet("</a:t>
            </a:r>
            <a:r>
              <a:rPr lang="ko-KR" altLang="en-US" sz="1200" b="1">
                <a:solidFill>
                  <a:srgbClr val="800080"/>
                </a:solidFill>
                <a:latin typeface="한컴산뜻돋움"/>
                <a:ea typeface="한컴산뜻돋움"/>
              </a:rPr>
              <a:t>/input2</a:t>
            </a:r>
            <a:r>
              <a:rPr lang="ko-KR" altLang="en-US" sz="1200">
                <a:latin typeface="한컴산뜻돋움"/>
                <a:ea typeface="한컴산뜻돋움"/>
              </a:rPr>
              <a:t>")	</a:t>
            </a:r>
          </a:p>
          <a:p>
            <a:pPr lvl="0"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public class InputServlet2 extends HttpServlet{</a:t>
            </a:r>
          </a:p>
          <a:p>
            <a:pPr lvl="0"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   public void init() throws ServletException {</a:t>
            </a:r>
          </a:p>
          <a:p>
            <a:pPr lvl="0"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      System.out.println("init 메서드 호출");</a:t>
            </a:r>
          </a:p>
          <a:p>
            <a:pPr lvl="0"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   }</a:t>
            </a:r>
          </a:p>
          <a:p>
            <a:pPr lvl="0">
              <a:defRPr/>
            </a:pPr>
            <a:endParaRPr lang="ko-KR" altLang="en-US" sz="1200">
              <a:latin typeface="한컴산뜻돋움"/>
              <a:ea typeface="한컴산뜻돋움"/>
            </a:endParaRPr>
          </a:p>
          <a:p>
            <a:pPr lvl="0"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   protected void doGet(HttpServletRequest request, HttpServletResponse response) </a:t>
            </a:r>
          </a:p>
          <a:p>
            <a:pPr lvl="0"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                                            throws ServletException, IOException {</a:t>
            </a:r>
          </a:p>
          <a:p>
            <a:pPr lvl="0"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      request.setCharacterEncoding("utf-8");</a:t>
            </a:r>
          </a:p>
          <a:p>
            <a:pPr lvl="0"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      </a:t>
            </a:r>
            <a:r>
              <a:rPr lang="ko-KR" altLang="en-US" sz="1200" b="1">
                <a:solidFill>
                  <a:srgbClr val="800080"/>
                </a:solidFill>
                <a:latin typeface="한컴산뜻돋움"/>
                <a:ea typeface="한컴산뜻돋움"/>
              </a:rPr>
              <a:t>Enumeration enu=request.getParameterNames();</a:t>
            </a:r>
          </a:p>
          <a:p>
            <a:pPr lvl="0"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      </a:t>
            </a:r>
            <a:r>
              <a:rPr lang="ko-KR" altLang="en-US" sz="1200" b="1">
                <a:solidFill>
                  <a:srgbClr val="800080"/>
                </a:solidFill>
                <a:latin typeface="한컴산뜻돋움"/>
                <a:ea typeface="한컴산뜻돋움"/>
              </a:rPr>
              <a:t>while(enu.hasMoreElements()){</a:t>
            </a:r>
          </a:p>
          <a:p>
            <a:pPr lvl="0">
              <a:defRPr/>
            </a:pPr>
            <a:r>
              <a:rPr lang="ko-KR" altLang="en-US" sz="1200" b="1">
                <a:solidFill>
                  <a:srgbClr val="800080"/>
                </a:solidFill>
                <a:latin typeface="한컴산뜻돋움"/>
                <a:ea typeface="한컴산뜻돋움"/>
              </a:rPr>
              <a:t>		String name=(String)enu.nextElement();</a:t>
            </a:r>
          </a:p>
          <a:p>
            <a:pPr lvl="0">
              <a:defRPr/>
            </a:pPr>
            <a:r>
              <a:rPr lang="ko-KR" altLang="en-US" sz="1200" b="1">
                <a:solidFill>
                  <a:srgbClr val="800080"/>
                </a:solidFill>
                <a:latin typeface="한컴산뜻돋움"/>
                <a:ea typeface="한컴산뜻돋움"/>
              </a:rPr>
              <a:t>		</a:t>
            </a:r>
            <a:r>
              <a:rPr lang="ko-KR" altLang="en-US" sz="1200" b="1">
                <a:solidFill>
                  <a:srgbClr val="FF0000"/>
                </a:solidFill>
                <a:latin typeface="한컴산뜻돋움"/>
                <a:ea typeface="한컴산뜻돋움"/>
              </a:rPr>
              <a:t>String []values=request.getParameterValues(name);</a:t>
            </a:r>
            <a:r>
              <a:rPr lang="ko-KR" altLang="en-US" sz="1200" b="1">
                <a:solidFill>
                  <a:srgbClr val="800080"/>
                </a:solidFill>
                <a:latin typeface="한컴산뜻돋움"/>
                <a:ea typeface="한컴산뜻돋움"/>
              </a:rPr>
              <a:t>		</a:t>
            </a:r>
          </a:p>
          <a:p>
            <a:pPr lvl="0">
              <a:defRPr/>
            </a:pPr>
            <a:r>
              <a:rPr lang="ko-KR" altLang="en-US" sz="1200" b="1">
                <a:solidFill>
                  <a:srgbClr val="800080"/>
                </a:solidFill>
                <a:latin typeface="한컴산뜻돋움"/>
                <a:ea typeface="한컴산뜻돋움"/>
              </a:rPr>
              <a:t>		for(String value:values){</a:t>
            </a:r>
          </a:p>
          <a:p>
            <a:pPr lvl="0">
              <a:defRPr/>
            </a:pPr>
            <a:r>
              <a:rPr lang="ko-KR" altLang="en-US" sz="1200" b="1">
                <a:solidFill>
                  <a:srgbClr val="800080"/>
                </a:solidFill>
                <a:latin typeface="한컴산뜻돋움"/>
                <a:ea typeface="한컴산뜻돋움"/>
              </a:rPr>
              <a:t>		   System.out.println("name="+name+",value="+value);</a:t>
            </a:r>
          </a:p>
          <a:p>
            <a:pPr lvl="0">
              <a:defRPr/>
            </a:pPr>
            <a:r>
              <a:rPr lang="ko-KR" altLang="en-US" sz="1200" b="1">
                <a:solidFill>
                  <a:srgbClr val="800080"/>
                </a:solidFill>
                <a:latin typeface="한컴산뜻돋움"/>
                <a:ea typeface="한컴산뜻돋움"/>
              </a:rPr>
              <a:t>		}   </a:t>
            </a:r>
          </a:p>
          <a:p>
            <a:pPr lvl="0">
              <a:defRPr/>
            </a:pPr>
            <a:r>
              <a:rPr lang="ko-KR" altLang="en-US" sz="1200" b="1">
                <a:solidFill>
                  <a:srgbClr val="800080"/>
                </a:solidFill>
                <a:latin typeface="한컴산뜻돋움"/>
                <a:ea typeface="한컴산뜻돋움"/>
              </a:rPr>
              <a:t>      }</a:t>
            </a:r>
          </a:p>
          <a:p>
            <a:pPr lvl="0"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   }</a:t>
            </a:r>
          </a:p>
          <a:p>
            <a:pPr lvl="0"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   public void destroy() {</a:t>
            </a:r>
          </a:p>
          <a:p>
            <a:pPr lvl="0"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      System.out.println("destroy 메서드 호출");</a:t>
            </a:r>
          </a:p>
          <a:p>
            <a:pPr lvl="0"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   }</a:t>
            </a:r>
          </a:p>
          <a:p>
            <a:pPr lvl="0"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387626" y="1530626"/>
            <a:ext cx="8259417" cy="448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브라우저에서 </a:t>
            </a:r>
            <a:r>
              <a:rPr lang="en-US" altLang="ko-KR" sz="1200">
                <a:latin typeface="+mj-ea"/>
                <a:ea typeface="+mj-ea"/>
              </a:rPr>
              <a:t>http://localhost:8090/pro06/input.html</a:t>
            </a:r>
            <a:r>
              <a:rPr lang="ko-KR" altLang="en-US" sz="1200">
                <a:latin typeface="+mj-ea"/>
                <a:ea typeface="+mj-ea"/>
              </a:rPr>
              <a:t>로 요청하고 값을 입력한 후 전송을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 getParameterNames()</a:t>
            </a:r>
            <a:r>
              <a:rPr lang="ko-KR" altLang="en-US" sz="1200">
                <a:latin typeface="+mj-ea"/>
                <a:ea typeface="+mj-ea"/>
              </a:rPr>
              <a:t>를 이용해 전송된 </a:t>
            </a:r>
            <a:r>
              <a:rPr lang="en-US" altLang="ko-KR" sz="1200">
                <a:latin typeface="+mj-ea"/>
                <a:ea typeface="+mj-ea"/>
              </a:rPr>
              <a:t>name</a:t>
            </a:r>
            <a:r>
              <a:rPr lang="ko-KR" altLang="en-US" sz="1200">
                <a:latin typeface="+mj-ea"/>
                <a:ea typeface="+mj-ea"/>
              </a:rPr>
              <a:t>과 값이 모두 출력되는 것을 확인할 수 있습니다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647466" y="2530709"/>
            <a:ext cx="2509520" cy="15182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4572000" y="2858810"/>
            <a:ext cx="2623820" cy="11703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5116" y="711235"/>
            <a:ext cx="76052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6.3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서블릿에서 클라이언트의 요청 얻는 방법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6.4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응답 처리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5374" y="1470991"/>
            <a:ext cx="4909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400" b="1"/>
              <a:t>서블릿의 응답 처리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4949" y="1778768"/>
            <a:ext cx="7066721" cy="118160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doGet()</a:t>
            </a:r>
            <a:r>
              <a:rPr lang="ko-KR" altLang="en-US" sz="1200">
                <a:latin typeface="+mj-ea"/>
                <a:ea typeface="+mj-ea"/>
              </a:rPr>
              <a:t>이나 </a:t>
            </a:r>
            <a:r>
              <a:rPr lang="en-US" altLang="ko-KR" sz="1200">
                <a:latin typeface="+mj-ea"/>
                <a:ea typeface="+mj-ea"/>
              </a:rPr>
              <a:t>doPost() </a:t>
            </a:r>
            <a:r>
              <a:rPr lang="ko-KR" altLang="en-US" sz="1200">
                <a:latin typeface="+mj-ea"/>
                <a:ea typeface="+mj-ea"/>
              </a:rPr>
              <a:t>메서드 안에서 처리함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javax.servlet.http.HttpServletResponse </a:t>
            </a:r>
            <a:r>
              <a:rPr lang="ko-KR" altLang="en-US" sz="1200">
                <a:latin typeface="+mj-ea"/>
                <a:ea typeface="+mj-ea"/>
              </a:rPr>
              <a:t>객체를 이용함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setContentType()</a:t>
            </a:r>
            <a:r>
              <a:rPr lang="ko-KR" altLang="en-US" sz="1200">
                <a:latin typeface="+mj-ea"/>
                <a:ea typeface="+mj-ea"/>
              </a:rPr>
              <a:t>을 이용해 클라이언트에게 전송할 데이터 종류</a:t>
            </a:r>
            <a:r>
              <a:rPr lang="en-US" altLang="ko-KR" sz="1200">
                <a:latin typeface="+mj-ea"/>
                <a:ea typeface="+mj-ea"/>
              </a:rPr>
              <a:t>(MIME-TYPE)</a:t>
            </a:r>
            <a:r>
              <a:rPr lang="ko-KR" altLang="en-US" sz="1200">
                <a:latin typeface="+mj-ea"/>
                <a:ea typeface="+mj-ea"/>
              </a:rPr>
              <a:t>를 지정함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클라이언트</a:t>
            </a:r>
            <a:r>
              <a:rPr lang="en-US" altLang="ko-KR" sz="1200">
                <a:latin typeface="+mj-ea"/>
                <a:ea typeface="+mj-ea"/>
              </a:rPr>
              <a:t>(</a:t>
            </a:r>
            <a:r>
              <a:rPr lang="ko-KR" altLang="en-US" sz="1200">
                <a:latin typeface="+mj-ea"/>
                <a:ea typeface="+mj-ea"/>
              </a:rPr>
              <a:t>웹 브라우저</a:t>
            </a:r>
            <a:r>
              <a:rPr lang="en-US" altLang="ko-KR" sz="1200">
                <a:latin typeface="+mj-ea"/>
                <a:ea typeface="+mj-ea"/>
              </a:rPr>
              <a:t>)</a:t>
            </a:r>
            <a:r>
              <a:rPr lang="ko-KR" altLang="en-US" sz="1200">
                <a:latin typeface="+mj-ea"/>
                <a:ea typeface="+mj-ea"/>
              </a:rPr>
              <a:t>와 서블릿의 통신은 자바 </a:t>
            </a:r>
            <a:r>
              <a:rPr lang="en-US" altLang="ko-KR" sz="1200">
                <a:latin typeface="+mj-ea"/>
                <a:ea typeface="+mj-ea"/>
              </a:rPr>
              <a:t>I/O</a:t>
            </a:r>
            <a:r>
              <a:rPr lang="ko-KR" altLang="en-US" sz="1200">
                <a:latin typeface="+mj-ea"/>
                <a:ea typeface="+mj-ea"/>
              </a:rPr>
              <a:t>의 스트림을 이용함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949" y="3671259"/>
            <a:ext cx="7066722" cy="27699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Wingdings"/>
              <a:buChar char="Ø"/>
            </a:pPr>
            <a:r>
              <a:rPr lang="ko-KR" altLang="en-US" sz="1200"/>
              <a:t>톰캣 컨테이너에 미리 지정해 놓은 데이터 종류로 서블릿에서 브라우저로 전송 시 설정해서 사용함</a:t>
            </a:r>
            <a:endParaRPr lang="en-US" altLang="ko-KR" sz="1200"/>
          </a:p>
        </p:txBody>
      </p:sp>
      <p:sp>
        <p:nvSpPr>
          <p:cNvPr id="7" name="TextBox 6"/>
          <p:cNvSpPr txBox="1"/>
          <p:nvPr/>
        </p:nvSpPr>
        <p:spPr>
          <a:xfrm>
            <a:off x="827320" y="4492487"/>
            <a:ext cx="7064352" cy="90628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ko-KR" sz="1200">
                <a:latin typeface="+mj-ea"/>
                <a:ea typeface="+mj-ea"/>
              </a:rPr>
              <a:t>HTML</a:t>
            </a:r>
            <a:r>
              <a:rPr lang="ko-KR" altLang="en-US" sz="1200">
                <a:latin typeface="+mj-ea"/>
                <a:ea typeface="+mj-ea"/>
              </a:rPr>
              <a:t>로 전송 시</a:t>
            </a:r>
            <a:r>
              <a:rPr lang="en-US" altLang="ko-KR" sz="1200">
                <a:latin typeface="+mj-ea"/>
                <a:ea typeface="+mj-ea"/>
              </a:rPr>
              <a:t>: text/html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일반 텍스트로 전송 시</a:t>
            </a:r>
            <a:r>
              <a:rPr lang="en-US" altLang="ko-KR" sz="1200">
                <a:latin typeface="+mj-ea"/>
                <a:ea typeface="+mj-ea"/>
              </a:rPr>
              <a:t>: text/plain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ko-KR" sz="1200">
                <a:latin typeface="+mj-ea"/>
                <a:ea typeface="+mj-ea"/>
              </a:rPr>
              <a:t>XML </a:t>
            </a:r>
            <a:r>
              <a:rPr lang="ko-KR" altLang="en-US" sz="1200">
                <a:latin typeface="+mj-ea"/>
                <a:ea typeface="+mj-ea"/>
              </a:rPr>
              <a:t>데이터로 전송 시</a:t>
            </a:r>
            <a:r>
              <a:rPr lang="en-US" altLang="ko-KR" sz="1200">
                <a:latin typeface="+mj-ea"/>
                <a:ea typeface="+mj-ea"/>
              </a:rPr>
              <a:t>: application/xml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319" y="4204252"/>
            <a:ext cx="26911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400" b="1">
                <a:latin typeface="+mj-ea"/>
                <a:ea typeface="+mj-ea"/>
              </a:rPr>
              <a:t>MIME-TYPE </a:t>
            </a:r>
            <a:r>
              <a:rPr lang="ko-KR" altLang="en-US" sz="1400" b="1">
                <a:latin typeface="+mj-ea"/>
                <a:ea typeface="+mj-ea"/>
              </a:rPr>
              <a:t>지정 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820" y="3216263"/>
            <a:ext cx="8039113" cy="496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6.4.1 MINE-TYPE</a:t>
            </a:r>
            <a:endParaRPr lang="en-US" altLang="ko-KR" b="1" spc="-95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6.4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응답 처리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그림 4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324274" y="1915659"/>
            <a:ext cx="5471160" cy="36595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1222513" y="1638660"/>
            <a:ext cx="6142383" cy="264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ko-KR" sz="1200" b="1">
                <a:latin typeface="+mj-ea"/>
                <a:ea typeface="+mj-ea"/>
              </a:rPr>
              <a:t>톰캣 컨테이너의 </a:t>
            </a:r>
            <a:r>
              <a:rPr lang="en-US" altLang="ko-KR" sz="1200" b="1">
                <a:latin typeface="+mj-ea"/>
                <a:ea typeface="+mj-ea"/>
              </a:rPr>
              <a:t>web.xml</a:t>
            </a:r>
            <a:r>
              <a:rPr lang="ko-KR" altLang="ko-KR" sz="1200" b="1">
                <a:latin typeface="+mj-ea"/>
                <a:ea typeface="+mj-ea"/>
              </a:rPr>
              <a:t>에 정의된 여러 가지</a:t>
            </a:r>
            <a:r>
              <a:rPr lang="en-US" altLang="ko-KR" sz="1200" b="1">
                <a:latin typeface="+mj-ea"/>
                <a:ea typeface="+mj-ea"/>
              </a:rPr>
              <a:t> MIME-TYPE</a:t>
            </a:r>
            <a:endParaRPr lang="ko-KR" altLang="ko-KR" sz="1200" b="1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6.4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응답 처리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7429" y="1351707"/>
            <a:ext cx="8039111" cy="494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6.4.2 HttpServletResponse</a:t>
            </a:r>
            <a:r>
              <a:rPr lang="ko-KR" altLang="en-US" b="1"/>
              <a:t>를 이용한 서블릿 응답 실습</a:t>
            </a:r>
            <a:endParaRPr lang="en-US" altLang="ko-KR" b="1" spc="-95"/>
          </a:p>
        </p:txBody>
      </p:sp>
      <p:grpSp>
        <p:nvGrpSpPr>
          <p:cNvPr id="5" name="그룹 4"/>
          <p:cNvGrpSpPr/>
          <p:nvPr/>
        </p:nvGrpSpPr>
        <p:grpSpPr>
          <a:xfrm>
            <a:off x="1577008" y="2072302"/>
            <a:ext cx="5824331" cy="3887856"/>
            <a:chOff x="1612509" y="1858617"/>
            <a:chExt cx="5824331" cy="3887856"/>
          </a:xfrm>
        </p:grpSpPr>
        <p:sp>
          <p:nvSpPr>
            <p:cNvPr id="3" name="TextBox 2"/>
            <p:cNvSpPr txBox="1"/>
            <p:nvPr/>
          </p:nvSpPr>
          <p:spPr>
            <a:xfrm>
              <a:off x="2233242" y="1987826"/>
              <a:ext cx="4324441" cy="2635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1200" b="1">
                  <a:latin typeface="+mj-ea"/>
                  <a:ea typeface="+mj-ea"/>
                </a:rPr>
                <a:t>서블릿이 클라이언트</a:t>
              </a:r>
              <a:r>
                <a:rPr lang="en-US" altLang="ko-KR" sz="1200" b="1">
                  <a:latin typeface="+mj-ea"/>
                  <a:ea typeface="+mj-ea"/>
                </a:rPr>
                <a:t>(</a:t>
              </a:r>
              <a:r>
                <a:rPr lang="ko-KR" altLang="en-US" sz="1200" b="1">
                  <a:latin typeface="+mj-ea"/>
                  <a:ea typeface="+mj-ea"/>
                </a:rPr>
                <a:t>웹 브라우저</a:t>
              </a:r>
              <a:r>
                <a:rPr lang="en-US" altLang="ko-KR" sz="1200" b="1">
                  <a:latin typeface="+mj-ea"/>
                  <a:ea typeface="+mj-ea"/>
                </a:rPr>
                <a:t>)</a:t>
              </a:r>
              <a:r>
                <a:rPr lang="ko-KR" altLang="en-US" sz="1200" b="1">
                  <a:latin typeface="+mj-ea"/>
                  <a:ea typeface="+mj-ea"/>
                </a:rPr>
                <a:t>에 응답하는 과정</a:t>
              </a: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1612509" y="1858617"/>
              <a:ext cx="5824330" cy="467139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ko-KR" b="1">
                  <a:solidFill>
                    <a:srgbClr val="C00000"/>
                  </a:solidFill>
                </a:rPr>
                <a:t>setContentType()</a:t>
              </a:r>
              <a:r>
                <a:rPr lang="ko-KR" altLang="en-US" b="1">
                  <a:solidFill>
                    <a:srgbClr val="C00000"/>
                  </a:solidFill>
                </a:rPr>
                <a:t>를 이용해 </a:t>
              </a:r>
              <a:r>
                <a:rPr lang="en-US" altLang="ko-KR" b="1">
                  <a:solidFill>
                    <a:srgbClr val="C00000"/>
                  </a:solidFill>
                </a:rPr>
                <a:t>MIME-TYPE </a:t>
              </a:r>
              <a:r>
                <a:rPr lang="ko-KR" altLang="en-US" b="1">
                  <a:solidFill>
                    <a:srgbClr val="C00000"/>
                  </a:solidFill>
                </a:rPr>
                <a:t>지정</a:t>
              </a: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1612510" y="3081130"/>
              <a:ext cx="5824330" cy="467139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ko-KR" altLang="en-US" b="1">
                  <a:solidFill>
                    <a:srgbClr val="C00000"/>
                  </a:solidFill>
                </a:rPr>
                <a:t>데이터를 출력할 </a:t>
              </a:r>
              <a:r>
                <a:rPr lang="en-US" altLang="ko-KR" b="1">
                  <a:solidFill>
                    <a:srgbClr val="C00000"/>
                  </a:solidFill>
                </a:rPr>
                <a:t>PrintWriter </a:t>
              </a:r>
              <a:r>
                <a:rPr lang="ko-KR" altLang="en-US" b="1">
                  <a:solidFill>
                    <a:srgbClr val="C00000"/>
                  </a:solidFill>
                </a:rPr>
                <a:t>객체 생성</a:t>
              </a: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1612510" y="4219160"/>
              <a:ext cx="5824330" cy="467139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ko-KR" altLang="en-US" b="1">
                  <a:solidFill>
                    <a:srgbClr val="C00000"/>
                  </a:solidFill>
                </a:rPr>
                <a:t>출력 데이터를  </a:t>
              </a:r>
              <a:r>
                <a:rPr lang="en-US" altLang="ko-KR" b="1">
                  <a:solidFill>
                    <a:srgbClr val="C00000"/>
                  </a:solidFill>
                </a:rPr>
                <a:t>HTML</a:t>
              </a:r>
              <a:r>
                <a:rPr lang="ko-KR" altLang="en-US" b="1">
                  <a:solidFill>
                    <a:srgbClr val="C00000"/>
                  </a:solidFill>
                </a:rPr>
                <a:t>형식으로 만듬</a:t>
              </a: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1612510" y="5279334"/>
              <a:ext cx="5824330" cy="467139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ko-KR" b="1">
                  <a:solidFill>
                    <a:srgbClr val="C00000"/>
                  </a:solidFill>
                </a:rPr>
                <a:t>PrintWriter</a:t>
              </a:r>
              <a:r>
                <a:rPr lang="ko-KR" altLang="en-US" b="1">
                  <a:solidFill>
                    <a:srgbClr val="C00000"/>
                  </a:solidFill>
                </a:rPr>
                <a:t>의 </a:t>
              </a:r>
              <a:r>
                <a:rPr lang="en-US" altLang="ko-KR" b="1">
                  <a:solidFill>
                    <a:srgbClr val="C00000"/>
                  </a:solidFill>
                </a:rPr>
                <a:t>print()</a:t>
              </a:r>
              <a:r>
                <a:rPr lang="ko-KR" altLang="en-US" b="1">
                  <a:solidFill>
                    <a:srgbClr val="C00000"/>
                  </a:solidFill>
                </a:rPr>
                <a:t>나 </a:t>
              </a:r>
              <a:r>
                <a:rPr lang="en-US" altLang="ko-KR" b="1">
                  <a:solidFill>
                    <a:srgbClr val="C00000"/>
                  </a:solidFill>
                </a:rPr>
                <a:t>println()</a:t>
              </a:r>
              <a:r>
                <a:rPr lang="ko-KR" altLang="en-US" b="1">
                  <a:solidFill>
                    <a:srgbClr val="C00000"/>
                  </a:solidFill>
                </a:rPr>
                <a:t>을 이용해 데이터 출력</a:t>
              </a:r>
            </a:p>
          </p:txBody>
        </p:sp>
        <p:sp>
          <p:nvSpPr>
            <p:cNvPr id="13" name="아래쪽 화살표 12"/>
            <p:cNvSpPr/>
            <p:nvPr/>
          </p:nvSpPr>
          <p:spPr>
            <a:xfrm>
              <a:off x="4400435" y="2564276"/>
              <a:ext cx="248479" cy="24847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 b="1"/>
            </a:p>
          </p:txBody>
        </p:sp>
        <p:sp>
          <p:nvSpPr>
            <p:cNvPr id="14" name="아래쪽 화살표 13"/>
            <p:cNvSpPr/>
            <p:nvPr/>
          </p:nvSpPr>
          <p:spPr>
            <a:xfrm>
              <a:off x="4392149" y="3771896"/>
              <a:ext cx="248479" cy="24847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 b="1"/>
            </a:p>
          </p:txBody>
        </p:sp>
        <p:sp>
          <p:nvSpPr>
            <p:cNvPr id="15" name="아래쪽 화살표 14"/>
            <p:cNvSpPr/>
            <p:nvPr/>
          </p:nvSpPr>
          <p:spPr>
            <a:xfrm>
              <a:off x="4392149" y="4924824"/>
              <a:ext cx="248479" cy="24847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6.4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응답 처리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8559" y="1500808"/>
            <a:ext cx="80922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login.html</a:t>
            </a:r>
            <a:r>
              <a:rPr lang="ko-KR" altLang="en-US" sz="1200">
                <a:latin typeface="+mj-ea"/>
                <a:ea typeface="+mj-ea"/>
              </a:rPr>
              <a:t>을 다음과 같이 수정합니다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로그인창에서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비밀번호를 입력한 후 </a:t>
            </a:r>
            <a:r>
              <a:rPr lang="en-US" altLang="ko-KR" sz="1200">
                <a:latin typeface="+mj-ea"/>
                <a:ea typeface="+mj-ea"/>
              </a:rPr>
              <a:t>login2 </a:t>
            </a:r>
            <a:r>
              <a:rPr lang="ko-KR" altLang="en-US" sz="1200">
                <a:latin typeface="+mj-ea"/>
                <a:ea typeface="+mj-ea"/>
              </a:rPr>
              <a:t>서블릿으로 전송합니다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207812" y="1952625"/>
            <a:ext cx="6410325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79" name="가로 글상자 24578"/>
          <p:cNvSpPr txBox="1"/>
          <p:nvPr/>
        </p:nvSpPr>
        <p:spPr>
          <a:xfrm>
            <a:off x="2257425" y="2001476"/>
            <a:ext cx="1333499" cy="179442"/>
          </a:xfrm>
          <a:prstGeom prst="rect">
            <a:avLst/>
          </a:prstGeom>
          <a:solidFill>
            <a:srgbClr val="D8BEE4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200"/>
              <a:t>webapp/login.html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6.4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응답 처리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7626" y="1441173"/>
            <a:ext cx="79711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sec02.ex01 </a:t>
            </a:r>
            <a:r>
              <a:rPr lang="ko-KR" altLang="en-US" sz="1200">
                <a:latin typeface="+mj-ea"/>
                <a:ea typeface="+mj-ea"/>
              </a:rPr>
              <a:t>패키지에 </a:t>
            </a:r>
            <a:r>
              <a:rPr lang="en-US" altLang="ko-KR" sz="1200">
                <a:latin typeface="+mj-ea"/>
                <a:ea typeface="+mj-ea"/>
              </a:rPr>
              <a:t>LoginServlet2 </a:t>
            </a:r>
            <a:r>
              <a:rPr lang="ko-KR" altLang="en-US" sz="1200">
                <a:latin typeface="+mj-ea"/>
                <a:ea typeface="+mj-ea"/>
              </a:rPr>
              <a:t>클래스를 추가하고 다음과 같이 작성합니다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브라우저에서 전달받은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비밀번호를 </a:t>
            </a:r>
            <a:r>
              <a:rPr lang="en-US" altLang="ko-KR" sz="1200">
                <a:latin typeface="+mj-ea"/>
                <a:ea typeface="+mj-ea"/>
              </a:rPr>
              <a:t>HTML </a:t>
            </a:r>
            <a:r>
              <a:rPr lang="ko-KR" altLang="en-US" sz="1200">
                <a:latin typeface="+mj-ea"/>
                <a:ea typeface="+mj-ea"/>
              </a:rPr>
              <a:t>태그로 만든 후 다시 브라우저로 응답합니다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185966" y="1902838"/>
            <a:ext cx="6149112" cy="2460440"/>
            <a:chOff x="1076636" y="1902836"/>
            <a:chExt cx="5829283" cy="2118691"/>
          </a:xfrm>
        </p:grpSpPr>
        <p:pic>
          <p:nvPicPr>
            <p:cNvPr id="25602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1076636" y="1902836"/>
              <a:ext cx="5829283" cy="17150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4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1354092" y="3617841"/>
              <a:ext cx="2840222" cy="40368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6.4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응답 처리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201173" y="1234455"/>
            <a:ext cx="6050653" cy="5439189"/>
          </a:xfrm>
          <a:prstGeom prst="rect">
            <a:avLst/>
          </a:prstGeom>
          <a:noFill/>
          <a:ln>
            <a:noFill/>
          </a:ln>
        </p:spPr>
      </p:pic>
      <p:sp>
        <p:nvSpPr>
          <p:cNvPr id="7171" name="자유형 7170"/>
          <p:cNvSpPr/>
          <p:nvPr/>
        </p:nvSpPr>
        <p:spPr>
          <a:xfrm>
            <a:off x="1567368" y="4714279"/>
            <a:ext cx="1716996" cy="512564"/>
          </a:xfrm>
          <a:custGeom>
            <a:avLst/>
            <a:gdLst>
              <a:gd name="connsiteX0" fmla="*/ 903179 w 1716996"/>
              <a:gd name="connsiteY0" fmla="*/ 17460 h 512564"/>
              <a:gd name="connsiteX1" fmla="*/ 307866 w 1716996"/>
              <a:gd name="connsiteY1" fmla="*/ 5554 h 512564"/>
              <a:gd name="connsiteX2" fmla="*/ 10210 w 1716996"/>
              <a:gd name="connsiteY2" fmla="*/ 124616 h 512564"/>
              <a:gd name="connsiteX3" fmla="*/ 117366 w 1716996"/>
              <a:gd name="connsiteY3" fmla="*/ 231773 h 512564"/>
              <a:gd name="connsiteX4" fmla="*/ 581710 w 1716996"/>
              <a:gd name="connsiteY4" fmla="*/ 267492 h 512564"/>
              <a:gd name="connsiteX5" fmla="*/ 1307991 w 1716996"/>
              <a:gd name="connsiteY5" fmla="*/ 231773 h 512564"/>
              <a:gd name="connsiteX6" fmla="*/ 1688991 w 1716996"/>
              <a:gd name="connsiteY6" fmla="*/ 291304 h 512564"/>
              <a:gd name="connsiteX7" fmla="*/ 1498491 w 1716996"/>
              <a:gd name="connsiteY7" fmla="*/ 505617 h 512564"/>
              <a:gd name="connsiteX8" fmla="*/ -1695 w 1716996"/>
              <a:gd name="connsiteY8" fmla="*/ 457991 h 512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6996" h="512564">
                <a:moveTo>
                  <a:pt x="903179" y="17460"/>
                </a:moveTo>
                <a:cubicBezTo>
                  <a:pt x="803960" y="15475"/>
                  <a:pt x="456694" y="-12305"/>
                  <a:pt x="307866" y="5554"/>
                </a:cubicBezTo>
                <a:cubicBezTo>
                  <a:pt x="159038" y="23413"/>
                  <a:pt x="41960" y="86913"/>
                  <a:pt x="10210" y="124616"/>
                </a:cubicBezTo>
                <a:cubicBezTo>
                  <a:pt x="-21539" y="162320"/>
                  <a:pt x="22116" y="207960"/>
                  <a:pt x="117366" y="231773"/>
                </a:cubicBezTo>
                <a:cubicBezTo>
                  <a:pt x="212616" y="255585"/>
                  <a:pt x="383272" y="267491"/>
                  <a:pt x="581710" y="267492"/>
                </a:cubicBezTo>
                <a:cubicBezTo>
                  <a:pt x="780147" y="267491"/>
                  <a:pt x="1123444" y="227804"/>
                  <a:pt x="1307991" y="231773"/>
                </a:cubicBezTo>
                <a:cubicBezTo>
                  <a:pt x="1492538" y="235742"/>
                  <a:pt x="1657241" y="245663"/>
                  <a:pt x="1688991" y="291304"/>
                </a:cubicBezTo>
                <a:cubicBezTo>
                  <a:pt x="1720741" y="336944"/>
                  <a:pt x="1780272" y="477835"/>
                  <a:pt x="1498491" y="505617"/>
                </a:cubicBezTo>
                <a:cubicBezTo>
                  <a:pt x="1216710" y="533397"/>
                  <a:pt x="248335" y="465929"/>
                  <a:pt x="-1695" y="457991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6.4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응답 처리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172" name="TextBox 7171"/>
          <p:cNvSpPr txBox="1"/>
          <p:nvPr/>
        </p:nvSpPr>
        <p:spPr>
          <a:xfrm>
            <a:off x="0" y="1092397"/>
            <a:ext cx="9144000" cy="5754173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@WebServlet("/login2")</a:t>
            </a: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public class LoginServlet2 extends HttpServlet {</a:t>
            </a: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</a:t>
            </a:r>
            <a:r>
              <a:rPr lang="ko-KR" altLang="en-US" sz="1200" b="1">
                <a:solidFill>
                  <a:srgbClr val="800080"/>
                </a:solidFill>
                <a:latin typeface="한컴산뜻돋움"/>
                <a:ea typeface="한컴산뜻돋움"/>
              </a:rPr>
              <a:t>private static final long serialVersionUID = 1L;</a:t>
            </a:r>
          </a:p>
          <a:p>
            <a:pPr>
              <a:defRPr/>
            </a:pPr>
            <a:endParaRPr lang="ko-KR" altLang="en-US" sz="1200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public void init() throws ServletException {</a:t>
            </a: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	System.out.println("init 메서드 호출");</a:t>
            </a: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}</a:t>
            </a:r>
          </a:p>
          <a:p>
            <a:pPr>
              <a:defRPr/>
            </a:pPr>
            <a:endParaRPr lang="ko-KR" altLang="en-US" sz="1200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protected void doGet(HttpServletRequest request, HttpServletResponse response) throws ServletException, IOException {</a:t>
            </a: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	request.setCharacterEncoding("utf-8");</a:t>
            </a: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	</a:t>
            </a:r>
            <a:r>
              <a:rPr lang="ko-KR" altLang="en-US" sz="1200" b="1">
                <a:solidFill>
                  <a:srgbClr val="800080"/>
                </a:solidFill>
                <a:latin typeface="한컴산뜻돋움"/>
                <a:ea typeface="한컴산뜻돋움"/>
              </a:rPr>
              <a:t>response.setContentType("text/html;charset=utf-8");</a:t>
            </a: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	</a:t>
            </a:r>
            <a:r>
              <a:rPr lang="ko-KR" altLang="en-US" sz="1200" b="1">
                <a:solidFill>
                  <a:srgbClr val="FF0000"/>
                </a:solidFill>
                <a:latin typeface="한컴산뜻돋움"/>
                <a:ea typeface="한컴산뜻돋움"/>
              </a:rPr>
              <a:t>PrintWriter out = response.getWriter();</a:t>
            </a:r>
            <a:endParaRPr lang="ko-KR" altLang="en-US" sz="1200">
              <a:latin typeface="한컴산뜻돋움"/>
              <a:ea typeface="한컴산뜻돋움"/>
            </a:endParaRPr>
          </a:p>
          <a:p>
            <a:pPr>
              <a:defRPr/>
            </a:pPr>
            <a:endParaRPr lang="ko-KR" altLang="en-US" sz="1200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	String id = request.getParameter("user_id");</a:t>
            </a: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	String pw = request.getParameter("user_pw");</a:t>
            </a:r>
          </a:p>
          <a:p>
            <a:pPr>
              <a:defRPr/>
            </a:pPr>
            <a:endParaRPr lang="ko-KR" altLang="en-US" sz="1200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	String data = "&lt;html&gt;";</a:t>
            </a: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	data += "&lt;body&gt;";</a:t>
            </a: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	data += "아이디 : " + id;</a:t>
            </a: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	data += "&lt;br&gt;";</a:t>
            </a: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	data += "비밀번호 : " + pw;</a:t>
            </a: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	data += "&lt;/body&gt;";</a:t>
            </a: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	data += "&lt;/html&gt;";</a:t>
            </a: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	</a:t>
            </a:r>
            <a:r>
              <a:rPr lang="ko-KR" altLang="en-US" sz="1200" b="1">
                <a:solidFill>
                  <a:srgbClr val="FF0000"/>
                </a:solidFill>
                <a:latin typeface="한컴산뜻돋움"/>
                <a:ea typeface="한컴산뜻돋움"/>
              </a:rPr>
              <a:t>out.print(data);</a:t>
            </a:r>
            <a:endParaRPr lang="ko-KR" altLang="en-US" sz="1200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}</a:t>
            </a:r>
          </a:p>
          <a:p>
            <a:pPr>
              <a:defRPr/>
            </a:pPr>
            <a:endParaRPr lang="ko-KR" altLang="en-US" sz="1200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public void destroy() {</a:t>
            </a: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	System.out.println("destroy 메서드 호출");</a:t>
            </a: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	}</a:t>
            </a:r>
          </a:p>
          <a:p>
            <a:pPr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6.4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응답 처리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530626"/>
            <a:ext cx="8131985" cy="448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ko-KR" altLang="en-US" sz="1200">
                <a:latin typeface="+mj-ea"/>
                <a:ea typeface="+mj-ea"/>
              </a:rPr>
              <a:t>브라우저에서 </a:t>
            </a:r>
            <a:r>
              <a:rPr lang="en-US" altLang="ko-KR" sz="1200">
                <a:latin typeface="+mj-ea"/>
                <a:ea typeface="+mj-ea"/>
              </a:rPr>
              <a:t>http://localhost:8090/pro06/login.html</a:t>
            </a:r>
            <a:r>
              <a:rPr lang="ko-KR" altLang="en-US" sz="1200">
                <a:latin typeface="+mj-ea"/>
                <a:ea typeface="+mj-ea"/>
              </a:rPr>
              <a:t>로 접속하여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비밀번호를 입력한 후 로그인을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6104" y="3786809"/>
            <a:ext cx="72555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그러면 서블릿이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비밀번호를 전달 받아 다시 브라우저로 출력합니다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907485" y="1992291"/>
            <a:ext cx="3162300" cy="1562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/>
          <p:cNvSpPr/>
          <p:nvPr/>
        </p:nvSpPr>
        <p:spPr>
          <a:xfrm>
            <a:off x="2484783" y="2773341"/>
            <a:ext cx="675860" cy="50657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1911212" y="4367212"/>
            <a:ext cx="4705350" cy="13239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1911212" y="5178287"/>
            <a:ext cx="1249431" cy="5129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6.4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응답 처리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7429" y="1351707"/>
            <a:ext cx="8039111" cy="494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6.4.3 </a:t>
            </a:r>
            <a:r>
              <a:rPr lang="ko-KR" altLang="en-US" b="1"/>
              <a:t>서블릿을 이용한 환율 계산기 예제 실습</a:t>
            </a:r>
            <a:endParaRPr lang="en-US" altLang="ko-KR" b="1" spc="-95"/>
          </a:p>
        </p:txBody>
      </p:sp>
      <p:sp>
        <p:nvSpPr>
          <p:cNvPr id="5" name="TextBox 4"/>
          <p:cNvSpPr txBox="1"/>
          <p:nvPr/>
        </p:nvSpPr>
        <p:spPr>
          <a:xfrm>
            <a:off x="715617" y="1889082"/>
            <a:ext cx="72456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sec02.ex01 </a:t>
            </a:r>
            <a:r>
              <a:rPr lang="ko-KR" altLang="en-US" sz="1200">
                <a:latin typeface="+mj-ea"/>
                <a:ea typeface="+mj-ea"/>
              </a:rPr>
              <a:t>패키지에 </a:t>
            </a:r>
            <a:r>
              <a:rPr lang="en-US" altLang="ko-KR" sz="1200">
                <a:latin typeface="+mj-ea"/>
                <a:ea typeface="+mj-ea"/>
              </a:rPr>
              <a:t>CalcServlet </a:t>
            </a:r>
            <a:r>
              <a:rPr lang="ko-KR" altLang="en-US" sz="1200">
                <a:latin typeface="+mj-ea"/>
                <a:ea typeface="+mj-ea"/>
              </a:rPr>
              <a:t>클래스를 생성합니다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7" name="그림 6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313939" y="2252649"/>
            <a:ext cx="2297817" cy="17826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가로 글상자 12"/>
          <p:cNvSpPr txBox="1"/>
          <p:nvPr/>
        </p:nvSpPr>
        <p:spPr>
          <a:xfrm>
            <a:off x="2952750" y="3047076"/>
            <a:ext cx="1524000" cy="143799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000" b="1"/>
              <a:t>src/main/java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6.4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응답 처리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7626" y="1500809"/>
            <a:ext cx="7941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CalcServlet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최초 매핑 이름인 </a:t>
            </a:r>
            <a:r>
              <a:rPr lang="en-US" altLang="ko-KR" sz="1200">
                <a:latin typeface="+mj-ea"/>
                <a:ea typeface="+mj-ea"/>
              </a:rPr>
              <a:t>/calc</a:t>
            </a:r>
            <a:r>
              <a:rPr lang="ko-KR" altLang="en-US" sz="1200">
                <a:latin typeface="+mj-ea"/>
                <a:ea typeface="+mj-ea"/>
              </a:rPr>
              <a:t>로 요청할 경우 </a:t>
            </a:r>
            <a:r>
              <a:rPr lang="en-US" altLang="ko-KR" sz="1200">
                <a:latin typeface="+mj-ea"/>
                <a:ea typeface="+mj-ea"/>
              </a:rPr>
              <a:t>command </a:t>
            </a:r>
            <a:r>
              <a:rPr lang="ko-KR" altLang="en-US" sz="1200">
                <a:latin typeface="+mj-ea"/>
                <a:ea typeface="+mj-ea"/>
              </a:rPr>
              <a:t>값이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</a:t>
            </a:r>
            <a:r>
              <a:rPr lang="ko-KR" altLang="en-US" sz="1200">
                <a:latin typeface="+mj-ea"/>
                <a:ea typeface="+mj-ea"/>
              </a:rPr>
              <a:t>  </a:t>
            </a:r>
            <a:r>
              <a:rPr lang="en-US" altLang="ko-KR" sz="1200">
                <a:latin typeface="+mj-ea"/>
                <a:ea typeface="+mj-ea"/>
              </a:rPr>
              <a:t>null</a:t>
            </a:r>
            <a:r>
              <a:rPr lang="ko-KR" altLang="en-US" sz="1200">
                <a:latin typeface="+mj-ea"/>
                <a:ea typeface="+mj-ea"/>
              </a:rPr>
              <a:t>이므로 환율 계산기 화면이 나타납니다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계산기에서 값을 입력한 후 다시 요청할 경우 </a:t>
            </a:r>
            <a:r>
              <a:rPr lang="en-US" altLang="ko-KR" sz="1200">
                <a:latin typeface="+mj-ea"/>
                <a:ea typeface="+mj-ea"/>
              </a:rPr>
              <a:t>command </a:t>
            </a:r>
            <a:r>
              <a:rPr lang="ko-KR" altLang="en-US" sz="1200">
                <a:latin typeface="+mj-ea"/>
                <a:ea typeface="+mj-ea"/>
              </a:rPr>
              <a:t>값이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 calculate</a:t>
            </a:r>
            <a:r>
              <a:rPr lang="ko-KR" altLang="en-US" sz="1200">
                <a:latin typeface="+mj-ea"/>
                <a:ea typeface="+mj-ea"/>
              </a:rPr>
              <a:t>이므로 전달된 원화를 이용해 외화로 변환하여 결과를 출력합니다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043608" y="2256469"/>
            <a:ext cx="6420676" cy="3788072"/>
            <a:chOff x="675861" y="2256469"/>
            <a:chExt cx="6420676" cy="3788072"/>
          </a:xfrm>
        </p:grpSpPr>
        <p:pic>
          <p:nvPicPr>
            <p:cNvPr id="28674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675861" y="2256469"/>
              <a:ext cx="6336196" cy="23254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94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1043608" y="4581938"/>
              <a:ext cx="6052929" cy="146260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675" name="그림 28674"/>
          <p:cNvPicPr/>
          <p:nvPr/>
        </p:nvPicPr>
        <p:blipFill rotWithShape="1">
          <a:blip r:embed="rId4">
            <a:alphaModFix/>
            <a:lum/>
          </a:blip>
          <a:stretch>
            <a:fillRect/>
          </a:stretch>
        </p:blipFill>
        <p:spPr>
          <a:xfrm>
            <a:off x="5349600" y="2692800"/>
            <a:ext cx="2653200" cy="910800"/>
          </a:xfrm>
          <a:prstGeom prst="rect">
            <a:avLst/>
          </a:prstGeom>
          <a:ln w="9525" cap="flat" cmpd="sng">
            <a:solidFill>
              <a:srgbClr val="FF6600"/>
            </a:solidFill>
            <a:prstDash val="solid"/>
            <a:round/>
          </a:ln>
        </p:spPr>
      </p:pic>
      <p:sp>
        <p:nvSpPr>
          <p:cNvPr id="28676" name="자유형 28675"/>
          <p:cNvSpPr/>
          <p:nvPr/>
        </p:nvSpPr>
        <p:spPr>
          <a:xfrm>
            <a:off x="1950960" y="2993850"/>
            <a:ext cx="3372797" cy="773858"/>
          </a:xfrm>
          <a:custGeom>
            <a:avLst/>
            <a:gdLst>
              <a:gd name="connsiteX0" fmla="*/ 3377086 w 3372797"/>
              <a:gd name="connsiteY0" fmla="*/ -422 h 773858"/>
              <a:gd name="connsiteX1" fmla="*/ 2877024 w 3372797"/>
              <a:gd name="connsiteY1" fmla="*/ 71014 h 773858"/>
              <a:gd name="connsiteX2" fmla="*/ 2460305 w 3372797"/>
              <a:gd name="connsiteY2" fmla="*/ 523452 h 773858"/>
              <a:gd name="connsiteX3" fmla="*/ -4288 w 3372797"/>
              <a:gd name="connsiteY3" fmla="*/ 773483 h 773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2797" h="773858">
                <a:moveTo>
                  <a:pt x="3377086" y="-422"/>
                </a:moveTo>
                <a:cubicBezTo>
                  <a:pt x="3293742" y="11483"/>
                  <a:pt x="3029821" y="-16298"/>
                  <a:pt x="2877024" y="71014"/>
                </a:cubicBezTo>
                <a:cubicBezTo>
                  <a:pt x="2724227" y="158326"/>
                  <a:pt x="2940524" y="406374"/>
                  <a:pt x="2460305" y="523452"/>
                </a:cubicBezTo>
                <a:cubicBezTo>
                  <a:pt x="1980086" y="640530"/>
                  <a:pt x="406477" y="731811"/>
                  <a:pt x="-4288" y="773483"/>
                </a:cubicBezTo>
              </a:path>
            </a:pathLst>
          </a:cu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6.4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응답 처리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411950" y="1480926"/>
            <a:ext cx="6052468" cy="50788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20" name="직선 연결선 9219"/>
          <p:cNvCxnSpPr/>
          <p:nvPr/>
        </p:nvCxnSpPr>
        <p:spPr>
          <a:xfrm>
            <a:off x="2786063" y="2159990"/>
            <a:ext cx="821531" cy="119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6.4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응답 처리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313300" y="1799586"/>
            <a:ext cx="6658509" cy="4475864"/>
            <a:chOff x="932916" y="1799586"/>
            <a:chExt cx="6658509" cy="4475864"/>
          </a:xfrm>
        </p:grpSpPr>
        <p:pic>
          <p:nvPicPr>
            <p:cNvPr id="10242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993913" y="1799586"/>
              <a:ext cx="6597512" cy="32836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43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932916" y="5073306"/>
              <a:ext cx="6123867" cy="12021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0244" name="TextBox 10243"/>
          <p:cNvSpPr txBox="1"/>
          <p:nvPr/>
        </p:nvSpPr>
        <p:spPr>
          <a:xfrm>
            <a:off x="0" y="373975"/>
            <a:ext cx="9144000" cy="6491645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package sec02.ex01;</a:t>
            </a:r>
          </a:p>
          <a:p>
            <a:pPr>
              <a:defRPr/>
            </a:pPr>
            <a:endParaRPr lang="en-US" altLang="ko-KR" sz="1200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import java.io.IOException;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import java.io.PrintWriter;</a:t>
            </a:r>
          </a:p>
          <a:p>
            <a:pPr>
              <a:defRPr/>
            </a:pPr>
            <a:endParaRPr lang="en-US" altLang="ko-KR" sz="1200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import javax.servlet.ServletException;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import javax.servlet.annotation.WebServlet;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import javax.servlet.http.HttpServlet;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import javax.servlet.http.HttpServletRequest;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import javax.servlet.http.HttpServletResponse;</a:t>
            </a:r>
          </a:p>
          <a:p>
            <a:pPr>
              <a:defRPr/>
            </a:pPr>
            <a:endParaRPr lang="en-US" altLang="ko-KR" sz="1200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@WebServlet("/calc")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public class CalcServlet extends HttpServlet {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private static float USD_RATE = 1124.70F;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private static float JPY_RATE = 10.113F;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private static float CNY_RATE = 163.30F;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private static float GBP_RATE = 1444.35F;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private static float EUR_RATE = 1295.97F;</a:t>
            </a:r>
          </a:p>
          <a:p>
            <a:pPr>
              <a:defRPr/>
            </a:pPr>
            <a:endParaRPr lang="en-US" altLang="ko-KR" sz="1200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protected void doGet(HttpServletRequest request, HttpServletResponse response)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	                                          throws  ServletException, IOException {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request.setCharacterEncoding("utf-8");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response.setContentType("text/html; charset=utf-8");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PrintWriter pw = response.getWriter();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</a:t>
            </a: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String command = request.getParameter("command");</a:t>
            </a:r>
          </a:p>
          <a:p>
            <a:pPr>
              <a:defRPr/>
            </a:pP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		String won = request.getParameter("won");</a:t>
            </a:r>
          </a:p>
          <a:p>
            <a:pPr>
              <a:defRPr/>
            </a:pP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		String operator = request.getParameter("operator");</a:t>
            </a:r>
          </a:p>
          <a:p>
            <a:pPr>
              <a:defRPr/>
            </a:pPr>
            <a:endParaRPr lang="en-US" altLang="ko-KR" sz="1200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if (command != null &amp;&amp; command.equals("calculate")) {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	String result = 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calculate</a:t>
            </a: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(Float.parseFloat(won), operator);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	pw.print("</a:t>
            </a: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&lt;html&gt;&lt;font size=10&gt;변환결과&lt;/font&gt;&lt;br&gt;</a:t>
            </a:r>
            <a:r>
              <a:rPr lang="en-US" altLang="ko-KR" sz="1200">
                <a:latin typeface="한컴산뜻돋움"/>
                <a:ea typeface="한컴산뜻돋움"/>
              </a:rPr>
              <a:t>");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	pw.print("</a:t>
            </a: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&lt;html&gt;&lt;font size=10&gt;" + result + "&lt;/font&gt;&lt;br&gt;</a:t>
            </a:r>
            <a:r>
              <a:rPr lang="en-US" altLang="ko-KR" sz="1200">
                <a:latin typeface="한컴산뜻돋움"/>
                <a:ea typeface="한컴산뜻돋움"/>
              </a:rPr>
              <a:t>");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	pw.print("</a:t>
            </a: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&lt;a href='/pro06/calc'&gt;환율 계산기 &lt;/a&gt;</a:t>
            </a:r>
            <a:r>
              <a:rPr lang="en-US" altLang="ko-KR" sz="1200">
                <a:latin typeface="한컴산뜻돋움"/>
                <a:ea typeface="한컴산뜻돋움"/>
              </a:rPr>
              <a:t>");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	return;</a:t>
            </a:r>
          </a:p>
          <a:p>
            <a:pPr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}</a:t>
            </a:r>
          </a:p>
        </p:txBody>
      </p:sp>
      <p:pic>
        <p:nvPicPr>
          <p:cNvPr id="10245" name="그림 8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5994809" y="5248903"/>
            <a:ext cx="2987834" cy="1029334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0244" name="TextBox 10243"/>
          <p:cNvSpPr txBox="1"/>
          <p:nvPr/>
        </p:nvSpPr>
        <p:spPr>
          <a:xfrm>
            <a:off x="-1" y="364450"/>
            <a:ext cx="9144001" cy="6310670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pw.print("&lt;html&gt;&lt;title&gt;환율계산기&lt;/title&gt;");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pw.print("&lt;font size=5&gt;환율 계산기&lt;/font&gt;&lt;br&gt;");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pw.print("&lt;form  name='frmCalc' method='get'  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action='/pro06/calc'</a:t>
            </a:r>
            <a:r>
              <a:rPr lang="en-US" altLang="ko-KR" sz="1200">
                <a:latin typeface="한컴산뜻돋움"/>
                <a:ea typeface="한컴산뜻돋움"/>
              </a:rPr>
              <a:t>  /&gt;  ");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pw.print("원화: &lt;input type='text' name='won' size=10  /&gt;  ");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pw.print("&lt;select name='operator' &gt;");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pw.print("&lt;option value='dollar'&gt;달러&lt;/option&gt;");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pw.print("&lt;option value='en'&gt;엔화&lt;/option&gt;");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pw.print("&lt;option value='wian'&gt;위안&lt;/option&gt;");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pw.print("&lt;option value='pound'&gt;파운드&lt;/option&gt;");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pw.print("&lt;option value='euro'&gt;유로&lt;/option&gt;");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pw.print("&lt;/select&gt;");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</a:t>
            </a: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pw.print("&lt;input type='hidden' name='command' value='calculate'  /&gt;  ");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pw.println("&lt;input type='submit' value='변환'  /&gt;");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pw.println("&lt;/form&gt;");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pw.print("&lt;/html&gt;");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pw.close();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}</a:t>
            </a:r>
          </a:p>
          <a:p>
            <a:pPr lvl="0">
              <a:defRPr/>
            </a:pPr>
            <a:endParaRPr lang="en-US" altLang="ko-KR" sz="1200">
              <a:latin typeface="한컴산뜻돋움"/>
              <a:ea typeface="한컴산뜻돋움"/>
            </a:endParaRP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private static String </a:t>
            </a:r>
            <a:r>
              <a:rPr lang="en-US" altLang="ko-KR" sz="1200">
                <a:solidFill>
                  <a:srgbClr val="FF0000"/>
                </a:solidFill>
                <a:latin typeface="한컴산뜻돋움"/>
                <a:ea typeface="한컴산뜻돋움"/>
              </a:rPr>
              <a:t>calculate</a:t>
            </a:r>
            <a:r>
              <a:rPr lang="en-US" altLang="ko-KR" sz="1200">
                <a:latin typeface="한컴산뜻돋움"/>
                <a:ea typeface="한컴산뜻돋움"/>
              </a:rPr>
              <a:t>(float won, String operator) {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String result = null;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if (operator.equals("dollar")) {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	result = String.format("%.6f", won / USD_RATE);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} else if (operator.equals("en")) {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	result = String.format("%.6f", won / JPY_RATE);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} else if (operator.equals("wian")) {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	result = String.format("%.6f", won / CNY_RATE);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} else if (operator.equals("pound")) {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	result = String.format("%.6f", won / GBP_RATE);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} else if (operator.equals("euro")) {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	result = String.format("%.6f", won / EUR_RATE);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}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	return result;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	}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}</a:t>
            </a:r>
          </a:p>
        </p:txBody>
      </p:sp>
      <p:pic>
        <p:nvPicPr>
          <p:cNvPr id="10245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6202515" y="1032907"/>
            <a:ext cx="2792321" cy="1290794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Box 10243"/>
          <p:cNvSpPr txBox="1"/>
          <p:nvPr/>
        </p:nvSpPr>
        <p:spPr>
          <a:xfrm>
            <a:off x="-283779" y="453265"/>
            <a:ext cx="9144000" cy="6017032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endParaRPr lang="en-US" altLang="ko-KR" sz="1100" dirty="0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protected void </a:t>
            </a:r>
            <a:r>
              <a:rPr lang="en-US" altLang="ko-KR" sz="1100" dirty="0" err="1">
                <a:latin typeface="한컴산뜻돋움"/>
                <a:ea typeface="한컴산뜻돋움"/>
              </a:rPr>
              <a:t>doGet</a:t>
            </a:r>
            <a:r>
              <a:rPr lang="en-US" altLang="ko-KR" sz="1100" dirty="0">
                <a:latin typeface="한컴산뜻돋움"/>
                <a:ea typeface="한컴산뜻돋움"/>
              </a:rPr>
              <a:t>(</a:t>
            </a:r>
            <a:r>
              <a:rPr lang="en-US" altLang="ko-KR" sz="1100" dirty="0" err="1">
                <a:latin typeface="한컴산뜻돋움"/>
                <a:ea typeface="한컴산뜻돋움"/>
              </a:rPr>
              <a:t>HttpServletRequest</a:t>
            </a:r>
            <a:r>
              <a:rPr lang="en-US" altLang="ko-KR" sz="1100" dirty="0">
                <a:latin typeface="한컴산뜻돋움"/>
                <a:ea typeface="한컴산뜻돋움"/>
              </a:rPr>
              <a:t> request, </a:t>
            </a:r>
            <a:r>
              <a:rPr lang="en-US" altLang="ko-KR" sz="1100" dirty="0" err="1">
                <a:latin typeface="한컴산뜻돋움"/>
                <a:ea typeface="한컴산뜻돋움"/>
              </a:rPr>
              <a:t>HttpServletResponse</a:t>
            </a:r>
            <a:r>
              <a:rPr lang="en-US" altLang="ko-KR" sz="1100" dirty="0">
                <a:latin typeface="한컴산뜻돋움"/>
                <a:ea typeface="한컴산뜻돋움"/>
              </a:rPr>
              <a:t> response)</a:t>
            </a:r>
          </a:p>
          <a:p>
            <a:pPr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	                                          throws  </a:t>
            </a:r>
            <a:r>
              <a:rPr lang="en-US" altLang="ko-KR" sz="1100" dirty="0" err="1">
                <a:latin typeface="한컴산뜻돋움"/>
                <a:ea typeface="한컴산뜻돋움"/>
              </a:rPr>
              <a:t>ServletException</a:t>
            </a:r>
            <a:r>
              <a:rPr lang="en-US" altLang="ko-KR" sz="1100" dirty="0">
                <a:latin typeface="한컴산뜻돋움"/>
                <a:ea typeface="한컴산뜻돋움"/>
              </a:rPr>
              <a:t>, </a:t>
            </a:r>
            <a:r>
              <a:rPr lang="en-US" altLang="ko-KR" sz="1100" dirty="0" err="1">
                <a:latin typeface="한컴산뜻돋움"/>
                <a:ea typeface="한컴산뜻돋움"/>
              </a:rPr>
              <a:t>IOException</a:t>
            </a:r>
            <a:r>
              <a:rPr lang="en-US" altLang="ko-KR" sz="1100" dirty="0">
                <a:latin typeface="한컴산뜻돋움"/>
                <a:ea typeface="한컴산뜻돋움"/>
              </a:rPr>
              <a:t> {</a:t>
            </a:r>
          </a:p>
          <a:p>
            <a:pPr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dirty="0" err="1">
                <a:latin typeface="한컴산뜻돋움"/>
                <a:ea typeface="한컴산뜻돋움"/>
              </a:rPr>
              <a:t>request.setCharacterEncoding</a:t>
            </a:r>
            <a:r>
              <a:rPr lang="en-US" altLang="ko-KR" sz="1100" dirty="0">
                <a:latin typeface="한컴산뜻돋움"/>
                <a:ea typeface="한컴산뜻돋움"/>
              </a:rPr>
              <a:t>("utf-8");</a:t>
            </a:r>
          </a:p>
          <a:p>
            <a:pPr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dirty="0" err="1">
                <a:latin typeface="한컴산뜻돋움"/>
                <a:ea typeface="한컴산뜻돋움"/>
              </a:rPr>
              <a:t>response.setContentType</a:t>
            </a:r>
            <a:r>
              <a:rPr lang="en-US" altLang="ko-KR" sz="1100" dirty="0">
                <a:latin typeface="한컴산뜻돋움"/>
                <a:ea typeface="한컴산뜻돋움"/>
              </a:rPr>
              <a:t>("text/html; charset=utf-8");</a:t>
            </a:r>
          </a:p>
          <a:p>
            <a:pPr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dirty="0" err="1">
                <a:latin typeface="한컴산뜻돋움"/>
                <a:ea typeface="한컴산뜻돋움"/>
              </a:rPr>
              <a:t>PrintWriter</a:t>
            </a:r>
            <a:r>
              <a:rPr lang="en-US" altLang="ko-KR" sz="1100" dirty="0">
                <a:latin typeface="한컴산뜻돋움"/>
                <a:ea typeface="한컴산뜻돋움"/>
              </a:rPr>
              <a:t> pw = </a:t>
            </a:r>
            <a:r>
              <a:rPr lang="en-US" altLang="ko-KR" sz="1100" dirty="0" err="1">
                <a:latin typeface="한컴산뜻돋움"/>
                <a:ea typeface="한컴산뜻돋움"/>
              </a:rPr>
              <a:t>response.getWriter</a:t>
            </a:r>
            <a:r>
              <a:rPr lang="en-US" altLang="ko-KR" sz="1100" dirty="0">
                <a:latin typeface="한컴산뜻돋움"/>
                <a:ea typeface="한컴산뜻돋움"/>
              </a:rPr>
              <a:t>();</a:t>
            </a:r>
          </a:p>
          <a:p>
            <a:pPr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b="1" dirty="0">
                <a:solidFill>
                  <a:srgbClr val="800080"/>
                </a:solidFill>
                <a:latin typeface="한컴산뜻돋움"/>
                <a:ea typeface="한컴산뜻돋움"/>
              </a:rPr>
              <a:t>String command = </a:t>
            </a:r>
            <a:r>
              <a:rPr lang="en-US" altLang="ko-KR" sz="1100" b="1" dirty="0" err="1">
                <a:solidFill>
                  <a:srgbClr val="800080"/>
                </a:solidFill>
                <a:latin typeface="한컴산뜻돋움"/>
                <a:ea typeface="한컴산뜻돋움"/>
              </a:rPr>
              <a:t>request.getParameter</a:t>
            </a:r>
            <a:r>
              <a:rPr lang="en-US" altLang="ko-KR" sz="1100" b="1" dirty="0">
                <a:solidFill>
                  <a:srgbClr val="800080"/>
                </a:solidFill>
                <a:latin typeface="한컴산뜻돋움"/>
                <a:ea typeface="한컴산뜻돋움"/>
              </a:rPr>
              <a:t>("command");</a:t>
            </a:r>
          </a:p>
          <a:p>
            <a:pPr>
              <a:defRPr/>
            </a:pPr>
            <a:r>
              <a:rPr lang="en-US" altLang="ko-KR" sz="1100" b="1" dirty="0">
                <a:solidFill>
                  <a:srgbClr val="800080"/>
                </a:solidFill>
                <a:latin typeface="한컴산뜻돋움"/>
                <a:ea typeface="한컴산뜻돋움"/>
              </a:rPr>
              <a:t>		String won = </a:t>
            </a:r>
            <a:r>
              <a:rPr lang="en-US" altLang="ko-KR" sz="1100" b="1" dirty="0" err="1">
                <a:solidFill>
                  <a:srgbClr val="800080"/>
                </a:solidFill>
                <a:latin typeface="한컴산뜻돋움"/>
                <a:ea typeface="한컴산뜻돋움"/>
              </a:rPr>
              <a:t>request.getParameter</a:t>
            </a:r>
            <a:r>
              <a:rPr lang="en-US" altLang="ko-KR" sz="1100" b="1" dirty="0">
                <a:solidFill>
                  <a:srgbClr val="800080"/>
                </a:solidFill>
                <a:latin typeface="한컴산뜻돋움"/>
                <a:ea typeface="한컴산뜻돋움"/>
              </a:rPr>
              <a:t>("won");</a:t>
            </a:r>
          </a:p>
          <a:p>
            <a:pPr>
              <a:defRPr/>
            </a:pPr>
            <a:r>
              <a:rPr lang="en-US" altLang="ko-KR" sz="1100" b="1" dirty="0">
                <a:solidFill>
                  <a:srgbClr val="800080"/>
                </a:solidFill>
                <a:latin typeface="한컴산뜻돋움"/>
                <a:ea typeface="한컴산뜻돋움"/>
              </a:rPr>
              <a:t>		String operator = </a:t>
            </a:r>
            <a:r>
              <a:rPr lang="en-US" altLang="ko-KR" sz="1100" b="1" dirty="0" err="1">
                <a:solidFill>
                  <a:srgbClr val="800080"/>
                </a:solidFill>
                <a:latin typeface="한컴산뜻돋움"/>
                <a:ea typeface="한컴산뜻돋움"/>
              </a:rPr>
              <a:t>request.getParameter</a:t>
            </a:r>
            <a:r>
              <a:rPr lang="en-US" altLang="ko-KR" sz="1100" b="1" dirty="0">
                <a:solidFill>
                  <a:srgbClr val="800080"/>
                </a:solidFill>
                <a:latin typeface="한컴산뜻돋움"/>
                <a:ea typeface="한컴산뜻돋움"/>
              </a:rPr>
              <a:t>("operator");</a:t>
            </a:r>
          </a:p>
          <a:p>
            <a:pPr>
              <a:defRPr/>
            </a:pPr>
            <a:endParaRPr lang="en-US" altLang="ko-KR" sz="1100" dirty="0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if (command != null &amp;&amp; </a:t>
            </a:r>
            <a:r>
              <a:rPr lang="en-US" altLang="ko-KR" sz="1100" dirty="0" err="1">
                <a:latin typeface="한컴산뜻돋움"/>
                <a:ea typeface="한컴산뜻돋움"/>
              </a:rPr>
              <a:t>command.equals</a:t>
            </a:r>
            <a:r>
              <a:rPr lang="en-US" altLang="ko-KR" sz="1100" dirty="0">
                <a:latin typeface="한컴산뜻돋움"/>
                <a:ea typeface="한컴산뜻돋움"/>
              </a:rPr>
              <a:t>("calculate")) {</a:t>
            </a:r>
          </a:p>
          <a:p>
            <a:pPr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	String result = </a:t>
            </a:r>
            <a:r>
              <a:rPr lang="en-US" altLang="ko-KR" sz="1100" b="1" dirty="0">
                <a:solidFill>
                  <a:srgbClr val="FF0000"/>
                </a:solidFill>
                <a:latin typeface="한컴산뜻돋움"/>
                <a:ea typeface="한컴산뜻돋움"/>
              </a:rPr>
              <a:t>calculate</a:t>
            </a:r>
            <a:r>
              <a:rPr lang="en-US" altLang="ko-KR" sz="1100" b="1" dirty="0">
                <a:solidFill>
                  <a:srgbClr val="800080"/>
                </a:solidFill>
                <a:latin typeface="한컴산뜻돋움"/>
                <a:ea typeface="한컴산뜻돋움"/>
              </a:rPr>
              <a:t>(</a:t>
            </a:r>
            <a:r>
              <a:rPr lang="en-US" altLang="ko-KR" sz="1100" b="1" dirty="0" err="1">
                <a:solidFill>
                  <a:srgbClr val="800080"/>
                </a:solidFill>
                <a:latin typeface="한컴산뜻돋움"/>
                <a:ea typeface="한컴산뜻돋움"/>
              </a:rPr>
              <a:t>Float.parseFloat</a:t>
            </a:r>
            <a:r>
              <a:rPr lang="en-US" altLang="ko-KR" sz="1100" b="1" dirty="0">
                <a:solidFill>
                  <a:srgbClr val="800080"/>
                </a:solidFill>
                <a:latin typeface="한컴산뜻돋움"/>
                <a:ea typeface="한컴산뜻돋움"/>
              </a:rPr>
              <a:t>(won), operator);</a:t>
            </a:r>
          </a:p>
          <a:p>
            <a:pPr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	</a:t>
            </a:r>
            <a:r>
              <a:rPr lang="en-US" altLang="ko-KR" sz="1100" dirty="0" err="1">
                <a:latin typeface="한컴산뜻돋움"/>
                <a:ea typeface="한컴산뜻돋움"/>
              </a:rPr>
              <a:t>pw.print</a:t>
            </a:r>
            <a:r>
              <a:rPr lang="en-US" altLang="ko-KR" sz="1100" dirty="0">
                <a:latin typeface="한컴산뜻돋움"/>
                <a:ea typeface="한컴산뜻돋움"/>
              </a:rPr>
              <a:t>("</a:t>
            </a:r>
            <a:r>
              <a:rPr lang="en-US" altLang="ko-KR" sz="1100" b="1" dirty="0">
                <a:solidFill>
                  <a:srgbClr val="800080"/>
                </a:solidFill>
                <a:latin typeface="한컴산뜻돋움"/>
                <a:ea typeface="한컴산뜻돋움"/>
              </a:rPr>
              <a:t>&lt;html&gt;&lt;font size=10&gt;</a:t>
            </a:r>
            <a:r>
              <a:rPr lang="en-US" altLang="ko-KR" sz="1100" b="1" dirty="0" err="1">
                <a:solidFill>
                  <a:srgbClr val="800080"/>
                </a:solidFill>
                <a:latin typeface="한컴산뜻돋움"/>
                <a:ea typeface="한컴산뜻돋움"/>
              </a:rPr>
              <a:t>변환결과</a:t>
            </a:r>
            <a:r>
              <a:rPr lang="en-US" altLang="ko-KR" sz="1100" b="1" dirty="0">
                <a:solidFill>
                  <a:srgbClr val="800080"/>
                </a:solidFill>
                <a:latin typeface="한컴산뜻돋움"/>
                <a:ea typeface="한컴산뜻돋움"/>
              </a:rPr>
              <a:t>&lt;/font&gt;&lt;</a:t>
            </a:r>
            <a:r>
              <a:rPr lang="en-US" altLang="ko-KR" sz="1100" b="1" dirty="0" err="1">
                <a:solidFill>
                  <a:srgbClr val="800080"/>
                </a:solidFill>
                <a:latin typeface="한컴산뜻돋움"/>
                <a:ea typeface="한컴산뜻돋움"/>
              </a:rPr>
              <a:t>br</a:t>
            </a:r>
            <a:r>
              <a:rPr lang="en-US" altLang="ko-KR" sz="1100" b="1" dirty="0">
                <a:solidFill>
                  <a:srgbClr val="800080"/>
                </a:solidFill>
                <a:latin typeface="한컴산뜻돋움"/>
                <a:ea typeface="한컴산뜻돋움"/>
              </a:rPr>
              <a:t>&gt;</a:t>
            </a:r>
            <a:r>
              <a:rPr lang="en-US" altLang="ko-KR" sz="1100" dirty="0">
                <a:latin typeface="한컴산뜻돋움"/>
                <a:ea typeface="한컴산뜻돋움"/>
              </a:rPr>
              <a:t>");</a:t>
            </a:r>
          </a:p>
          <a:p>
            <a:pPr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	</a:t>
            </a:r>
            <a:r>
              <a:rPr lang="en-US" altLang="ko-KR" sz="1100" dirty="0" err="1">
                <a:latin typeface="한컴산뜻돋움"/>
                <a:ea typeface="한컴산뜻돋움"/>
              </a:rPr>
              <a:t>pw.print</a:t>
            </a:r>
            <a:r>
              <a:rPr lang="en-US" altLang="ko-KR" sz="1100" dirty="0">
                <a:latin typeface="한컴산뜻돋움"/>
                <a:ea typeface="한컴산뜻돋움"/>
              </a:rPr>
              <a:t>("</a:t>
            </a:r>
            <a:r>
              <a:rPr lang="en-US" altLang="ko-KR" sz="1100" b="1" dirty="0">
                <a:solidFill>
                  <a:srgbClr val="800080"/>
                </a:solidFill>
                <a:latin typeface="한컴산뜻돋움"/>
                <a:ea typeface="한컴산뜻돋움"/>
              </a:rPr>
              <a:t>&lt;html&gt;&lt;font size=10&gt;" + result + "&lt;/font&gt;&lt;</a:t>
            </a:r>
            <a:r>
              <a:rPr lang="en-US" altLang="ko-KR" sz="1100" b="1" dirty="0" err="1">
                <a:solidFill>
                  <a:srgbClr val="800080"/>
                </a:solidFill>
                <a:latin typeface="한컴산뜻돋움"/>
                <a:ea typeface="한컴산뜻돋움"/>
              </a:rPr>
              <a:t>br</a:t>
            </a:r>
            <a:r>
              <a:rPr lang="en-US" altLang="ko-KR" sz="1100" b="1" dirty="0">
                <a:solidFill>
                  <a:srgbClr val="800080"/>
                </a:solidFill>
                <a:latin typeface="한컴산뜻돋움"/>
                <a:ea typeface="한컴산뜻돋움"/>
              </a:rPr>
              <a:t>&gt;</a:t>
            </a:r>
            <a:r>
              <a:rPr lang="en-US" altLang="ko-KR" sz="1100" dirty="0">
                <a:latin typeface="한컴산뜻돋움"/>
                <a:ea typeface="한컴산뜻돋움"/>
              </a:rPr>
              <a:t>");</a:t>
            </a:r>
          </a:p>
          <a:p>
            <a:pPr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	</a:t>
            </a:r>
            <a:r>
              <a:rPr lang="en-US" altLang="ko-KR" sz="1100" dirty="0" err="1">
                <a:latin typeface="한컴산뜻돋움"/>
                <a:ea typeface="한컴산뜻돋움"/>
              </a:rPr>
              <a:t>pw.print</a:t>
            </a:r>
            <a:r>
              <a:rPr lang="en-US" altLang="ko-KR" sz="1100" dirty="0">
                <a:latin typeface="한컴산뜻돋움"/>
                <a:ea typeface="한컴산뜻돋움"/>
              </a:rPr>
              <a:t>("</a:t>
            </a:r>
            <a:r>
              <a:rPr lang="en-US" altLang="ko-KR" sz="1100" b="1" dirty="0">
                <a:solidFill>
                  <a:srgbClr val="800080"/>
                </a:solidFill>
                <a:latin typeface="한컴산뜻돋움"/>
                <a:ea typeface="한컴산뜻돋움"/>
              </a:rPr>
              <a:t>&lt;a </a:t>
            </a:r>
            <a:r>
              <a:rPr lang="en-US" altLang="ko-KR" sz="1100" b="1" dirty="0" err="1">
                <a:solidFill>
                  <a:srgbClr val="800080"/>
                </a:solidFill>
                <a:latin typeface="한컴산뜻돋움"/>
                <a:ea typeface="한컴산뜻돋움"/>
              </a:rPr>
              <a:t>href</a:t>
            </a:r>
            <a:r>
              <a:rPr lang="en-US" altLang="ko-KR" sz="1100" b="1" dirty="0">
                <a:solidFill>
                  <a:srgbClr val="800080"/>
                </a:solidFill>
                <a:latin typeface="한컴산뜻돋움"/>
                <a:ea typeface="한컴산뜻돋움"/>
              </a:rPr>
              <a:t>='/pro06/</a:t>
            </a:r>
            <a:r>
              <a:rPr lang="en-US" altLang="ko-KR" sz="1100" b="1" dirty="0" err="1">
                <a:solidFill>
                  <a:srgbClr val="800080"/>
                </a:solidFill>
                <a:latin typeface="한컴산뜻돋움"/>
                <a:ea typeface="한컴산뜻돋움"/>
              </a:rPr>
              <a:t>calc</a:t>
            </a:r>
            <a:r>
              <a:rPr lang="en-US" altLang="ko-KR" sz="1100" b="1" dirty="0">
                <a:solidFill>
                  <a:srgbClr val="800080"/>
                </a:solidFill>
                <a:latin typeface="한컴산뜻돋움"/>
                <a:ea typeface="한컴산뜻돋움"/>
              </a:rPr>
              <a:t>'&gt;</a:t>
            </a:r>
            <a:r>
              <a:rPr lang="en-US" altLang="ko-KR" sz="1100" b="1" dirty="0" err="1">
                <a:solidFill>
                  <a:srgbClr val="800080"/>
                </a:solidFill>
                <a:latin typeface="한컴산뜻돋움"/>
                <a:ea typeface="한컴산뜻돋움"/>
              </a:rPr>
              <a:t>환율</a:t>
            </a:r>
            <a:r>
              <a:rPr lang="en-US" altLang="ko-KR" sz="1100" b="1" dirty="0">
                <a:solidFill>
                  <a:srgbClr val="800080"/>
                </a:solidFill>
                <a:latin typeface="한컴산뜻돋움"/>
                <a:ea typeface="한컴산뜻돋움"/>
              </a:rPr>
              <a:t> </a:t>
            </a:r>
            <a:r>
              <a:rPr lang="en-US" altLang="ko-KR" sz="1100" b="1" dirty="0" err="1">
                <a:solidFill>
                  <a:srgbClr val="800080"/>
                </a:solidFill>
                <a:latin typeface="한컴산뜻돋움"/>
                <a:ea typeface="한컴산뜻돋움"/>
              </a:rPr>
              <a:t>계산기</a:t>
            </a:r>
            <a:r>
              <a:rPr lang="en-US" altLang="ko-KR" sz="1100" b="1" dirty="0">
                <a:solidFill>
                  <a:srgbClr val="800080"/>
                </a:solidFill>
                <a:latin typeface="한컴산뜻돋움"/>
                <a:ea typeface="한컴산뜻돋움"/>
              </a:rPr>
              <a:t> &lt;/a&gt;</a:t>
            </a:r>
            <a:r>
              <a:rPr lang="en-US" altLang="ko-KR" sz="1100" dirty="0">
                <a:latin typeface="한컴산뜻돋움"/>
                <a:ea typeface="한컴산뜻돋움"/>
              </a:rPr>
              <a:t>");</a:t>
            </a:r>
          </a:p>
          <a:p>
            <a:pPr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	return;</a:t>
            </a:r>
          </a:p>
          <a:p>
            <a:pPr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dirty="0" smtClean="0">
                <a:latin typeface="한컴산뜻돋움"/>
                <a:ea typeface="한컴산뜻돋움"/>
              </a:rPr>
              <a:t>}</a:t>
            </a:r>
          </a:p>
          <a:p>
            <a:pPr lvl="0"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dirty="0" err="1">
                <a:latin typeface="한컴산뜻돋움"/>
                <a:ea typeface="한컴산뜻돋움"/>
              </a:rPr>
              <a:t>pw.print</a:t>
            </a:r>
            <a:r>
              <a:rPr lang="en-US" altLang="ko-KR" sz="1100" dirty="0">
                <a:latin typeface="한컴산뜻돋움"/>
                <a:ea typeface="한컴산뜻돋움"/>
              </a:rPr>
              <a:t>("&lt;html&gt;&lt;title&gt;</a:t>
            </a:r>
            <a:r>
              <a:rPr lang="en-US" altLang="ko-KR" sz="1100" dirty="0" err="1">
                <a:latin typeface="한컴산뜻돋움"/>
                <a:ea typeface="한컴산뜻돋움"/>
              </a:rPr>
              <a:t>환율계산기</a:t>
            </a:r>
            <a:r>
              <a:rPr lang="en-US" altLang="ko-KR" sz="1100" dirty="0">
                <a:latin typeface="한컴산뜻돋움"/>
                <a:ea typeface="한컴산뜻돋움"/>
              </a:rPr>
              <a:t>&lt;/title&gt;");</a:t>
            </a:r>
          </a:p>
          <a:p>
            <a:pPr lvl="0"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dirty="0" err="1">
                <a:latin typeface="한컴산뜻돋움"/>
                <a:ea typeface="한컴산뜻돋움"/>
              </a:rPr>
              <a:t>pw.print</a:t>
            </a:r>
            <a:r>
              <a:rPr lang="en-US" altLang="ko-KR" sz="1100" dirty="0">
                <a:latin typeface="한컴산뜻돋움"/>
                <a:ea typeface="한컴산뜻돋움"/>
              </a:rPr>
              <a:t>("&lt;font size=5&gt;</a:t>
            </a:r>
            <a:r>
              <a:rPr lang="en-US" altLang="ko-KR" sz="1100" dirty="0" err="1">
                <a:latin typeface="한컴산뜻돋움"/>
                <a:ea typeface="한컴산뜻돋움"/>
              </a:rPr>
              <a:t>환율</a:t>
            </a:r>
            <a:r>
              <a:rPr lang="en-US" altLang="ko-KR" sz="1100" dirty="0">
                <a:latin typeface="한컴산뜻돋움"/>
                <a:ea typeface="한컴산뜻돋움"/>
              </a:rPr>
              <a:t> </a:t>
            </a:r>
            <a:r>
              <a:rPr lang="en-US" altLang="ko-KR" sz="1100" dirty="0" err="1">
                <a:latin typeface="한컴산뜻돋움"/>
                <a:ea typeface="한컴산뜻돋움"/>
              </a:rPr>
              <a:t>계산기</a:t>
            </a:r>
            <a:r>
              <a:rPr lang="en-US" altLang="ko-KR" sz="1100" dirty="0">
                <a:latin typeface="한컴산뜻돋움"/>
                <a:ea typeface="한컴산뜻돋움"/>
              </a:rPr>
              <a:t>&lt;/font&gt;&lt;</a:t>
            </a:r>
            <a:r>
              <a:rPr lang="en-US" altLang="ko-KR" sz="1100" dirty="0" err="1">
                <a:latin typeface="한컴산뜻돋움"/>
                <a:ea typeface="한컴산뜻돋움"/>
              </a:rPr>
              <a:t>br</a:t>
            </a:r>
            <a:r>
              <a:rPr lang="en-US" altLang="ko-KR" sz="1100" dirty="0">
                <a:latin typeface="한컴산뜻돋움"/>
                <a:ea typeface="한컴산뜻돋움"/>
              </a:rPr>
              <a:t>&gt;");</a:t>
            </a:r>
          </a:p>
          <a:p>
            <a:pPr lvl="0"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dirty="0" err="1">
                <a:latin typeface="한컴산뜻돋움"/>
                <a:ea typeface="한컴산뜻돋움"/>
              </a:rPr>
              <a:t>pw.print</a:t>
            </a:r>
            <a:r>
              <a:rPr lang="en-US" altLang="ko-KR" sz="1100" dirty="0">
                <a:latin typeface="한컴산뜻돋움"/>
                <a:ea typeface="한컴산뜻돋움"/>
              </a:rPr>
              <a:t>("&lt;form  name='</a:t>
            </a:r>
            <a:r>
              <a:rPr lang="en-US" altLang="ko-KR" sz="1100" dirty="0" err="1">
                <a:latin typeface="한컴산뜻돋움"/>
                <a:ea typeface="한컴산뜻돋움"/>
              </a:rPr>
              <a:t>frmCalc</a:t>
            </a:r>
            <a:r>
              <a:rPr lang="en-US" altLang="ko-KR" sz="1100" dirty="0">
                <a:latin typeface="한컴산뜻돋움"/>
                <a:ea typeface="한컴산뜻돋움"/>
              </a:rPr>
              <a:t>' method='get'  </a:t>
            </a:r>
            <a:r>
              <a:rPr lang="en-US" altLang="ko-KR" sz="1100" b="1" dirty="0">
                <a:solidFill>
                  <a:srgbClr val="FF0000"/>
                </a:solidFill>
                <a:latin typeface="한컴산뜻돋움"/>
                <a:ea typeface="한컴산뜻돋움"/>
              </a:rPr>
              <a:t>action='/pro06/</a:t>
            </a:r>
            <a:r>
              <a:rPr lang="en-US" altLang="ko-KR" sz="1100" b="1" dirty="0" err="1">
                <a:solidFill>
                  <a:srgbClr val="FF0000"/>
                </a:solidFill>
                <a:latin typeface="한컴산뜻돋움"/>
                <a:ea typeface="한컴산뜻돋움"/>
              </a:rPr>
              <a:t>calc</a:t>
            </a:r>
            <a:r>
              <a:rPr lang="en-US" altLang="ko-KR" sz="1100" b="1" dirty="0">
                <a:solidFill>
                  <a:srgbClr val="FF0000"/>
                </a:solidFill>
                <a:latin typeface="한컴산뜻돋움"/>
                <a:ea typeface="한컴산뜻돋움"/>
              </a:rPr>
              <a:t>'</a:t>
            </a:r>
            <a:r>
              <a:rPr lang="en-US" altLang="ko-KR" sz="1100" dirty="0">
                <a:latin typeface="한컴산뜻돋움"/>
                <a:ea typeface="한컴산뜻돋움"/>
              </a:rPr>
              <a:t>  /&gt;  ");</a:t>
            </a:r>
          </a:p>
          <a:p>
            <a:pPr lvl="0"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dirty="0" err="1">
                <a:latin typeface="한컴산뜻돋움"/>
                <a:ea typeface="한컴산뜻돋움"/>
              </a:rPr>
              <a:t>pw.print</a:t>
            </a:r>
            <a:r>
              <a:rPr lang="en-US" altLang="ko-KR" sz="1100" dirty="0">
                <a:latin typeface="한컴산뜻돋움"/>
                <a:ea typeface="한컴산뜻돋움"/>
              </a:rPr>
              <a:t>("</a:t>
            </a:r>
            <a:r>
              <a:rPr lang="en-US" altLang="ko-KR" sz="1100" dirty="0" err="1">
                <a:latin typeface="한컴산뜻돋움"/>
                <a:ea typeface="한컴산뜻돋움"/>
              </a:rPr>
              <a:t>원화</a:t>
            </a:r>
            <a:r>
              <a:rPr lang="en-US" altLang="ko-KR" sz="1100" dirty="0">
                <a:latin typeface="한컴산뜻돋움"/>
                <a:ea typeface="한컴산뜻돋움"/>
              </a:rPr>
              <a:t>: &lt;input type='text' name='won' size=10  /&gt;  ");</a:t>
            </a:r>
          </a:p>
          <a:p>
            <a:pPr lvl="0"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dirty="0" err="1">
                <a:latin typeface="한컴산뜻돋움"/>
                <a:ea typeface="한컴산뜻돋움"/>
              </a:rPr>
              <a:t>pw.print</a:t>
            </a:r>
            <a:r>
              <a:rPr lang="en-US" altLang="ko-KR" sz="1100" dirty="0">
                <a:latin typeface="한컴산뜻돋움"/>
                <a:ea typeface="한컴산뜻돋움"/>
              </a:rPr>
              <a:t>("&lt;select name='operator' &gt;");</a:t>
            </a:r>
          </a:p>
          <a:p>
            <a:pPr lvl="0"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dirty="0" err="1">
                <a:latin typeface="한컴산뜻돋움"/>
                <a:ea typeface="한컴산뜻돋움"/>
              </a:rPr>
              <a:t>pw.print</a:t>
            </a:r>
            <a:r>
              <a:rPr lang="en-US" altLang="ko-KR" sz="1100" dirty="0">
                <a:latin typeface="한컴산뜻돋움"/>
                <a:ea typeface="한컴산뜻돋움"/>
              </a:rPr>
              <a:t>("&lt;option value='dollar'&gt;</a:t>
            </a:r>
            <a:r>
              <a:rPr lang="en-US" altLang="ko-KR" sz="1100" dirty="0" err="1">
                <a:latin typeface="한컴산뜻돋움"/>
                <a:ea typeface="한컴산뜻돋움"/>
              </a:rPr>
              <a:t>달러</a:t>
            </a:r>
            <a:r>
              <a:rPr lang="en-US" altLang="ko-KR" sz="1100" dirty="0">
                <a:latin typeface="한컴산뜻돋움"/>
                <a:ea typeface="한컴산뜻돋움"/>
              </a:rPr>
              <a:t>&lt;/option&gt;");</a:t>
            </a:r>
          </a:p>
          <a:p>
            <a:pPr lvl="0"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dirty="0" err="1">
                <a:latin typeface="한컴산뜻돋움"/>
                <a:ea typeface="한컴산뜻돋움"/>
              </a:rPr>
              <a:t>pw.print</a:t>
            </a:r>
            <a:r>
              <a:rPr lang="en-US" altLang="ko-KR" sz="1100" dirty="0">
                <a:latin typeface="한컴산뜻돋움"/>
                <a:ea typeface="한컴산뜻돋움"/>
              </a:rPr>
              <a:t>("&lt;option value='</a:t>
            </a:r>
            <a:r>
              <a:rPr lang="en-US" altLang="ko-KR" sz="1100" dirty="0" err="1">
                <a:latin typeface="한컴산뜻돋움"/>
                <a:ea typeface="한컴산뜻돋움"/>
              </a:rPr>
              <a:t>en</a:t>
            </a:r>
            <a:r>
              <a:rPr lang="en-US" altLang="ko-KR" sz="1100" dirty="0">
                <a:latin typeface="한컴산뜻돋움"/>
                <a:ea typeface="한컴산뜻돋움"/>
              </a:rPr>
              <a:t>'&gt;</a:t>
            </a:r>
            <a:r>
              <a:rPr lang="en-US" altLang="ko-KR" sz="1100" dirty="0" err="1">
                <a:latin typeface="한컴산뜻돋움"/>
                <a:ea typeface="한컴산뜻돋움"/>
              </a:rPr>
              <a:t>엔화</a:t>
            </a:r>
            <a:r>
              <a:rPr lang="en-US" altLang="ko-KR" sz="1100" dirty="0">
                <a:latin typeface="한컴산뜻돋움"/>
                <a:ea typeface="한컴산뜻돋움"/>
              </a:rPr>
              <a:t>&lt;/option&gt;");</a:t>
            </a:r>
          </a:p>
          <a:p>
            <a:pPr lvl="0"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dirty="0" err="1">
                <a:latin typeface="한컴산뜻돋움"/>
                <a:ea typeface="한컴산뜻돋움"/>
              </a:rPr>
              <a:t>pw.print</a:t>
            </a:r>
            <a:r>
              <a:rPr lang="en-US" altLang="ko-KR" sz="1100" dirty="0">
                <a:latin typeface="한컴산뜻돋움"/>
                <a:ea typeface="한컴산뜻돋움"/>
              </a:rPr>
              <a:t>("&lt;option value='</a:t>
            </a:r>
            <a:r>
              <a:rPr lang="en-US" altLang="ko-KR" sz="1100" dirty="0" err="1">
                <a:latin typeface="한컴산뜻돋움"/>
                <a:ea typeface="한컴산뜻돋움"/>
              </a:rPr>
              <a:t>wian</a:t>
            </a:r>
            <a:r>
              <a:rPr lang="en-US" altLang="ko-KR" sz="1100" dirty="0">
                <a:latin typeface="한컴산뜻돋움"/>
                <a:ea typeface="한컴산뜻돋움"/>
              </a:rPr>
              <a:t>'&gt;</a:t>
            </a:r>
            <a:r>
              <a:rPr lang="en-US" altLang="ko-KR" sz="1100" dirty="0" err="1">
                <a:latin typeface="한컴산뜻돋움"/>
                <a:ea typeface="한컴산뜻돋움"/>
              </a:rPr>
              <a:t>위안</a:t>
            </a:r>
            <a:r>
              <a:rPr lang="en-US" altLang="ko-KR" sz="1100" dirty="0">
                <a:latin typeface="한컴산뜻돋움"/>
                <a:ea typeface="한컴산뜻돋움"/>
              </a:rPr>
              <a:t>&lt;/option&gt;");</a:t>
            </a:r>
          </a:p>
          <a:p>
            <a:pPr lvl="0"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dirty="0" err="1">
                <a:latin typeface="한컴산뜻돋움"/>
                <a:ea typeface="한컴산뜻돋움"/>
              </a:rPr>
              <a:t>pw.print</a:t>
            </a:r>
            <a:r>
              <a:rPr lang="en-US" altLang="ko-KR" sz="1100" dirty="0">
                <a:latin typeface="한컴산뜻돋움"/>
                <a:ea typeface="한컴산뜻돋움"/>
              </a:rPr>
              <a:t>("&lt;option value='pound'&gt;</a:t>
            </a:r>
            <a:r>
              <a:rPr lang="en-US" altLang="ko-KR" sz="1100" dirty="0" err="1">
                <a:latin typeface="한컴산뜻돋움"/>
                <a:ea typeface="한컴산뜻돋움"/>
              </a:rPr>
              <a:t>파운드</a:t>
            </a:r>
            <a:r>
              <a:rPr lang="en-US" altLang="ko-KR" sz="1100" dirty="0">
                <a:latin typeface="한컴산뜻돋움"/>
                <a:ea typeface="한컴산뜻돋움"/>
              </a:rPr>
              <a:t>&lt;/option&gt;");</a:t>
            </a:r>
          </a:p>
          <a:p>
            <a:pPr lvl="0"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dirty="0" err="1">
                <a:latin typeface="한컴산뜻돋움"/>
                <a:ea typeface="한컴산뜻돋움"/>
              </a:rPr>
              <a:t>pw.print</a:t>
            </a:r>
            <a:r>
              <a:rPr lang="en-US" altLang="ko-KR" sz="1100" dirty="0">
                <a:latin typeface="한컴산뜻돋움"/>
                <a:ea typeface="한컴산뜻돋움"/>
              </a:rPr>
              <a:t>("&lt;option value='euro'&gt;</a:t>
            </a:r>
            <a:r>
              <a:rPr lang="en-US" altLang="ko-KR" sz="1100" dirty="0" err="1">
                <a:latin typeface="한컴산뜻돋움"/>
                <a:ea typeface="한컴산뜻돋움"/>
              </a:rPr>
              <a:t>유로</a:t>
            </a:r>
            <a:r>
              <a:rPr lang="en-US" altLang="ko-KR" sz="1100" dirty="0">
                <a:latin typeface="한컴산뜻돋움"/>
                <a:ea typeface="한컴산뜻돋움"/>
              </a:rPr>
              <a:t>&lt;/option&gt;");</a:t>
            </a:r>
          </a:p>
          <a:p>
            <a:pPr lvl="0"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dirty="0" err="1">
                <a:latin typeface="한컴산뜻돋움"/>
                <a:ea typeface="한컴산뜻돋움"/>
              </a:rPr>
              <a:t>pw.print</a:t>
            </a:r>
            <a:r>
              <a:rPr lang="en-US" altLang="ko-KR" sz="1100" dirty="0">
                <a:latin typeface="한컴산뜻돋움"/>
                <a:ea typeface="한컴산뜻돋움"/>
              </a:rPr>
              <a:t>("&lt;/select&gt;");</a:t>
            </a:r>
          </a:p>
          <a:p>
            <a:pPr lvl="0"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b="1" dirty="0" err="1">
                <a:solidFill>
                  <a:srgbClr val="800080"/>
                </a:solidFill>
                <a:latin typeface="한컴산뜻돋움"/>
                <a:ea typeface="한컴산뜻돋움"/>
              </a:rPr>
              <a:t>pw.print</a:t>
            </a:r>
            <a:r>
              <a:rPr lang="en-US" altLang="ko-KR" sz="1100" b="1" dirty="0">
                <a:solidFill>
                  <a:srgbClr val="800080"/>
                </a:solidFill>
                <a:latin typeface="한컴산뜻돋움"/>
                <a:ea typeface="한컴산뜻돋움"/>
              </a:rPr>
              <a:t>("&lt;input type='hidden' name='command' value='calculate'  /&gt;  ");</a:t>
            </a:r>
          </a:p>
          <a:p>
            <a:pPr lvl="0"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dirty="0" err="1">
                <a:latin typeface="한컴산뜻돋움"/>
                <a:ea typeface="한컴산뜻돋움"/>
              </a:rPr>
              <a:t>pw.println</a:t>
            </a:r>
            <a:r>
              <a:rPr lang="en-US" altLang="ko-KR" sz="1100" dirty="0">
                <a:latin typeface="한컴산뜻돋움"/>
                <a:ea typeface="한컴산뜻돋움"/>
              </a:rPr>
              <a:t>("&lt;input type='submit' value='</a:t>
            </a:r>
            <a:r>
              <a:rPr lang="en-US" altLang="ko-KR" sz="1100" dirty="0" err="1">
                <a:latin typeface="한컴산뜻돋움"/>
                <a:ea typeface="한컴산뜻돋움"/>
              </a:rPr>
              <a:t>변환</a:t>
            </a:r>
            <a:r>
              <a:rPr lang="en-US" altLang="ko-KR" sz="1100" dirty="0">
                <a:latin typeface="한컴산뜻돋움"/>
                <a:ea typeface="한컴산뜻돋움"/>
              </a:rPr>
              <a:t>'  /&gt;");</a:t>
            </a:r>
          </a:p>
          <a:p>
            <a:pPr lvl="0"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dirty="0" err="1">
                <a:latin typeface="한컴산뜻돋움"/>
                <a:ea typeface="한컴산뜻돋움"/>
              </a:rPr>
              <a:t>pw.println</a:t>
            </a:r>
            <a:r>
              <a:rPr lang="en-US" altLang="ko-KR" sz="1100" dirty="0">
                <a:latin typeface="한컴산뜻돋움"/>
                <a:ea typeface="한컴산뜻돋움"/>
              </a:rPr>
              <a:t>("&lt;/form&gt;");</a:t>
            </a:r>
          </a:p>
          <a:p>
            <a:pPr lvl="0"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dirty="0" err="1">
                <a:latin typeface="한컴산뜻돋움"/>
                <a:ea typeface="한컴산뜻돋움"/>
              </a:rPr>
              <a:t>pw.print</a:t>
            </a:r>
            <a:r>
              <a:rPr lang="en-US" altLang="ko-KR" sz="1100" dirty="0">
                <a:latin typeface="한컴산뜻돋움"/>
                <a:ea typeface="한컴산뜻돋움"/>
              </a:rPr>
              <a:t>("&lt;/html&gt;");</a:t>
            </a:r>
          </a:p>
          <a:p>
            <a:pPr lvl="0"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	</a:t>
            </a:r>
            <a:r>
              <a:rPr lang="en-US" altLang="ko-KR" sz="1100" dirty="0" err="1">
                <a:latin typeface="한컴산뜻돋움"/>
                <a:ea typeface="한컴산뜻돋움"/>
              </a:rPr>
              <a:t>pw.close</a:t>
            </a:r>
            <a:r>
              <a:rPr lang="en-US" altLang="ko-KR" sz="1100" dirty="0">
                <a:latin typeface="한컴산뜻돋움"/>
                <a:ea typeface="한컴산뜻돋움"/>
              </a:rPr>
              <a:t>();</a:t>
            </a:r>
          </a:p>
          <a:p>
            <a:pPr lvl="0">
              <a:defRPr/>
            </a:pPr>
            <a:r>
              <a:rPr lang="en-US" altLang="ko-KR" sz="1100" dirty="0">
                <a:latin typeface="한컴산뜻돋움"/>
                <a:ea typeface="한컴산뜻돋움"/>
              </a:rPr>
              <a:t>	}</a:t>
            </a:r>
          </a:p>
          <a:p>
            <a:pPr>
              <a:defRPr/>
            </a:pPr>
            <a:endParaRPr lang="en-US" altLang="ko-KR" sz="1100" dirty="0">
              <a:latin typeface="한컴산뜻돋움"/>
              <a:ea typeface="한컴산뜻돋움"/>
            </a:endParaRPr>
          </a:p>
        </p:txBody>
      </p:sp>
      <p:pic>
        <p:nvPicPr>
          <p:cNvPr id="10245" name="그림 8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5732051" y="1943635"/>
            <a:ext cx="2098156" cy="868119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42354" y="-50385"/>
            <a:ext cx="3155108" cy="1323439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endParaRPr lang="en-US" altLang="ko-KR" sz="1000" dirty="0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000" dirty="0">
                <a:latin typeface="한컴산뜻돋움"/>
                <a:ea typeface="한컴산뜻돋움"/>
              </a:rPr>
              <a:t>@</a:t>
            </a:r>
            <a:r>
              <a:rPr lang="en-US" altLang="ko-KR" sz="1000" dirty="0" err="1">
                <a:latin typeface="한컴산뜻돋움"/>
                <a:ea typeface="한컴산뜻돋움"/>
              </a:rPr>
              <a:t>WebServlet</a:t>
            </a:r>
            <a:r>
              <a:rPr lang="en-US" altLang="ko-KR" sz="1000" dirty="0">
                <a:latin typeface="한컴산뜻돋움"/>
                <a:ea typeface="한컴산뜻돋움"/>
              </a:rPr>
              <a:t>("</a:t>
            </a:r>
            <a:r>
              <a:rPr lang="en-US" altLang="ko-KR" sz="1050" dirty="0">
                <a:solidFill>
                  <a:srgbClr val="FF0000"/>
                </a:solidFill>
                <a:latin typeface="한컴산뜻돋움"/>
                <a:ea typeface="한컴산뜻돋움"/>
              </a:rPr>
              <a:t>/</a:t>
            </a:r>
            <a:r>
              <a:rPr lang="en-US" altLang="ko-KR" sz="1050" dirty="0" err="1">
                <a:solidFill>
                  <a:srgbClr val="FF0000"/>
                </a:solidFill>
                <a:latin typeface="한컴산뜻돋움"/>
                <a:ea typeface="한컴산뜻돋움"/>
              </a:rPr>
              <a:t>calc</a:t>
            </a:r>
            <a:r>
              <a:rPr lang="en-US" altLang="ko-KR" sz="1000" dirty="0">
                <a:latin typeface="한컴산뜻돋움"/>
                <a:ea typeface="한컴산뜻돋움"/>
              </a:rPr>
              <a:t>")</a:t>
            </a:r>
          </a:p>
          <a:p>
            <a:pPr>
              <a:defRPr/>
            </a:pPr>
            <a:r>
              <a:rPr lang="en-US" altLang="ko-KR" sz="1000" dirty="0">
                <a:latin typeface="한컴산뜻돋움"/>
                <a:ea typeface="한컴산뜻돋움"/>
              </a:rPr>
              <a:t>public class </a:t>
            </a:r>
            <a:r>
              <a:rPr lang="en-US" altLang="ko-KR" sz="1000" dirty="0" err="1">
                <a:latin typeface="한컴산뜻돋움"/>
                <a:ea typeface="한컴산뜻돋움"/>
              </a:rPr>
              <a:t>CalcServlet</a:t>
            </a:r>
            <a:r>
              <a:rPr lang="en-US" altLang="ko-KR" sz="1000" dirty="0">
                <a:latin typeface="한컴산뜻돋움"/>
                <a:ea typeface="한컴산뜻돋움"/>
              </a:rPr>
              <a:t> extends </a:t>
            </a:r>
            <a:r>
              <a:rPr lang="en-US" altLang="ko-KR" sz="1000" dirty="0" err="1">
                <a:latin typeface="한컴산뜻돋움"/>
                <a:ea typeface="한컴산뜻돋움"/>
              </a:rPr>
              <a:t>HttpServlet</a:t>
            </a:r>
            <a:r>
              <a:rPr lang="en-US" altLang="ko-KR" sz="1000" dirty="0">
                <a:latin typeface="한컴산뜻돋움"/>
                <a:ea typeface="한컴산뜻돋움"/>
              </a:rPr>
              <a:t> {</a:t>
            </a:r>
          </a:p>
          <a:p>
            <a:pPr>
              <a:defRPr/>
            </a:pPr>
            <a:r>
              <a:rPr lang="en-US" altLang="ko-KR" sz="1000" dirty="0">
                <a:latin typeface="한컴산뜻돋움"/>
                <a:ea typeface="한컴산뜻돋움"/>
              </a:rPr>
              <a:t>	private static float USD_RATE = 1124.70F;</a:t>
            </a:r>
          </a:p>
          <a:p>
            <a:pPr>
              <a:defRPr/>
            </a:pPr>
            <a:r>
              <a:rPr lang="en-US" altLang="ko-KR" sz="1000" dirty="0">
                <a:latin typeface="한컴산뜻돋움"/>
                <a:ea typeface="한컴산뜻돋움"/>
              </a:rPr>
              <a:t>	private static float JPY_RATE = 10.113F;</a:t>
            </a:r>
          </a:p>
          <a:p>
            <a:pPr>
              <a:defRPr/>
            </a:pPr>
            <a:r>
              <a:rPr lang="en-US" altLang="ko-KR" sz="1000" dirty="0">
                <a:latin typeface="한컴산뜻돋움"/>
                <a:ea typeface="한컴산뜻돋움"/>
              </a:rPr>
              <a:t>	private static float CNY_RATE = 163.30F;</a:t>
            </a:r>
          </a:p>
          <a:p>
            <a:pPr>
              <a:defRPr/>
            </a:pPr>
            <a:r>
              <a:rPr lang="en-US" altLang="ko-KR" sz="1000" dirty="0">
                <a:latin typeface="한컴산뜻돋움"/>
                <a:ea typeface="한컴산뜻돋움"/>
              </a:rPr>
              <a:t>	private static float GBP_RATE = 1444.35F;</a:t>
            </a:r>
          </a:p>
          <a:p>
            <a:pPr>
              <a:defRPr/>
            </a:pPr>
            <a:r>
              <a:rPr lang="en-US" altLang="ko-KR" sz="1000" dirty="0">
                <a:latin typeface="한컴산뜻돋움"/>
                <a:ea typeface="한컴산뜻돋움"/>
              </a:rPr>
              <a:t>	private static float EUR_RATE = 1295.97F</a:t>
            </a:r>
            <a:r>
              <a:rPr lang="en-US" altLang="ko-KR" sz="1000" dirty="0" smtClean="0">
                <a:latin typeface="한컴산뜻돋움"/>
                <a:ea typeface="한컴산뜻돋움"/>
              </a:rPr>
              <a:t>;</a:t>
            </a:r>
            <a:endParaRPr lang="en-US" altLang="ko-KR" sz="1000" dirty="0">
              <a:latin typeface="한컴산뜻돋움"/>
              <a:ea typeface="한컴산뜻돋움"/>
            </a:endParaRPr>
          </a:p>
        </p:txBody>
      </p:sp>
      <p:pic>
        <p:nvPicPr>
          <p:cNvPr id="6" name="그림 7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6465275" y="3271610"/>
            <a:ext cx="2016574" cy="890487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42354" y="4281945"/>
            <a:ext cx="3895425" cy="2185214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endParaRPr lang="en-US" altLang="ko-KR" sz="800" dirty="0">
              <a:latin typeface="한컴산뜻돋움"/>
              <a:ea typeface="한컴산뜻돋움"/>
            </a:endParaRPr>
          </a:p>
          <a:p>
            <a:pPr lvl="0">
              <a:defRPr/>
            </a:pPr>
            <a:r>
              <a:rPr lang="en-US" altLang="ko-KR" sz="800" dirty="0">
                <a:latin typeface="한컴산뜻돋움"/>
                <a:ea typeface="한컴산뜻돋움"/>
              </a:rPr>
              <a:t>	private static String </a:t>
            </a:r>
            <a:r>
              <a:rPr lang="en-US" altLang="ko-KR" sz="800" dirty="0">
                <a:solidFill>
                  <a:srgbClr val="FF0000"/>
                </a:solidFill>
                <a:latin typeface="한컴산뜻돋움"/>
                <a:ea typeface="한컴산뜻돋움"/>
              </a:rPr>
              <a:t>calculate</a:t>
            </a:r>
            <a:r>
              <a:rPr lang="en-US" altLang="ko-KR" sz="800" dirty="0">
                <a:latin typeface="한컴산뜻돋움"/>
                <a:ea typeface="한컴산뜻돋움"/>
              </a:rPr>
              <a:t>(float won, String operator) {</a:t>
            </a:r>
          </a:p>
          <a:p>
            <a:pPr lvl="0">
              <a:defRPr/>
            </a:pPr>
            <a:r>
              <a:rPr lang="en-US" altLang="ko-KR" sz="800" dirty="0">
                <a:latin typeface="한컴산뜻돋움"/>
                <a:ea typeface="한컴산뜻돋움"/>
              </a:rPr>
              <a:t>		String result = null;</a:t>
            </a:r>
          </a:p>
          <a:p>
            <a:pPr lvl="0">
              <a:defRPr/>
            </a:pPr>
            <a:r>
              <a:rPr lang="en-US" altLang="ko-KR" sz="800" dirty="0">
                <a:latin typeface="한컴산뜻돋움"/>
                <a:ea typeface="한컴산뜻돋움"/>
              </a:rPr>
              <a:t>		if (</a:t>
            </a:r>
            <a:r>
              <a:rPr lang="en-US" altLang="ko-KR" sz="800" dirty="0" err="1">
                <a:latin typeface="한컴산뜻돋움"/>
                <a:ea typeface="한컴산뜻돋움"/>
              </a:rPr>
              <a:t>operator.equals</a:t>
            </a:r>
            <a:r>
              <a:rPr lang="en-US" altLang="ko-KR" sz="800" dirty="0">
                <a:latin typeface="한컴산뜻돋움"/>
                <a:ea typeface="한컴산뜻돋움"/>
              </a:rPr>
              <a:t>("dollar")) {</a:t>
            </a:r>
          </a:p>
          <a:p>
            <a:pPr lvl="0">
              <a:defRPr/>
            </a:pPr>
            <a:r>
              <a:rPr lang="en-US" altLang="ko-KR" sz="800" dirty="0">
                <a:latin typeface="한컴산뜻돋움"/>
                <a:ea typeface="한컴산뜻돋움"/>
              </a:rPr>
              <a:t>			result = </a:t>
            </a:r>
            <a:r>
              <a:rPr lang="en-US" altLang="ko-KR" sz="800" dirty="0" err="1">
                <a:latin typeface="한컴산뜻돋움"/>
                <a:ea typeface="한컴산뜻돋움"/>
              </a:rPr>
              <a:t>String.format</a:t>
            </a:r>
            <a:r>
              <a:rPr lang="en-US" altLang="ko-KR" sz="800" dirty="0">
                <a:latin typeface="한컴산뜻돋움"/>
                <a:ea typeface="한컴산뜻돋움"/>
              </a:rPr>
              <a:t>("%.6f", won / USD_RATE);</a:t>
            </a:r>
          </a:p>
          <a:p>
            <a:pPr lvl="0">
              <a:defRPr/>
            </a:pPr>
            <a:r>
              <a:rPr lang="en-US" altLang="ko-KR" sz="800" dirty="0">
                <a:latin typeface="한컴산뜻돋움"/>
                <a:ea typeface="한컴산뜻돋움"/>
              </a:rPr>
              <a:t>		} else if (</a:t>
            </a:r>
            <a:r>
              <a:rPr lang="en-US" altLang="ko-KR" sz="800" dirty="0" err="1">
                <a:latin typeface="한컴산뜻돋움"/>
                <a:ea typeface="한컴산뜻돋움"/>
              </a:rPr>
              <a:t>operator.equals</a:t>
            </a:r>
            <a:r>
              <a:rPr lang="en-US" altLang="ko-KR" sz="800" dirty="0">
                <a:latin typeface="한컴산뜻돋움"/>
                <a:ea typeface="한컴산뜻돋움"/>
              </a:rPr>
              <a:t>("</a:t>
            </a:r>
            <a:r>
              <a:rPr lang="en-US" altLang="ko-KR" sz="800" dirty="0" err="1">
                <a:latin typeface="한컴산뜻돋움"/>
                <a:ea typeface="한컴산뜻돋움"/>
              </a:rPr>
              <a:t>en</a:t>
            </a:r>
            <a:r>
              <a:rPr lang="en-US" altLang="ko-KR" sz="800" dirty="0">
                <a:latin typeface="한컴산뜻돋움"/>
                <a:ea typeface="한컴산뜻돋움"/>
              </a:rPr>
              <a:t>")) {</a:t>
            </a:r>
          </a:p>
          <a:p>
            <a:pPr lvl="0">
              <a:defRPr/>
            </a:pPr>
            <a:r>
              <a:rPr lang="en-US" altLang="ko-KR" sz="800" dirty="0">
                <a:latin typeface="한컴산뜻돋움"/>
                <a:ea typeface="한컴산뜻돋움"/>
              </a:rPr>
              <a:t>			result = </a:t>
            </a:r>
            <a:r>
              <a:rPr lang="en-US" altLang="ko-KR" sz="800" dirty="0" err="1">
                <a:latin typeface="한컴산뜻돋움"/>
                <a:ea typeface="한컴산뜻돋움"/>
              </a:rPr>
              <a:t>String.format</a:t>
            </a:r>
            <a:r>
              <a:rPr lang="en-US" altLang="ko-KR" sz="800" dirty="0">
                <a:latin typeface="한컴산뜻돋움"/>
                <a:ea typeface="한컴산뜻돋움"/>
              </a:rPr>
              <a:t>("%.6f", won / JPY_RATE);</a:t>
            </a:r>
          </a:p>
          <a:p>
            <a:pPr lvl="0">
              <a:defRPr/>
            </a:pPr>
            <a:r>
              <a:rPr lang="en-US" altLang="ko-KR" sz="800" dirty="0">
                <a:latin typeface="한컴산뜻돋움"/>
                <a:ea typeface="한컴산뜻돋움"/>
              </a:rPr>
              <a:t>		} else if (</a:t>
            </a:r>
            <a:r>
              <a:rPr lang="en-US" altLang="ko-KR" sz="800" dirty="0" err="1">
                <a:latin typeface="한컴산뜻돋움"/>
                <a:ea typeface="한컴산뜻돋움"/>
              </a:rPr>
              <a:t>operator.equals</a:t>
            </a:r>
            <a:r>
              <a:rPr lang="en-US" altLang="ko-KR" sz="800" dirty="0">
                <a:latin typeface="한컴산뜻돋움"/>
                <a:ea typeface="한컴산뜻돋움"/>
              </a:rPr>
              <a:t>("</a:t>
            </a:r>
            <a:r>
              <a:rPr lang="en-US" altLang="ko-KR" sz="800" dirty="0" err="1">
                <a:latin typeface="한컴산뜻돋움"/>
                <a:ea typeface="한컴산뜻돋움"/>
              </a:rPr>
              <a:t>wian</a:t>
            </a:r>
            <a:r>
              <a:rPr lang="en-US" altLang="ko-KR" sz="800" dirty="0">
                <a:latin typeface="한컴산뜻돋움"/>
                <a:ea typeface="한컴산뜻돋움"/>
              </a:rPr>
              <a:t>")) {</a:t>
            </a:r>
          </a:p>
          <a:p>
            <a:pPr lvl="0">
              <a:defRPr/>
            </a:pPr>
            <a:r>
              <a:rPr lang="en-US" altLang="ko-KR" sz="800" dirty="0">
                <a:latin typeface="한컴산뜻돋움"/>
                <a:ea typeface="한컴산뜻돋움"/>
              </a:rPr>
              <a:t>			result = </a:t>
            </a:r>
            <a:r>
              <a:rPr lang="en-US" altLang="ko-KR" sz="800" dirty="0" err="1">
                <a:latin typeface="한컴산뜻돋움"/>
                <a:ea typeface="한컴산뜻돋움"/>
              </a:rPr>
              <a:t>String.format</a:t>
            </a:r>
            <a:r>
              <a:rPr lang="en-US" altLang="ko-KR" sz="800" dirty="0">
                <a:latin typeface="한컴산뜻돋움"/>
                <a:ea typeface="한컴산뜻돋움"/>
              </a:rPr>
              <a:t>("%.6f", won / CNY_RATE);</a:t>
            </a:r>
          </a:p>
          <a:p>
            <a:pPr lvl="0">
              <a:defRPr/>
            </a:pPr>
            <a:r>
              <a:rPr lang="en-US" altLang="ko-KR" sz="800" dirty="0">
                <a:latin typeface="한컴산뜻돋움"/>
                <a:ea typeface="한컴산뜻돋움"/>
              </a:rPr>
              <a:t>		} else if (</a:t>
            </a:r>
            <a:r>
              <a:rPr lang="en-US" altLang="ko-KR" sz="800" dirty="0" err="1">
                <a:latin typeface="한컴산뜻돋움"/>
                <a:ea typeface="한컴산뜻돋움"/>
              </a:rPr>
              <a:t>operator.equals</a:t>
            </a:r>
            <a:r>
              <a:rPr lang="en-US" altLang="ko-KR" sz="800" dirty="0">
                <a:latin typeface="한컴산뜻돋움"/>
                <a:ea typeface="한컴산뜻돋움"/>
              </a:rPr>
              <a:t>("pound")) {</a:t>
            </a:r>
          </a:p>
          <a:p>
            <a:pPr lvl="0">
              <a:defRPr/>
            </a:pPr>
            <a:r>
              <a:rPr lang="en-US" altLang="ko-KR" sz="800" dirty="0">
                <a:latin typeface="한컴산뜻돋움"/>
                <a:ea typeface="한컴산뜻돋움"/>
              </a:rPr>
              <a:t>			result = </a:t>
            </a:r>
            <a:r>
              <a:rPr lang="en-US" altLang="ko-KR" sz="800" dirty="0" err="1">
                <a:latin typeface="한컴산뜻돋움"/>
                <a:ea typeface="한컴산뜻돋움"/>
              </a:rPr>
              <a:t>String.format</a:t>
            </a:r>
            <a:r>
              <a:rPr lang="en-US" altLang="ko-KR" sz="800" dirty="0">
                <a:latin typeface="한컴산뜻돋움"/>
                <a:ea typeface="한컴산뜻돋움"/>
              </a:rPr>
              <a:t>("%.6f", won / GBP_RATE);</a:t>
            </a:r>
          </a:p>
          <a:p>
            <a:pPr lvl="0">
              <a:defRPr/>
            </a:pPr>
            <a:r>
              <a:rPr lang="en-US" altLang="ko-KR" sz="800" dirty="0">
                <a:latin typeface="한컴산뜻돋움"/>
                <a:ea typeface="한컴산뜻돋움"/>
              </a:rPr>
              <a:t>		} else if (</a:t>
            </a:r>
            <a:r>
              <a:rPr lang="en-US" altLang="ko-KR" sz="800" dirty="0" err="1">
                <a:latin typeface="한컴산뜻돋움"/>
                <a:ea typeface="한컴산뜻돋움"/>
              </a:rPr>
              <a:t>operator.equals</a:t>
            </a:r>
            <a:r>
              <a:rPr lang="en-US" altLang="ko-KR" sz="800" dirty="0">
                <a:latin typeface="한컴산뜻돋움"/>
                <a:ea typeface="한컴산뜻돋움"/>
              </a:rPr>
              <a:t>("euro")) {</a:t>
            </a:r>
          </a:p>
          <a:p>
            <a:pPr lvl="0">
              <a:defRPr/>
            </a:pPr>
            <a:r>
              <a:rPr lang="en-US" altLang="ko-KR" sz="800" dirty="0">
                <a:latin typeface="한컴산뜻돋움"/>
                <a:ea typeface="한컴산뜻돋움"/>
              </a:rPr>
              <a:t>			result = </a:t>
            </a:r>
            <a:r>
              <a:rPr lang="en-US" altLang="ko-KR" sz="800" dirty="0" err="1">
                <a:latin typeface="한컴산뜻돋움"/>
                <a:ea typeface="한컴산뜻돋움"/>
              </a:rPr>
              <a:t>String.format</a:t>
            </a:r>
            <a:r>
              <a:rPr lang="en-US" altLang="ko-KR" sz="800" dirty="0">
                <a:latin typeface="한컴산뜻돋움"/>
                <a:ea typeface="한컴산뜻돋움"/>
              </a:rPr>
              <a:t>("%.6f", won / EUR_RATE);</a:t>
            </a:r>
          </a:p>
          <a:p>
            <a:pPr lvl="0">
              <a:defRPr/>
            </a:pPr>
            <a:r>
              <a:rPr lang="en-US" altLang="ko-KR" sz="800" dirty="0">
                <a:latin typeface="한컴산뜻돋움"/>
                <a:ea typeface="한컴산뜻돋움"/>
              </a:rPr>
              <a:t>		}</a:t>
            </a:r>
          </a:p>
          <a:p>
            <a:pPr lvl="0">
              <a:defRPr/>
            </a:pPr>
            <a:r>
              <a:rPr lang="en-US" altLang="ko-KR" sz="800" dirty="0">
                <a:latin typeface="한컴산뜻돋움"/>
                <a:ea typeface="한컴산뜻돋움"/>
              </a:rPr>
              <a:t>		return result;</a:t>
            </a:r>
          </a:p>
          <a:p>
            <a:pPr lvl="0">
              <a:defRPr/>
            </a:pPr>
            <a:r>
              <a:rPr lang="en-US" altLang="ko-KR" sz="800" dirty="0">
                <a:latin typeface="한컴산뜻돋움"/>
                <a:ea typeface="한컴산뜻돋움"/>
              </a:rPr>
              <a:t>	}</a:t>
            </a:r>
          </a:p>
          <a:p>
            <a:pPr lvl="0">
              <a:defRPr/>
            </a:pPr>
            <a:r>
              <a:rPr lang="en-US" altLang="ko-KR" sz="800" dirty="0">
                <a:latin typeface="한컴산뜻돋움"/>
                <a:ea typeface="한컴산뜻돋움"/>
              </a:rPr>
              <a:t>}</a:t>
            </a:r>
          </a:p>
        </p:txBody>
      </p:sp>
      <p:cxnSp>
        <p:nvCxnSpPr>
          <p:cNvPr id="4" name="직선 화살표 연결선 3"/>
          <p:cNvCxnSpPr/>
          <p:nvPr/>
        </p:nvCxnSpPr>
        <p:spPr>
          <a:xfrm>
            <a:off x="2522483" y="2480441"/>
            <a:ext cx="4603531" cy="1923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79496" y="27163"/>
            <a:ext cx="3804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dirty="0" smtClean="0">
                <a:latin typeface="+mj-ea"/>
                <a:ea typeface="+mj-ea"/>
              </a:rPr>
              <a:t>웹 </a:t>
            </a:r>
            <a:r>
              <a:rPr lang="ko-KR" altLang="en-US" sz="1200" dirty="0">
                <a:latin typeface="+mj-ea"/>
                <a:ea typeface="+mj-ea"/>
              </a:rPr>
              <a:t>브라우저에서 </a:t>
            </a:r>
            <a:r>
              <a:rPr lang="en-US" altLang="ko-KR" sz="1200" dirty="0">
                <a:latin typeface="+mj-ea"/>
                <a:ea typeface="+mj-ea"/>
              </a:rPr>
              <a:t>http://</a:t>
            </a:r>
            <a:r>
              <a:rPr lang="en-US" altLang="ko-KR" sz="1200" dirty="0" smtClean="0">
                <a:latin typeface="+mj-ea"/>
                <a:ea typeface="+mj-ea"/>
              </a:rPr>
              <a:t>localhost:8090/pro06</a:t>
            </a:r>
            <a:r>
              <a:rPr lang="en-US" altLang="ko-KR" sz="1200" b="1" dirty="0" smtClean="0">
                <a:solidFill>
                  <a:srgbClr val="FF0000"/>
                </a:solidFill>
                <a:latin typeface="+mj-ea"/>
                <a:ea typeface="+mj-ea"/>
              </a:rPr>
              <a:t>/calc</a:t>
            </a:r>
            <a:endParaRPr lang="ko-KR" altLang="en-US" sz="12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1963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6.4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응답 처리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8" y="1461700"/>
            <a:ext cx="78835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 dirty="0">
                <a:latin typeface="+mj-ea"/>
                <a:ea typeface="+mj-ea"/>
              </a:rPr>
              <a:t>3. </a:t>
            </a:r>
            <a:r>
              <a:rPr lang="ko-KR" altLang="en-US" sz="1200" dirty="0">
                <a:latin typeface="+mj-ea"/>
                <a:ea typeface="+mj-ea"/>
              </a:rPr>
              <a:t>웹 브라우저에서 </a:t>
            </a:r>
            <a:r>
              <a:rPr lang="en-US" altLang="ko-KR" sz="1200" dirty="0">
                <a:latin typeface="+mj-ea"/>
                <a:ea typeface="+mj-ea"/>
              </a:rPr>
              <a:t>http://localhost:8090/pro06/calc</a:t>
            </a:r>
            <a:r>
              <a:rPr lang="ko-KR" altLang="en-US" sz="1200" dirty="0">
                <a:latin typeface="+mj-ea"/>
                <a:ea typeface="+mj-ea"/>
              </a:rPr>
              <a:t>로 요청한 후 원화에 값을 입력하고 변환을 클릭합니다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5119" y="3696061"/>
            <a:ext cx="7474225" cy="26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값을 전송한 후 결과를 웹 브라우저에 출력합니다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123237" y="2015779"/>
            <a:ext cx="3200400" cy="1514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2123237" y="4246727"/>
            <a:ext cx="4237990" cy="16643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17429" y="711235"/>
            <a:ext cx="756308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6.5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웹 브라우저에서 서블릿으로 데이터 전송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7429" y="1351707"/>
            <a:ext cx="8039111" cy="494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6.5.1 GET/POST </a:t>
            </a:r>
            <a:r>
              <a:rPr lang="ko-KR" altLang="en-US" b="1"/>
              <a:t>전송 방식</a:t>
            </a:r>
            <a:endParaRPr lang="en-US" altLang="ko-KR" b="1" spc="-95"/>
          </a:p>
        </p:txBody>
      </p:sp>
      <p:sp>
        <p:nvSpPr>
          <p:cNvPr id="3" name="TextBox 2"/>
          <p:cNvSpPr txBox="1"/>
          <p:nvPr/>
        </p:nvSpPr>
        <p:spPr>
          <a:xfrm>
            <a:off x="485241" y="4072334"/>
            <a:ext cx="54168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GET </a:t>
            </a:r>
            <a:r>
              <a:rPr lang="ko-KR" altLang="en-US" sz="1200" b="1">
                <a:latin typeface="+mj-ea"/>
                <a:ea typeface="+mj-ea"/>
              </a:rPr>
              <a:t>방식과 </a:t>
            </a:r>
            <a:r>
              <a:rPr lang="en-US" altLang="ko-KR" sz="1200" b="1">
                <a:latin typeface="+mj-ea"/>
                <a:ea typeface="+mj-ea"/>
              </a:rPr>
              <a:t>POST </a:t>
            </a:r>
            <a:r>
              <a:rPr lang="ko-KR" altLang="en-US" sz="1200" b="1">
                <a:latin typeface="+mj-ea"/>
                <a:ea typeface="+mj-ea"/>
              </a:rPr>
              <a:t>방식 비교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505119" y="4360627"/>
          <a:ext cx="6096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17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GET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방식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POST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방식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서블릿에 데이터를 전송할 때는 데이터가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URL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뒤에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name=value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형태로 전송됩니다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여러 개의 데이터를 전송할 때는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'&amp;'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구분해서 전송됩니다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보안이 취약합니다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전송할 수 있는 데이터는 최대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자입니다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기본 전송 방식이고 사용이 쉽습니다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웹 브라우저에 직접 입력해서 전송할 수도 있습니다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서블릿에서는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doGet( )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으로 전송된 데이터를 처리합니다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서블릿에 데이터를 전송할 때는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TCP/IP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프로토콜 데이터의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HEAD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영역에 숨겨진 채 전송됩니다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보안에 유리합니다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전송 데이터 용량이 무제한입니다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전송 시 서블릿에서는 또다시 가져오는 작업을 해야 하므로 처리 속도가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방식보다 느립니다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서블릿에서는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doPost( )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이용해 데이터를 처리합니다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610401" y="2039605"/>
            <a:ext cx="4114538" cy="17869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/>
          <p:cNvSpPr/>
          <p:nvPr/>
        </p:nvSpPr>
        <p:spPr>
          <a:xfrm>
            <a:off x="3448878" y="2355574"/>
            <a:ext cx="2276061" cy="2286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5" name="TextBox 4"/>
          <p:cNvSpPr txBox="1"/>
          <p:nvPr/>
        </p:nvSpPr>
        <p:spPr>
          <a:xfrm>
            <a:off x="517429" y="1351707"/>
            <a:ext cx="8039111" cy="494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  <a:defRPr/>
            </a:pPr>
            <a:r>
              <a:rPr lang="en-US" altLang="ko-KR" b="1"/>
              <a:t>6.5.2 GET </a:t>
            </a:r>
            <a:r>
              <a:rPr lang="ko-KR" altLang="en-US" b="1"/>
              <a:t>방식으로 서블릿에 요청</a:t>
            </a:r>
            <a:endParaRPr lang="en-US" altLang="ko-KR" b="1" spc="-95"/>
          </a:p>
        </p:txBody>
      </p:sp>
      <p:sp>
        <p:nvSpPr>
          <p:cNvPr id="3" name="TextBox 2"/>
          <p:cNvSpPr txBox="1"/>
          <p:nvPr/>
        </p:nvSpPr>
        <p:spPr>
          <a:xfrm>
            <a:off x="785071" y="1807153"/>
            <a:ext cx="5387129" cy="26739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Wingdings"/>
              <a:buChar char="Ø"/>
              <a:defRPr/>
            </a:pPr>
            <a:r>
              <a:rPr lang="en-US" altLang="ko-KR" sz="1200">
                <a:latin typeface="+mn-ea"/>
              </a:rPr>
              <a:t>method= "get"</a:t>
            </a:r>
            <a:r>
              <a:rPr lang="ko-KR" altLang="en-US" sz="1200">
                <a:latin typeface="+mn-ea"/>
              </a:rPr>
              <a:t>은 서블릿에 </a:t>
            </a:r>
            <a:r>
              <a:rPr lang="en-US" altLang="ko-KR" sz="1200">
                <a:latin typeface="+mn-ea"/>
              </a:rPr>
              <a:t>GET</a:t>
            </a:r>
            <a:r>
              <a:rPr lang="ko-KR" altLang="en-US" sz="1200">
                <a:latin typeface="+mn-ea"/>
              </a:rPr>
              <a:t>방식으로 데이터를 전송하겠다는 의미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5071" y="3496805"/>
            <a:ext cx="5387129" cy="2636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Wingdings"/>
              <a:buChar char="Ø"/>
              <a:defRPr/>
            </a:pPr>
            <a:r>
              <a:rPr lang="ko-KR" altLang="en-US" sz="1200">
                <a:latin typeface="+mn-ea"/>
              </a:rPr>
              <a:t>서블릿에선 </a:t>
            </a:r>
            <a:r>
              <a:rPr lang="en-US" altLang="ko-KR" sz="1200">
                <a:latin typeface="+mn-ea"/>
              </a:rPr>
              <a:t>GET</a:t>
            </a:r>
            <a:r>
              <a:rPr lang="ko-KR" altLang="en-US" sz="1200">
                <a:latin typeface="+mn-ea"/>
              </a:rPr>
              <a:t>방식으로 전송된 데이터를 </a:t>
            </a:r>
            <a:r>
              <a:rPr lang="en-US" altLang="ko-KR" sz="1200">
                <a:latin typeface="+mn-ea"/>
              </a:rPr>
              <a:t>doGet() </a:t>
            </a:r>
            <a:r>
              <a:rPr lang="ko-KR" altLang="en-US" sz="1200">
                <a:latin typeface="+mn-ea"/>
              </a:rPr>
              <a:t>메서드를 처리해야함</a:t>
            </a:r>
            <a:r>
              <a:rPr lang="en-US" altLang="ko-KR" sz="1200">
                <a:latin typeface="+mn-ea"/>
              </a:rPr>
              <a:t>.</a:t>
            </a:r>
            <a:endParaRPr lang="ko-KR" altLang="en-US" sz="1200">
              <a:latin typeface="+mn-ea"/>
            </a:endParaRPr>
          </a:p>
        </p:txBody>
      </p:sp>
      <p:pic>
        <p:nvPicPr>
          <p:cNvPr id="9" name="그림 8"/>
          <p:cNvPicPr/>
          <p:nvPr/>
        </p:nvPicPr>
        <p:blipFill rotWithShape="1">
          <a:blip r:embed="rId2">
            <a:alphaModFix/>
            <a:lum/>
          </a:blip>
          <a:srcRect b="55540"/>
          <a:stretch>
            <a:fillRect/>
          </a:stretch>
        </p:blipFill>
        <p:spPr>
          <a:xfrm>
            <a:off x="882944" y="2164148"/>
            <a:ext cx="5645150" cy="956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2892287" y="2164148"/>
            <a:ext cx="1013791" cy="18148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1" name="그림 10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882944" y="3950086"/>
            <a:ext cx="6243413" cy="26296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1669637" y="3896140"/>
            <a:ext cx="5236283" cy="2286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17429" y="711235"/>
            <a:ext cx="756308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6.5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웹 브라우저에서 서블릿으로 데이터 전송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96348" y="1504059"/>
            <a:ext cx="7494104" cy="63716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/>
              <a:buChar char="Ø"/>
              <a:defRPr/>
            </a:pPr>
            <a:r>
              <a:rPr lang="ko-KR" altLang="en-US" sz="1200">
                <a:latin typeface="+mj-ea"/>
                <a:ea typeface="+mj-ea"/>
              </a:rPr>
              <a:t>웹 브라우저의 주소창을 보면 </a:t>
            </a:r>
            <a:r>
              <a:rPr lang="en-US" altLang="ko-KR" sz="1200">
                <a:latin typeface="+mj-ea"/>
                <a:ea typeface="+mj-ea"/>
              </a:rPr>
              <a:t>http://localhost:8090/pro06/login2?user_id=lee&amp;user_pw=1234</a:t>
            </a:r>
            <a:r>
              <a:rPr lang="ko-KR" altLang="en-US" sz="1200">
                <a:latin typeface="+mj-ea"/>
                <a:ea typeface="+mj-ea"/>
              </a:rPr>
              <a:t>처럼 </a:t>
            </a:r>
            <a:r>
              <a:rPr lang="en-US" altLang="ko-KR" sz="1200">
                <a:latin typeface="+mj-ea"/>
                <a:ea typeface="+mj-ea"/>
              </a:rPr>
              <a:t>URL </a:t>
            </a:r>
            <a:r>
              <a:rPr lang="ko-KR" altLang="en-US" sz="1200">
                <a:latin typeface="+mj-ea"/>
                <a:ea typeface="+mj-ea"/>
              </a:rPr>
              <a:t>뒤에 ‘</a:t>
            </a:r>
            <a:r>
              <a:rPr lang="en-US" altLang="ko-KR" sz="1200">
                <a:latin typeface="+mj-ea"/>
                <a:ea typeface="+mj-ea"/>
              </a:rPr>
              <a:t>name=value’ </a:t>
            </a:r>
            <a:r>
              <a:rPr lang="ko-KR" altLang="en-US" sz="1200">
                <a:latin typeface="+mj-ea"/>
                <a:ea typeface="+mj-ea"/>
              </a:rPr>
              <a:t>쌍으로 붙어서 전송됨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663148" y="2409203"/>
            <a:ext cx="4724400" cy="13239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4524674" y="2961861"/>
            <a:ext cx="1776735" cy="18884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17429" y="711235"/>
            <a:ext cx="756308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6.5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웹 브라우저에서 서블릿으로 데이터 전송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08871" y="4613592"/>
            <a:ext cx="2727960" cy="1950720"/>
          </a:xfrm>
          <a:prstGeom prst="rect">
            <a:avLst/>
          </a:prstGeom>
          <a:ln>
            <a:solidFill>
              <a:srgbClr val="ED7D31">
                <a:alpha val="100000"/>
              </a:srgbClr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5" name="TextBox 4"/>
          <p:cNvSpPr txBox="1"/>
          <p:nvPr/>
        </p:nvSpPr>
        <p:spPr>
          <a:xfrm>
            <a:off x="517429" y="1351707"/>
            <a:ext cx="8039111" cy="494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  <a:defRPr/>
            </a:pPr>
            <a:r>
              <a:rPr lang="en-US" altLang="ko-KR" b="1"/>
              <a:t>6.5.3 POST </a:t>
            </a:r>
            <a:r>
              <a:rPr lang="ko-KR" altLang="en-US" b="1"/>
              <a:t>방식으로 서블릿에 요청</a:t>
            </a:r>
            <a:endParaRPr lang="en-US" altLang="ko-KR" b="1" spc="-95"/>
          </a:p>
        </p:txBody>
      </p:sp>
      <p:sp>
        <p:nvSpPr>
          <p:cNvPr id="3" name="TextBox 2"/>
          <p:cNvSpPr txBox="1"/>
          <p:nvPr/>
        </p:nvSpPr>
        <p:spPr>
          <a:xfrm>
            <a:off x="646043" y="1888059"/>
            <a:ext cx="70790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sec03.ex01 </a:t>
            </a:r>
            <a:r>
              <a:rPr lang="ko-KR" altLang="en-US" sz="1200">
                <a:latin typeface="+mj-ea"/>
                <a:ea typeface="+mj-ea"/>
              </a:rPr>
              <a:t>패키지를 만들고 </a:t>
            </a:r>
            <a:r>
              <a:rPr lang="en-US" altLang="ko-KR" sz="1200">
                <a:latin typeface="+mj-ea"/>
                <a:ea typeface="+mj-ea"/>
              </a:rPr>
              <a:t>LoginServlet3 </a:t>
            </a:r>
            <a:r>
              <a:rPr lang="ko-KR" altLang="en-US" sz="1200">
                <a:latin typeface="+mj-ea"/>
                <a:ea typeface="+mj-ea"/>
              </a:rPr>
              <a:t>클래스를 생성합니다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7" name="그림 6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100869" y="2318509"/>
            <a:ext cx="2578791" cy="33368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17429" y="711235"/>
            <a:ext cx="756308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6.5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웹 브라우저에서 서블릿으로 데이터 전송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4298155" y="3307876"/>
          <a:ext cx="2145030" cy="1849754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145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6456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300"/>
                        <a:t>POST /pro6/Test</a:t>
                      </a:r>
                    </a:p>
                    <a:p>
                      <a:pPr>
                        <a:defRPr/>
                      </a:pPr>
                      <a:r>
                        <a:rPr lang="en-US" altLang="ko-KR" sz="1300"/>
                        <a:t>HOST:localhost:8090</a:t>
                      </a:r>
                    </a:p>
                    <a:p>
                      <a:pPr>
                        <a:defRPr/>
                      </a:pPr>
                      <a:endParaRPr lang="en-US" altLang="ko-KR" sz="1300"/>
                    </a:p>
                    <a:p>
                      <a:pPr>
                        <a:defRPr/>
                      </a:pPr>
                      <a:r>
                        <a:rPr lang="en-US" altLang="ko-KR" sz="1300"/>
                        <a:t>content-length: 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518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300"/>
                    </a:p>
                    <a:p>
                      <a:pPr>
                        <a:defRPr/>
                      </a:pPr>
                      <a:r>
                        <a:rPr lang="en-US" altLang="ko-KR" sz="1300"/>
                        <a:t>id=pdw2020&amp;name=parkdw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직사각형 12"/>
          <p:cNvSpPr txBox="1"/>
          <p:nvPr/>
        </p:nvSpPr>
        <p:spPr>
          <a:xfrm>
            <a:off x="4327200" y="5338800"/>
            <a:ext cx="3675600" cy="640994"/>
          </a:xfrm>
          <a:prstGeom prst="rect">
            <a:avLst/>
          </a:prstGeom>
          <a:ln w="9525" cap="flat" cmpd="sng">
            <a:solidFill>
              <a:srgbClr val="FF6600"/>
            </a:solidFill>
            <a:prstDash val="sysDash"/>
            <a:rou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200"/>
              <a:t>HTTP</a:t>
            </a:r>
            <a:r>
              <a:rPr lang="ko-KR" altLang="en-US" sz="1200"/>
              <a:t>프로토콜의 요청정보는 헤더와 몸체로 구성되어, 헤더의 2번째 줄부터는 </a:t>
            </a:r>
            <a:r>
              <a:rPr lang="en-US" altLang="ko-KR" sz="1200"/>
              <a:t>name:value </a:t>
            </a:r>
            <a:r>
              <a:rPr lang="ko-KR" altLang="en-US" sz="1200"/>
              <a:t>형태로 헤더 정보들이 들어있다.</a:t>
            </a:r>
          </a:p>
        </p:txBody>
      </p:sp>
      <p:sp>
        <p:nvSpPr>
          <p:cNvPr id="14" name="자유형 13"/>
          <p:cNvSpPr/>
          <p:nvPr/>
        </p:nvSpPr>
        <p:spPr>
          <a:xfrm>
            <a:off x="6698772" y="4037641"/>
            <a:ext cx="1319494" cy="1298250"/>
          </a:xfrm>
          <a:custGeom>
            <a:avLst/>
            <a:gdLst>
              <a:gd name="connsiteX0" fmla="*/ 1083946 w 1319494"/>
              <a:gd name="connsiteY0" fmla="*/ 1301316 h 1298250"/>
              <a:gd name="connsiteX1" fmla="*/ 1266508 w 1319494"/>
              <a:gd name="connsiteY1" fmla="*/ 428191 h 1298250"/>
              <a:gd name="connsiteX2" fmla="*/ -3492 w 1319494"/>
              <a:gd name="connsiteY2" fmla="*/ -432 h 129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9494" h="1298250">
                <a:moveTo>
                  <a:pt x="1083946" y="1301316"/>
                </a:moveTo>
                <a:cubicBezTo>
                  <a:pt x="1114372" y="1155795"/>
                  <a:pt x="1447747" y="645149"/>
                  <a:pt x="1266508" y="428191"/>
                </a:cubicBezTo>
                <a:cubicBezTo>
                  <a:pt x="1085268" y="211232"/>
                  <a:pt x="208175" y="71004"/>
                  <a:pt x="-3492" y="-432"/>
                </a:cubicBezTo>
              </a:path>
            </a:pathLst>
          </a:custGeom>
          <a:ln w="25400">
            <a:solidFill>
              <a:schemeClr val="accent1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4259460" y="2610445"/>
            <a:ext cx="3135312" cy="330875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b="1"/>
              <a:t>http://localhost:8090/pro6/Test</a:t>
            </a:r>
          </a:p>
        </p:txBody>
      </p:sp>
      <p:sp>
        <p:nvSpPr>
          <p:cNvPr id="16" name="가로 글상자 15"/>
          <p:cNvSpPr txBox="1"/>
          <p:nvPr/>
        </p:nvSpPr>
        <p:spPr>
          <a:xfrm>
            <a:off x="1839246" y="3050149"/>
            <a:ext cx="1524000" cy="143799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000" b="1"/>
              <a:t>src/main/java</a:t>
            </a:r>
          </a:p>
        </p:txBody>
      </p:sp>
      <p:sp>
        <p:nvSpPr>
          <p:cNvPr id="17" name="가로 글상자 16"/>
          <p:cNvSpPr txBox="1"/>
          <p:nvPr/>
        </p:nvSpPr>
        <p:spPr>
          <a:xfrm>
            <a:off x="1695449" y="4697971"/>
            <a:ext cx="891047" cy="169304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100" b="1"/>
              <a:t>webapp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550504"/>
            <a:ext cx="7585332" cy="447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login.html</a:t>
            </a:r>
            <a:r>
              <a:rPr lang="ko-KR" altLang="en-US" sz="1200">
                <a:latin typeface="+mj-ea"/>
                <a:ea typeface="+mj-ea"/>
              </a:rPr>
              <a:t>은 앞에서 생성한 파일을 편집해서 사용합니다</a:t>
            </a:r>
            <a:r>
              <a:rPr lang="en-US" altLang="ko-KR" sz="1200">
                <a:latin typeface="+mj-ea"/>
                <a:ea typeface="+mj-ea"/>
              </a:rPr>
              <a:t>. &lt;form&gt; </a:t>
            </a:r>
            <a:r>
              <a:rPr lang="ko-KR" altLang="en-US" sz="1200">
                <a:latin typeface="+mj-ea"/>
                <a:ea typeface="+mj-ea"/>
              </a:rPr>
              <a:t>태그의 속성 </a:t>
            </a:r>
            <a:r>
              <a:rPr lang="en-US" altLang="ko-KR" sz="1200">
                <a:latin typeface="+mj-ea"/>
                <a:ea typeface="+mj-ea"/>
              </a:rPr>
              <a:t>method</a:t>
            </a:r>
            <a:r>
              <a:rPr lang="ko-KR" altLang="en-US" sz="1200">
                <a:latin typeface="+mj-ea"/>
                <a:ea typeface="+mj-ea"/>
              </a:rPr>
              <a:t>를</a:t>
            </a:r>
          </a:p>
          <a:p>
            <a:pPr lvl="0">
              <a:defRPr/>
            </a:pPr>
            <a:r>
              <a:rPr lang="en-US" altLang="ko-KR" sz="1200">
                <a:latin typeface="+mj-ea"/>
                <a:ea typeface="+mj-ea"/>
              </a:rPr>
              <a:t>    post</a:t>
            </a:r>
            <a:r>
              <a:rPr lang="ko-KR" altLang="en-US" sz="1200">
                <a:latin typeface="+mj-ea"/>
                <a:ea typeface="+mj-ea"/>
              </a:rPr>
              <a:t>로</a:t>
            </a:r>
            <a:r>
              <a:rPr lang="en-US" altLang="ko-KR" sz="1200">
                <a:latin typeface="+mj-ea"/>
                <a:ea typeface="+mj-ea"/>
              </a:rPr>
              <a:t>, action</a:t>
            </a:r>
            <a:r>
              <a:rPr lang="ko-KR" altLang="en-US" sz="1200">
                <a:latin typeface="+mj-ea"/>
                <a:ea typeface="+mj-ea"/>
              </a:rPr>
              <a:t>을 </a:t>
            </a:r>
            <a:r>
              <a:rPr lang="en-US" altLang="ko-KR" sz="1200">
                <a:latin typeface="+mj-ea"/>
                <a:ea typeface="+mj-ea"/>
              </a:rPr>
              <a:t>login3</a:t>
            </a:r>
            <a:r>
              <a:rPr lang="ko-KR" altLang="en-US" sz="1200">
                <a:latin typeface="+mj-ea"/>
                <a:ea typeface="+mj-ea"/>
              </a:rPr>
              <a:t>으로 수정합니다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774838" y="2012169"/>
            <a:ext cx="6381750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76470" y="3150704"/>
            <a:ext cx="7513980" cy="447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ko-KR" altLang="en-US" sz="1200">
                <a:latin typeface="+mj-ea"/>
                <a:ea typeface="+mj-ea"/>
              </a:rPr>
              <a:t>다음과 같이 </a:t>
            </a:r>
            <a:r>
              <a:rPr lang="en-US" altLang="ko-KR" sz="1200">
                <a:latin typeface="+mj-ea"/>
                <a:ea typeface="+mj-ea"/>
              </a:rPr>
              <a:t>LoginServlet3 </a:t>
            </a:r>
            <a:r>
              <a:rPr lang="ko-KR" altLang="en-US" sz="1200">
                <a:latin typeface="+mj-ea"/>
                <a:ea typeface="+mj-ea"/>
              </a:rPr>
              <a:t>클래스를 작성합니다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서블릿에서는 반드시 </a:t>
            </a:r>
            <a:r>
              <a:rPr lang="en-US" altLang="ko-KR" sz="1200">
                <a:latin typeface="+mj-ea"/>
                <a:ea typeface="+mj-ea"/>
              </a:rPr>
              <a:t>doPost() </a:t>
            </a:r>
            <a:r>
              <a:rPr lang="ko-KR" altLang="en-US" sz="1200">
                <a:latin typeface="+mj-ea"/>
                <a:ea typeface="+mj-ea"/>
              </a:rPr>
              <a:t>메서드를 이용해서</a:t>
            </a:r>
          </a:p>
          <a:p>
            <a:pPr lvl="0">
              <a:defRPr/>
            </a:pPr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처리해야 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7429" y="711235"/>
            <a:ext cx="756308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6.5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웹 브라우저에서 서블릿으로 데이터 전송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alphaModFix/>
            <a:lum/>
          </a:blip>
          <a:srcRect/>
          <a:stretch>
            <a:fillRect/>
          </a:stretch>
        </p:blipFill>
        <p:spPr>
          <a:xfrm>
            <a:off x="954156" y="3612369"/>
            <a:ext cx="6972921" cy="2542970"/>
          </a:xfrm>
          <a:prstGeom prst="rect">
            <a:avLst/>
          </a:prstGeom>
          <a:noFill/>
          <a:ln>
            <a:noFill/>
          </a:ln>
        </p:spPr>
      </p:pic>
      <p:sp>
        <p:nvSpPr>
          <p:cNvPr id="35843" name="가로 글상자 35842"/>
          <p:cNvSpPr txBox="1"/>
          <p:nvPr/>
        </p:nvSpPr>
        <p:spPr>
          <a:xfrm>
            <a:off x="1847542" y="2116084"/>
            <a:ext cx="1333499" cy="179442"/>
          </a:xfrm>
          <a:prstGeom prst="rect">
            <a:avLst/>
          </a:prstGeom>
          <a:solidFill>
            <a:srgbClr val="D8BEE4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200"/>
              <a:t>webapp/login.html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8" name="TextBox 7"/>
          <p:cNvSpPr txBox="1"/>
          <p:nvPr/>
        </p:nvSpPr>
        <p:spPr>
          <a:xfrm>
            <a:off x="517429" y="711235"/>
            <a:ext cx="756308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6.5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웹 브라우저에서 서블릿으로 데이터 전송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213492" y="1428607"/>
            <a:ext cx="6310105" cy="3336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0" y="1381830"/>
            <a:ext cx="9144000" cy="2648118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&lt;!DOCTYPE html&gt;</a:t>
            </a:r>
          </a:p>
          <a:p>
            <a:pPr lvl="0"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&lt;html&gt;</a:t>
            </a:r>
          </a:p>
          <a:p>
            <a:pPr lvl="0"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&lt;head&gt;</a:t>
            </a:r>
          </a:p>
          <a:p>
            <a:pPr lvl="0"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&lt;meta charset="UTF-8"&gt;</a:t>
            </a:r>
          </a:p>
          <a:p>
            <a:pPr lvl="0"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&lt;title&gt;로그인창&lt;/title&gt;</a:t>
            </a:r>
          </a:p>
          <a:p>
            <a:pPr lvl="0"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&lt;/head&gt;</a:t>
            </a:r>
          </a:p>
          <a:p>
            <a:pPr lvl="0"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&lt;body&gt;</a:t>
            </a:r>
          </a:p>
          <a:p>
            <a:pPr lvl="0"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&lt;form name="frmLogin" method="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post</a:t>
            </a:r>
            <a:r>
              <a:rPr lang="en-US" altLang="ko-KR" sz="1200" b="1">
                <a:latin typeface="한컴산뜻돋움"/>
                <a:ea typeface="한컴산뜻돋움"/>
              </a:rPr>
              <a:t>" action="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login3</a:t>
            </a:r>
            <a:r>
              <a:rPr lang="en-US" altLang="ko-KR" sz="1200" b="1">
                <a:latin typeface="한컴산뜻돋움"/>
                <a:ea typeface="한컴산뜻돋움"/>
              </a:rPr>
              <a:t>"  encType="UTF-8"&gt;</a:t>
            </a:r>
          </a:p>
          <a:p>
            <a:pPr lvl="0">
              <a:defRPr/>
            </a:pPr>
            <a:r>
              <a:rPr lang="en-US" altLang="ko-KR" sz="1200" b="1">
                <a:ea typeface="한컴산뜻돋움"/>
              </a:rPr>
              <a:t>	</a:t>
            </a:r>
            <a:r>
              <a:rPr lang="en-US" altLang="ko-KR" sz="1200" b="1">
                <a:latin typeface="한컴산뜻돋움"/>
                <a:ea typeface="한컴산뜻돋움"/>
              </a:rPr>
              <a:t>   아이디  :&lt;input type="text" name="user_id"&gt;&lt;br&gt;</a:t>
            </a:r>
          </a:p>
          <a:p>
            <a:pPr lvl="0"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   </a:t>
            </a:r>
            <a:r>
              <a:rPr lang="ko-KR" altLang="en-US" sz="1200" b="1">
                <a:latin typeface="한컴산뜻돋움"/>
                <a:ea typeface="한컴산뜻돋움"/>
              </a:rPr>
              <a:t>        </a:t>
            </a:r>
            <a:r>
              <a:rPr lang="en-US" altLang="ko-KR" sz="1200" b="1">
                <a:latin typeface="한컴산뜻돋움"/>
                <a:ea typeface="한컴산뜻돋움"/>
              </a:rPr>
              <a:t>비밀번호:&lt;input type="password" name="user_pw" &gt;&lt;br&gt;</a:t>
            </a:r>
          </a:p>
          <a:p>
            <a:pPr lvl="0"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  &lt;input type="submit" value="로그인"&gt;  &lt;input type="reset" value="다시입력"&gt;</a:t>
            </a:r>
          </a:p>
          <a:p>
            <a:pPr lvl="0"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&lt;/form&gt;</a:t>
            </a:r>
          </a:p>
          <a:p>
            <a:pPr lvl="0"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&lt;/body&gt;</a:t>
            </a:r>
          </a:p>
          <a:p>
            <a:pPr lvl="0"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&lt;/html&gt;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429" y="711235"/>
            <a:ext cx="756308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6.5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웹 브라우저에서 서블릿으로 데이터 전송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17429" y="711235"/>
            <a:ext cx="756308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6.5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웹 브라우저에서 서블릿으로 데이터 전송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0" y="1175460"/>
            <a:ext cx="9144000" cy="5394885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package sec03.ex01;</a:t>
            </a:r>
          </a:p>
          <a:p>
            <a:pPr lvl="0">
              <a:defRPr/>
            </a:pPr>
            <a:endParaRPr lang="ko-KR" altLang="en-US" sz="1200" b="1">
              <a:latin typeface="한컴산뜻돋움"/>
              <a:ea typeface="한컴산뜻돋움"/>
            </a:endParaRP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import java.io.IOException;</a:t>
            </a:r>
          </a:p>
          <a:p>
            <a:pPr lvl="0">
              <a:defRPr/>
            </a:pPr>
            <a:endParaRPr lang="ko-KR" altLang="en-US" sz="1200" b="1">
              <a:latin typeface="한컴산뜻돋움"/>
              <a:ea typeface="한컴산뜻돋움"/>
            </a:endParaRP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import javax.servlet.ServletException;</a:t>
            </a: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import javax.servlet.annotation.WebServlet;</a:t>
            </a: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import javax.servlet.http.HttpServlet;</a:t>
            </a: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import javax.servlet.http.HttpServletRequest;</a:t>
            </a: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import javax.servlet.http.HttpServletResponse;</a:t>
            </a:r>
          </a:p>
          <a:p>
            <a:pPr lvl="0">
              <a:defRPr/>
            </a:pPr>
            <a:endParaRPr lang="ko-KR" altLang="en-US" sz="1200" b="1">
              <a:latin typeface="한컴산뜻돋움"/>
              <a:ea typeface="한컴산뜻돋움"/>
            </a:endParaRP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@WebServlet("/login3")</a:t>
            </a: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public class LoginServlet3 extends HttpServlet {</a:t>
            </a: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public void init() throws ServletException {</a:t>
            </a: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System.out.println("init 메서드 호출");</a:t>
            </a: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}</a:t>
            </a:r>
          </a:p>
          <a:p>
            <a:pPr lvl="0">
              <a:defRPr/>
            </a:pPr>
            <a:endParaRPr lang="ko-KR" altLang="en-US" sz="1200" b="1">
              <a:latin typeface="한컴산뜻돋움"/>
              <a:ea typeface="한컴산뜻돋움"/>
            </a:endParaRP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protected void doPost(HttpServletRequest request, HttpServletResponse response)	throws ServletException, IOException {</a:t>
            </a: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request.setCharacterEncoding("utf-8");</a:t>
            </a: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</a:t>
            </a:r>
            <a:r>
              <a:rPr lang="ko-KR" altLang="en-US" sz="1200" b="1">
                <a:solidFill>
                  <a:srgbClr val="783E94"/>
                </a:solidFill>
                <a:latin typeface="한컴산뜻돋움"/>
                <a:ea typeface="한컴산뜻돋움"/>
              </a:rPr>
              <a:t>	String user_id = request.getParameter("user_id");</a:t>
            </a:r>
          </a:p>
          <a:p>
            <a:pPr lvl="0">
              <a:defRPr/>
            </a:pPr>
            <a:r>
              <a:rPr lang="ko-KR" altLang="en-US" sz="1200" b="1">
                <a:solidFill>
                  <a:srgbClr val="783E94"/>
                </a:solidFill>
                <a:latin typeface="한컴산뜻돋움"/>
                <a:ea typeface="한컴산뜻돋움"/>
              </a:rPr>
              <a:t>		String user_pw = request.getParameter("user_pw");</a:t>
            </a: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System.out.println("아이디:" + user_id);</a:t>
            </a: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System.out.println("비밀번호:" + user_pw);</a:t>
            </a: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}</a:t>
            </a:r>
          </a:p>
          <a:p>
            <a:pPr lvl="0">
              <a:defRPr/>
            </a:pPr>
            <a:endParaRPr lang="ko-KR" altLang="en-US" sz="1200" b="1">
              <a:latin typeface="한컴산뜻돋움"/>
              <a:ea typeface="한컴산뜻돋움"/>
            </a:endParaRP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public void destroy() {</a:t>
            </a: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System.out.println("destroy 메서드 호출");</a:t>
            </a: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}</a:t>
            </a:r>
          </a:p>
          <a:p>
            <a:pPr lvl="0"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550504"/>
            <a:ext cx="7704602" cy="266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웹 브라우저에서 로그인창을 요청한 후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비밀번호를 입력하고 로그인을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6348" y="3657600"/>
            <a:ext cx="7792278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ko-KR" altLang="en-US" sz="1200">
                <a:latin typeface="+mj-ea"/>
                <a:ea typeface="+mj-ea"/>
              </a:rPr>
              <a:t>웹 브라우저에서 전송되는 데이터는 </a:t>
            </a:r>
            <a:r>
              <a:rPr lang="en-US" altLang="ko-KR" sz="1200">
                <a:latin typeface="+mj-ea"/>
                <a:ea typeface="+mj-ea"/>
              </a:rPr>
              <a:t>TCP/IP</a:t>
            </a:r>
            <a:r>
              <a:rPr lang="ko-KR" altLang="en-US" sz="1200">
                <a:latin typeface="+mj-ea"/>
                <a:ea typeface="+mj-ea"/>
              </a:rPr>
              <a:t>의 헤더에 숨겨진 채 전송되므로 브라우저의 주소창을 보면 </a:t>
            </a:r>
            <a:r>
              <a:rPr lang="en-US" altLang="ko-KR" sz="1200">
                <a:latin typeface="+mj-ea"/>
                <a:ea typeface="+mj-ea"/>
              </a:rPr>
              <a:t>URL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뒤에는 아무것도 표시되지 않습니다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021579" y="1986998"/>
            <a:ext cx="3438525" cy="15811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2059679" y="4604094"/>
            <a:ext cx="3400425" cy="12477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3160643" y="5118652"/>
            <a:ext cx="1918253" cy="20872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17429" y="711235"/>
            <a:ext cx="756308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6.5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웹 브라우저에서 서블릿으로 데이터 전송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65921" y="1600200"/>
            <a:ext cx="7712764" cy="264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서블릿에서는 웹 브라우저에서 전송되는 방식에 따라 </a:t>
            </a:r>
            <a:r>
              <a:rPr lang="en-US" altLang="ko-KR" sz="1200">
                <a:latin typeface="+mj-ea"/>
                <a:ea typeface="+mj-ea"/>
              </a:rPr>
              <a:t>doGet()</a:t>
            </a:r>
            <a:r>
              <a:rPr lang="ko-KR" altLang="en-US" sz="1200">
                <a:latin typeface="+mj-ea"/>
                <a:ea typeface="+mj-ea"/>
              </a:rPr>
              <a:t>이나 </a:t>
            </a:r>
            <a:r>
              <a:rPr lang="en-US" altLang="ko-KR" sz="1200">
                <a:latin typeface="+mj-ea"/>
                <a:ea typeface="+mj-ea"/>
              </a:rPr>
              <a:t>doPost() </a:t>
            </a:r>
            <a:r>
              <a:rPr lang="ko-KR" altLang="en-US" sz="1200">
                <a:latin typeface="+mj-ea"/>
                <a:ea typeface="+mj-ea"/>
              </a:rPr>
              <a:t>메서드로 대응해서 처리해야함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5" name="아래쪽 화살표 4"/>
          <p:cNvSpPr/>
          <p:nvPr/>
        </p:nvSpPr>
        <p:spPr>
          <a:xfrm>
            <a:off x="3497610" y="4321700"/>
            <a:ext cx="304178" cy="36295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000299" y="1877199"/>
            <a:ext cx="5943600" cy="8197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1000299" y="3028931"/>
            <a:ext cx="5943600" cy="11861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/>
          <p:cNvPicPr/>
          <p:nvPr/>
        </p:nvPicPr>
        <p:blipFill rotWithShape="1">
          <a:blip r:embed="rId4">
            <a:alphaModFix/>
            <a:lum/>
          </a:blip>
          <a:stretch>
            <a:fillRect/>
          </a:stretch>
        </p:blipFill>
        <p:spPr>
          <a:xfrm>
            <a:off x="1687007" y="4810539"/>
            <a:ext cx="4037023" cy="18294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1687007" y="5426765"/>
            <a:ext cx="3292497" cy="17890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517429" y="711235"/>
            <a:ext cx="756308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6.5 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웹 브라우저에서 서블릿으로 데이터 전송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247697" y="1864995"/>
            <a:ext cx="441434" cy="2055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6.6 GET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방식과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POST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방식 요청 동시에 처리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449899"/>
            <a:ext cx="8330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n-ea"/>
              </a:rPr>
              <a:t>1. </a:t>
            </a:r>
            <a:r>
              <a:rPr lang="ko-KR" altLang="en-US" sz="1200">
                <a:latin typeface="+mn-ea"/>
              </a:rPr>
              <a:t>앞에서 실습한 </a:t>
            </a:r>
            <a:r>
              <a:rPr lang="en-US" altLang="ko-KR" sz="1200">
                <a:latin typeface="+mn-ea"/>
              </a:rPr>
              <a:t>login.html</a:t>
            </a:r>
            <a:r>
              <a:rPr lang="ko-KR" altLang="en-US" sz="1200">
                <a:latin typeface="+mn-ea"/>
              </a:rPr>
              <a:t>을 다음과 같이 수정합니다</a:t>
            </a:r>
            <a:r>
              <a:rPr lang="en-US" altLang="ko-KR" sz="1200">
                <a:latin typeface="+mn-ea"/>
              </a:rPr>
              <a:t>. GET </a:t>
            </a:r>
            <a:r>
              <a:rPr lang="ko-KR" altLang="en-US" sz="1200">
                <a:latin typeface="+mn-ea"/>
              </a:rPr>
              <a:t>방식으로 로그인하기 위해 </a:t>
            </a:r>
            <a:r>
              <a:rPr lang="en-US" altLang="ko-KR" sz="1200">
                <a:latin typeface="+mn-ea"/>
              </a:rPr>
              <a:t>method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get</a:t>
            </a:r>
            <a:r>
              <a:rPr lang="ko-KR" altLang="en-US" sz="1200">
                <a:latin typeface="+mn-ea"/>
              </a:rPr>
              <a:t>으로</a:t>
            </a:r>
            <a:r>
              <a:rPr lang="en-US" altLang="ko-KR" sz="1200">
                <a:latin typeface="+mn-ea"/>
              </a:rPr>
              <a:t>, action</a:t>
            </a:r>
            <a:r>
              <a:rPr lang="ko-KR" altLang="en-US" sz="1200">
                <a:latin typeface="+mn-ea"/>
              </a:rPr>
              <a:t>은</a:t>
            </a:r>
          </a:p>
          <a:p>
            <a:pPr lvl="0"/>
            <a:r>
              <a:rPr lang="en-US" altLang="ko-KR" sz="1200">
                <a:latin typeface="+mn-ea"/>
              </a:rPr>
              <a:t>    login4</a:t>
            </a:r>
            <a:r>
              <a:rPr lang="ko-KR" altLang="en-US" sz="1200">
                <a:latin typeface="+mn-ea"/>
              </a:rPr>
              <a:t>로 수정합니다</a:t>
            </a:r>
            <a:r>
              <a:rPr lang="en-US" altLang="ko-KR" sz="1200">
                <a:latin typeface="+mn-ea"/>
              </a:rPr>
              <a:t>.</a:t>
            </a:r>
            <a:endParaRPr lang="ko-KR" altLang="en-US" sz="1200">
              <a:latin typeface="+mn-ea"/>
            </a:endParaRP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26190" y="2028825"/>
            <a:ext cx="6457950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05119" y="3081130"/>
            <a:ext cx="81319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sec03.ex02 </a:t>
            </a:r>
            <a:r>
              <a:rPr lang="ko-KR" altLang="en-US" sz="1200">
                <a:latin typeface="+mj-ea"/>
                <a:ea typeface="+mj-ea"/>
              </a:rPr>
              <a:t>패키지에 </a:t>
            </a:r>
            <a:r>
              <a:rPr lang="en-US" altLang="ko-KR" sz="1200">
                <a:latin typeface="+mj-ea"/>
                <a:ea typeface="+mj-ea"/>
              </a:rPr>
              <a:t>LoginServlet4 </a:t>
            </a:r>
            <a:r>
              <a:rPr lang="ko-KR" altLang="en-US" sz="1200">
                <a:latin typeface="+mj-ea"/>
                <a:ea typeface="+mj-ea"/>
              </a:rPr>
              <a:t>서블릿을 만들 때 </a:t>
            </a:r>
            <a:r>
              <a:rPr lang="en-US" altLang="ko-KR" sz="1200">
                <a:latin typeface="+mj-ea"/>
                <a:ea typeface="+mj-ea"/>
              </a:rPr>
              <a:t>doGet()</a:t>
            </a:r>
            <a:r>
              <a:rPr lang="ko-KR" altLang="en-US" sz="1200">
                <a:latin typeface="+mj-ea"/>
                <a:ea typeface="+mj-ea"/>
              </a:rPr>
              <a:t>과 </a:t>
            </a:r>
            <a:r>
              <a:rPr lang="en-US" altLang="ko-KR" sz="1200">
                <a:latin typeface="+mj-ea"/>
                <a:ea typeface="+mj-ea"/>
              </a:rPr>
              <a:t>doPost()</a:t>
            </a:r>
            <a:r>
              <a:rPr lang="ko-KR" altLang="en-US" sz="1200">
                <a:latin typeface="+mj-ea"/>
                <a:ea typeface="+mj-ea"/>
              </a:rPr>
              <a:t>를 모두 추가합니다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" name="그림 7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2434044" y="3438938"/>
            <a:ext cx="3529433" cy="33296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2604052" y="6013173"/>
            <a:ext cx="536713" cy="10933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133790" y="5864086"/>
            <a:ext cx="536713" cy="10933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38915" name="가로 글상자 38914"/>
          <p:cNvSpPr txBox="1"/>
          <p:nvPr/>
        </p:nvSpPr>
        <p:spPr>
          <a:xfrm>
            <a:off x="1911760" y="2105944"/>
            <a:ext cx="1333499" cy="179442"/>
          </a:xfrm>
          <a:prstGeom prst="rect">
            <a:avLst/>
          </a:prstGeom>
          <a:solidFill>
            <a:srgbClr val="D8BEE4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200"/>
              <a:t>webapp/login.html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505119" y="1359427"/>
            <a:ext cx="8281072" cy="448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LoginServlet4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 doGet()</a:t>
            </a:r>
            <a:r>
              <a:rPr lang="ko-KR" altLang="en-US" sz="1200">
                <a:latin typeface="+mj-ea"/>
                <a:ea typeface="+mj-ea"/>
              </a:rPr>
              <a:t>과 </a:t>
            </a:r>
            <a:r>
              <a:rPr lang="en-US" altLang="ko-KR" sz="1200">
                <a:latin typeface="+mj-ea"/>
                <a:ea typeface="+mj-ea"/>
              </a:rPr>
              <a:t>doPost() </a:t>
            </a:r>
            <a:r>
              <a:rPr lang="ko-KR" altLang="en-US" sz="1200">
                <a:latin typeface="+mj-ea"/>
                <a:ea typeface="+mj-ea"/>
              </a:rPr>
              <a:t>메서드에서 </a:t>
            </a:r>
            <a:r>
              <a:rPr lang="en-US" altLang="ko-KR" sz="1200">
                <a:latin typeface="+mj-ea"/>
                <a:ea typeface="+mj-ea"/>
              </a:rPr>
              <a:t>doHandle() </a:t>
            </a:r>
            <a:r>
              <a:rPr lang="ko-KR" altLang="en-US" sz="1200">
                <a:latin typeface="+mj-ea"/>
                <a:ea typeface="+mj-ea"/>
              </a:rPr>
              <a:t>메서드를 재호출하여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모든 방식의 요청을 처리합니다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6.6 GET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방식과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POST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방식 요청 동시에 처리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411356" y="1821092"/>
            <a:ext cx="5560580" cy="4917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9939" name="TextBox 2"/>
          <p:cNvSpPr txBox="1"/>
          <p:nvPr/>
        </p:nvSpPr>
        <p:spPr>
          <a:xfrm>
            <a:off x="0" y="545221"/>
            <a:ext cx="9144000" cy="5939399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@WebServlet("/login4")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public class LoginServlet4 extends HttpServlet {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public void init() throws ServletException {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System.out.println("init 메서드 호출");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}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protected void doGet(HttpServletRequest request, HttpServletResponse response) throws ServletException, IOException {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System.out.println("doGet 메서드 호출");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</a:t>
            </a:r>
            <a:r>
              <a:rPr kumimoji="0" lang="ko-KR" altLang="en-US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doHandle(request, response);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}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protected void doPost(HttpServletRequest request, HttpServletResponse response) throws ServletException, IOException {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System.out.println("doPost 메서드 호출");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</a:t>
            </a:r>
            <a:r>
              <a:rPr kumimoji="0" lang="ko-KR" altLang="en-US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doHandle(request, response);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}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private void </a:t>
            </a:r>
            <a:r>
              <a:rPr kumimoji="0" lang="ko-KR" altLang="en-US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doHandle</a:t>
            </a: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(HttpServletRequest request, HttpServletResponse response) throws ServletException, IOException {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request.setCharacterEncoding("utf-8");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System.out.println("doHandle 메서드 호출");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String user_id = request.getParameter("user_id");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String user_pw = request.getParameter("user_pw");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System.out.println("아이디:" + user_id);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System.out.println("비밀번호:" + user_pw);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}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public void destroy() {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System.out.println("destroy 메서드 호출");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}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407504" y="1449899"/>
            <a:ext cx="78320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en-US" altLang="ko-KR" sz="1200">
                <a:latin typeface="+mj-ea"/>
                <a:ea typeface="+mj-ea"/>
              </a:rPr>
              <a:t>GET </a:t>
            </a:r>
            <a:r>
              <a:rPr lang="ko-KR" altLang="en-US" sz="1200">
                <a:latin typeface="+mj-ea"/>
                <a:ea typeface="+mj-ea"/>
              </a:rPr>
              <a:t>방식과 </a:t>
            </a:r>
            <a:r>
              <a:rPr lang="en-US" altLang="ko-KR" sz="1200">
                <a:latin typeface="+mj-ea"/>
                <a:ea typeface="+mj-ea"/>
              </a:rPr>
              <a:t>POST </a:t>
            </a:r>
            <a:r>
              <a:rPr lang="ko-KR" altLang="en-US" sz="1200">
                <a:latin typeface="+mj-ea"/>
                <a:ea typeface="+mj-ea"/>
              </a:rPr>
              <a:t>방식으로 각각 요청해 보겠습니다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두 방식 모두 </a:t>
            </a:r>
            <a:r>
              <a:rPr lang="en-US" altLang="ko-KR" sz="1200">
                <a:latin typeface="+mj-ea"/>
                <a:ea typeface="+mj-ea"/>
              </a:rPr>
              <a:t>doHandle() </a:t>
            </a:r>
            <a:r>
              <a:rPr lang="ko-KR" altLang="en-US" sz="1200">
                <a:latin typeface="+mj-ea"/>
                <a:ea typeface="+mj-ea"/>
              </a:rPr>
              <a:t>메서드로 처리한 후 결과를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출력합니다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505119" y="2132385"/>
            <a:ext cx="3132455" cy="1351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3799117" y="2132385"/>
            <a:ext cx="4838700" cy="1143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/>
          <p:cNvPicPr/>
          <p:nvPr/>
        </p:nvPicPr>
        <p:blipFill rotWithShape="1">
          <a:blip r:embed="rId4">
            <a:alphaModFix/>
            <a:lum/>
          </a:blip>
          <a:stretch>
            <a:fillRect/>
          </a:stretch>
        </p:blipFill>
        <p:spPr>
          <a:xfrm>
            <a:off x="606563" y="3863450"/>
            <a:ext cx="2146300" cy="11785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6.6 GET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방식과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POST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방식 요청 동시에 처리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425606" y="1488358"/>
            <a:ext cx="77642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ko-KR" altLang="en-US" sz="1200">
                <a:latin typeface="+mj-ea"/>
                <a:ea typeface="+mj-ea"/>
              </a:rPr>
              <a:t>로그인창의 </a:t>
            </a:r>
            <a:r>
              <a:rPr lang="en-US" altLang="ko-KR" sz="1200">
                <a:latin typeface="+mj-ea"/>
                <a:ea typeface="+mj-ea"/>
              </a:rPr>
              <a:t>method </a:t>
            </a:r>
            <a:r>
              <a:rPr lang="ko-KR" altLang="en-US" sz="1200">
                <a:latin typeface="+mj-ea"/>
                <a:ea typeface="+mj-ea"/>
              </a:rPr>
              <a:t>속성을 </a:t>
            </a:r>
            <a:r>
              <a:rPr lang="en-US" altLang="ko-KR" sz="1200">
                <a:latin typeface="+mj-ea"/>
                <a:ea typeface="+mj-ea"/>
              </a:rPr>
              <a:t>post</a:t>
            </a:r>
            <a:r>
              <a:rPr lang="ko-KR" altLang="en-US" sz="1200">
                <a:latin typeface="+mj-ea"/>
                <a:ea typeface="+mj-ea"/>
              </a:rPr>
              <a:t>로 변경한 후 요청하면 </a:t>
            </a:r>
            <a:r>
              <a:rPr lang="en-US" altLang="ko-KR" sz="1200">
                <a:latin typeface="+mj-ea"/>
                <a:ea typeface="+mj-ea"/>
              </a:rPr>
              <a:t>doHandle() </a:t>
            </a:r>
            <a:r>
              <a:rPr lang="ko-KR" altLang="en-US" sz="1200">
                <a:latin typeface="+mj-ea"/>
                <a:ea typeface="+mj-ea"/>
              </a:rPr>
              <a:t>메서드로 처리한 후 결과를 출력합니다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324274" y="1835703"/>
            <a:ext cx="6543555" cy="68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그림 6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1368848" y="3194395"/>
            <a:ext cx="2105025" cy="8667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5119" y="711235"/>
            <a:ext cx="76250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6.6 GET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방식과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POST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방식 요청 동시에 처리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099" name="가로 글상자 4098"/>
          <p:cNvSpPr txBox="1"/>
          <p:nvPr/>
        </p:nvSpPr>
        <p:spPr>
          <a:xfrm>
            <a:off x="2094885" y="1904383"/>
            <a:ext cx="1333499" cy="179442"/>
          </a:xfrm>
          <a:prstGeom prst="rect">
            <a:avLst/>
          </a:prstGeom>
          <a:solidFill>
            <a:srgbClr val="D8BEE4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200"/>
              <a:t>webapp/login.html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540565"/>
            <a:ext cx="7585332" cy="44825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실무에선 자바스크립트에서 먼저 입력한 값에 대해서 유효성 검사를 한 후 자바스크립트에서 서블릿에 요청함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7443" y="2256183"/>
            <a:ext cx="8130208" cy="266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ko-KR" altLang="en-US" sz="1200">
                <a:latin typeface="+mj-ea"/>
                <a:ea typeface="+mj-ea"/>
              </a:rPr>
              <a:t>다음과 같이 </a:t>
            </a:r>
            <a:r>
              <a:rPr lang="en-US" altLang="ko-KR" sz="1200">
                <a:latin typeface="+mj-ea"/>
                <a:ea typeface="+mj-ea"/>
              </a:rPr>
              <a:t>sec03.ex03 </a:t>
            </a:r>
            <a:r>
              <a:rPr lang="ko-KR" altLang="en-US" sz="1200">
                <a:latin typeface="+mj-ea"/>
                <a:ea typeface="+mj-ea"/>
              </a:rPr>
              <a:t>패키지에 </a:t>
            </a:r>
            <a:r>
              <a:rPr lang="en-US" altLang="ko-KR" sz="1200">
                <a:latin typeface="+mj-ea"/>
                <a:ea typeface="+mj-ea"/>
              </a:rPr>
              <a:t>LoginServlet5 </a:t>
            </a:r>
            <a:r>
              <a:rPr lang="ko-KR" altLang="en-US" sz="1200">
                <a:latin typeface="+mj-ea"/>
                <a:ea typeface="+mj-ea"/>
              </a:rPr>
              <a:t>클래스를 생성하고 </a:t>
            </a:r>
            <a:r>
              <a:rPr lang="en-US" altLang="ko-KR" sz="1200">
                <a:latin typeface="+mj-ea"/>
                <a:ea typeface="+mj-ea"/>
              </a:rPr>
              <a:t>login2.html</a:t>
            </a:r>
            <a:r>
              <a:rPr lang="ko-KR" altLang="en-US" sz="1200">
                <a:latin typeface="+mj-ea"/>
                <a:ea typeface="+mj-ea"/>
              </a:rPr>
              <a:t>을 추가로 생성합니다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7" name="그림 6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834916" y="2608525"/>
            <a:ext cx="1963420" cy="35890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11052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6.7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자바스크립트로 서블릿에 요청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가로 글상자 8"/>
          <p:cNvSpPr txBox="1"/>
          <p:nvPr/>
        </p:nvSpPr>
        <p:spPr>
          <a:xfrm>
            <a:off x="3280901" y="5104781"/>
            <a:ext cx="688257" cy="162544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100"/>
              <a:t>webapp</a:t>
            </a:r>
          </a:p>
        </p:txBody>
      </p:sp>
      <p:sp>
        <p:nvSpPr>
          <p:cNvPr id="10" name="가로 글상자 9"/>
          <p:cNvSpPr txBox="1"/>
          <p:nvPr/>
        </p:nvSpPr>
        <p:spPr>
          <a:xfrm>
            <a:off x="3420702" y="3221599"/>
            <a:ext cx="860322" cy="124749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900" b="1"/>
              <a:t>src/main/java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11052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6.7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자바스크립트로 서블릿에 요청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4478" y="1381540"/>
            <a:ext cx="8100392" cy="445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ko-KR" altLang="en-US" sz="1200">
                <a:latin typeface="+mj-ea"/>
                <a:ea typeface="+mj-ea"/>
              </a:rPr>
              <a:t>다음과 같이 </a:t>
            </a:r>
            <a:r>
              <a:rPr lang="en-US" altLang="ko-KR" sz="1200">
                <a:latin typeface="+mj-ea"/>
                <a:ea typeface="+mj-ea"/>
              </a:rPr>
              <a:t>login2.html</a:t>
            </a:r>
            <a:r>
              <a:rPr lang="ko-KR" altLang="en-US" sz="1200">
                <a:latin typeface="+mj-ea"/>
                <a:ea typeface="+mj-ea"/>
              </a:rPr>
              <a:t>을 작성합니다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자바스크립트 함수에서 </a:t>
            </a:r>
            <a:r>
              <a:rPr lang="en-US" altLang="ko-KR" sz="1200">
                <a:latin typeface="+mj-ea"/>
                <a:ea typeface="+mj-ea"/>
              </a:rPr>
              <a:t>&lt;form&gt; </a:t>
            </a:r>
            <a:r>
              <a:rPr lang="ko-KR" altLang="en-US" sz="1200">
                <a:latin typeface="+mj-ea"/>
                <a:ea typeface="+mj-ea"/>
              </a:rPr>
              <a:t>태그에 접근하여 값 입력 여부를 체크한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후 </a:t>
            </a:r>
            <a:r>
              <a:rPr lang="en-US" altLang="ko-KR" sz="1200">
                <a:latin typeface="+mj-ea"/>
                <a:ea typeface="+mj-ea"/>
              </a:rPr>
              <a:t>action </a:t>
            </a:r>
            <a:r>
              <a:rPr lang="ko-KR" altLang="en-US" sz="1200">
                <a:latin typeface="+mj-ea"/>
                <a:ea typeface="+mj-ea"/>
              </a:rPr>
              <a:t>속성에 전송할 서블릿 이름을 지정합니다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2190639" y="1843205"/>
            <a:ext cx="4343096" cy="5047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11052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6.7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자바스크립트로 서블릿에 요청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4035" name="TextBox 44034"/>
          <p:cNvSpPr txBox="1"/>
          <p:nvPr/>
        </p:nvSpPr>
        <p:spPr>
          <a:xfrm>
            <a:off x="0" y="465851"/>
            <a:ext cx="9144000" cy="6123544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&lt;!DOCTYPE html&gt;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&lt;html&gt;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&lt;head&gt;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&lt;meta charset="UTF-8"&gt;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&lt;script type="text/javascript" 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function 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fn_validate()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{	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var frmLogin=document.frmLogin;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var user_id=frmLogin.user_id.value;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var user_pw=frmLogin.user_pw.value;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if((user_id.length==0 ||user_id=="") ||(user_pw.length==0 ||user_pw=="")){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 alert("아이디와 비밀번호는 필수입니다.");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}else{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783E94"/>
                </a:solidFill>
                <a:latin typeface="한컴산뜻돋움"/>
                <a:ea typeface="한컴산뜻돋움"/>
              </a:rPr>
              <a:t>frmLogin.method="post";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783E94"/>
                </a:solidFill>
                <a:latin typeface="한컴산뜻돋움"/>
                <a:ea typeface="한컴산뜻돋움"/>
              </a:rPr>
              <a:t>	frmLogin.action="login5";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783E94"/>
                </a:solidFill>
                <a:latin typeface="한컴산뜻돋움"/>
                <a:ea typeface="한컴산뜻돋움"/>
              </a:rPr>
              <a:t>	frmLogin.submit();</a:t>
            </a: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}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}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&lt;/script&gt;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&lt;title&gt;로그인창&lt;/title&gt;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&lt;/head&gt;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&lt;body&gt;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&lt;form name="frmLogin" method="post" action="login" encType="UTF-8"&gt;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아이디  :&lt;input type="text" name="user_id"&gt;&lt;br&gt;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비밀번호:&lt;input type="password" name="user_pw"&gt;&lt;br&gt;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&lt;input type="button" onClick="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fn_validate()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" value="로그인"&gt;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&lt;input type="reset" value="다시입력"&gt;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&lt;input type="hidden" name="user_address" value="서울시 성북구" /&gt;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&lt;/form&gt;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&lt;/body&gt;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&lt;/html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154774" y="1524137"/>
            <a:ext cx="6548645" cy="51862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47525" y="1247138"/>
            <a:ext cx="7754298" cy="26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LoginServlet5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V="1">
            <a:off x="1475426" y="4257994"/>
            <a:ext cx="432887" cy="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9923" y="4117250"/>
            <a:ext cx="844826" cy="262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100" b="1">
                <a:solidFill>
                  <a:srgbClr val="FF0000"/>
                </a:solidFill>
              </a:rPr>
              <a:t>protected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052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6.7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자바스크립트로 서블릿에 요청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081386" y="1412261"/>
            <a:ext cx="6643688" cy="40153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11052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6.7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자바스크립트로 서블릿에 요청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5123" name="TextBox 5122"/>
          <p:cNvSpPr txBox="1"/>
          <p:nvPr/>
        </p:nvSpPr>
        <p:spPr>
          <a:xfrm>
            <a:off x="0" y="462279"/>
            <a:ext cx="9144000" cy="6129021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@WebServlet("/login5")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public class LoginServlet5 extends HttpServlet {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public void init() {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System.out.println("init 메서드 호출");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}</a:t>
            </a:r>
          </a:p>
          <a:p>
            <a:pPr>
              <a:defRPr/>
            </a:pPr>
            <a:endParaRPr lang="ko-KR" altLang="en-US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protected void doPost(HttpServletRequest request, HttpServletResponse response) throws ServletException, IOException {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request.setCharacterEncoding("utf-8");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response.setContentType("text/html;charset=utf-8");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</a:t>
            </a:r>
            <a:r>
              <a:rPr lang="ko-KR" altLang="en-US" sz="1200" b="1">
                <a:solidFill>
                  <a:srgbClr val="800080"/>
                </a:solidFill>
                <a:latin typeface="한컴산뜻돋움"/>
                <a:ea typeface="한컴산뜻돋움"/>
              </a:rPr>
              <a:t>PrintWriter</a:t>
            </a:r>
            <a:r>
              <a:rPr lang="ko-KR" altLang="en-US" sz="1200" b="1">
                <a:latin typeface="한컴산뜻돋움"/>
                <a:ea typeface="한컴산뜻돋움"/>
              </a:rPr>
              <a:t> </a:t>
            </a:r>
            <a:r>
              <a:rPr lang="ko-KR" altLang="en-US" sz="1200" b="1">
                <a:solidFill>
                  <a:srgbClr val="FF0000"/>
                </a:solidFill>
                <a:latin typeface="한컴산뜻돋움"/>
                <a:ea typeface="한컴산뜻돋움"/>
              </a:rPr>
              <a:t>out</a:t>
            </a:r>
            <a:r>
              <a:rPr lang="ko-KR" altLang="en-US" sz="1200" b="1">
                <a:latin typeface="한컴산뜻돋움"/>
                <a:ea typeface="한컴산뜻돋움"/>
              </a:rPr>
              <a:t> = response.</a:t>
            </a:r>
            <a:r>
              <a:rPr lang="ko-KR" altLang="en-US" sz="1200" b="1">
                <a:solidFill>
                  <a:srgbClr val="800080"/>
                </a:solidFill>
                <a:latin typeface="한컴산뜻돋움"/>
                <a:ea typeface="한컴산뜻돋움"/>
              </a:rPr>
              <a:t>getWriter()</a:t>
            </a:r>
            <a:r>
              <a:rPr lang="ko-KR" altLang="en-US" sz="1200" b="1">
                <a:latin typeface="한컴산뜻돋움"/>
                <a:ea typeface="한컴산뜻돋움"/>
              </a:rPr>
              <a:t>;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String id = request.getParameter("user_id");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String pw = request.getParameter("user_pw");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String address = request.getParameter("user_address");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System.out.println("아이디   : " + id);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System.out.println("비밀번호 : " + pw);</a:t>
            </a:r>
          </a:p>
          <a:p>
            <a:pPr>
              <a:defRPr/>
            </a:pPr>
            <a:endParaRPr lang="ko-KR" altLang="en-US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String data = "&lt;html&gt;";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data += "&lt;body&gt;";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data += "아이디 : " + id;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data += "&lt;br&gt;";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data += "비밀번호 : " + pw;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data += "&lt;br&gt;";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data += "주소 : " + address;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data += "&lt;/html&gt;";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data += "&lt;/body&gt;";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</a:t>
            </a:r>
            <a:r>
              <a:rPr lang="ko-KR" altLang="en-US" sz="1200" b="1">
                <a:solidFill>
                  <a:srgbClr val="FF0000"/>
                </a:solidFill>
                <a:latin typeface="한컴산뜻돋움"/>
                <a:ea typeface="한컴산뜻돋움"/>
              </a:rPr>
              <a:t>out</a:t>
            </a:r>
            <a:r>
              <a:rPr lang="ko-KR" altLang="en-US" sz="1200" b="1">
                <a:latin typeface="한컴산뜻돋움"/>
                <a:ea typeface="한컴산뜻돋움"/>
              </a:rPr>
              <a:t>.print(data);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}</a:t>
            </a:r>
          </a:p>
          <a:p>
            <a:pPr>
              <a:defRPr/>
            </a:pPr>
            <a:endParaRPr lang="ko-KR" altLang="en-US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public void destroy() {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	System.out.println("destroy 메서드 호출");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	}</a:t>
            </a:r>
          </a:p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417443" y="1580322"/>
            <a:ext cx="7981122" cy="446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en-US" altLang="ko-KR" sz="1200">
                <a:latin typeface="+mj-ea"/>
                <a:ea typeface="+mj-ea"/>
              </a:rPr>
              <a:t>http://localhost:8090/pro06/login2.html</a:t>
            </a:r>
            <a:r>
              <a:rPr lang="ko-KR" altLang="en-US" sz="1200">
                <a:latin typeface="+mj-ea"/>
                <a:ea typeface="+mj-ea"/>
              </a:rPr>
              <a:t>로 요청합니다</a:t>
            </a:r>
            <a:r>
              <a:rPr lang="en-US" altLang="ko-KR" sz="1200">
                <a:latin typeface="+mj-ea"/>
                <a:ea typeface="+mj-ea"/>
              </a:rPr>
              <a:t>. ID</a:t>
            </a:r>
            <a:r>
              <a:rPr lang="ko-KR" altLang="en-US" sz="1200">
                <a:latin typeface="+mj-ea"/>
                <a:ea typeface="+mj-ea"/>
              </a:rPr>
              <a:t>와 비밀번호를 입력하지 않고 로그인을 클릭하면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</a:t>
            </a:r>
            <a:r>
              <a:rPr lang="ko-KR" altLang="en-US" sz="1200">
                <a:latin typeface="+mj-ea"/>
                <a:ea typeface="+mj-ea"/>
              </a:rPr>
              <a:t>  오류 창이 나타납니다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7" name="그림 6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959692" y="2133213"/>
            <a:ext cx="5634355" cy="15976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959692" y="4554192"/>
            <a:ext cx="3009900" cy="14668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40424" y="4313583"/>
            <a:ext cx="5063421" cy="266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ko-KR" sz="1200" b="1"/>
              <a:t>아이디와 비밀번호를 정상적으로 입력한 경우</a:t>
            </a:r>
            <a:endParaRPr lang="ko-KR" altLang="en-US" sz="1200" b="1"/>
          </a:p>
        </p:txBody>
      </p:sp>
      <p:sp>
        <p:nvSpPr>
          <p:cNvPr id="9" name="TextBox 8"/>
          <p:cNvSpPr txBox="1"/>
          <p:nvPr/>
        </p:nvSpPr>
        <p:spPr>
          <a:xfrm>
            <a:off x="111052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6.7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자바스크립트로 서블릿에 요청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5" name="TextBox 4"/>
          <p:cNvSpPr txBox="1"/>
          <p:nvPr/>
        </p:nvSpPr>
        <p:spPr>
          <a:xfrm>
            <a:off x="517429" y="1351707"/>
            <a:ext cx="8039111" cy="494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6.8.1 </a:t>
            </a:r>
            <a:r>
              <a:rPr lang="ko-KR" altLang="en-US" b="1"/>
              <a:t>서블릿에 로그인 요청 시 유효성 검사하기</a:t>
            </a:r>
            <a:endParaRPr lang="en-US" altLang="ko-KR" b="1" spc="-95"/>
          </a:p>
        </p:txBody>
      </p:sp>
      <p:sp>
        <p:nvSpPr>
          <p:cNvPr id="4" name="TextBox 3"/>
          <p:cNvSpPr txBox="1"/>
          <p:nvPr/>
        </p:nvSpPr>
        <p:spPr>
          <a:xfrm>
            <a:off x="505119" y="1804973"/>
            <a:ext cx="8051423" cy="45054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ko-KR" altLang="en-US" sz="1200">
                <a:latin typeface="+mj-ea"/>
                <a:ea typeface="+mj-ea"/>
              </a:rPr>
              <a:t>문제</a:t>
            </a:r>
            <a:r>
              <a:rPr lang="en-US" altLang="ko-KR" sz="1200">
                <a:latin typeface="+mj-ea"/>
                <a:ea typeface="+mj-ea"/>
              </a:rPr>
              <a:t>: ID</a:t>
            </a:r>
            <a:r>
              <a:rPr lang="ko-KR" altLang="en-US" sz="1200">
                <a:latin typeface="+mj-ea"/>
                <a:ea typeface="+mj-ea"/>
              </a:rPr>
              <a:t>를 정상적으로 입력했을 때는 로그인 메시지를 표시하고</a:t>
            </a:r>
            <a:r>
              <a:rPr lang="en-US" altLang="ko-KR" sz="1200">
                <a:latin typeface="+mj-ea"/>
                <a:ea typeface="+mj-ea"/>
              </a:rPr>
              <a:t>, ID</a:t>
            </a:r>
            <a:r>
              <a:rPr lang="ko-KR" altLang="en-US" sz="1200">
                <a:latin typeface="+mj-ea"/>
                <a:ea typeface="+mj-ea"/>
              </a:rPr>
              <a:t>를 입력하지 않았을 때는 다시 로그인하라는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    </a:t>
            </a:r>
            <a:r>
              <a:rPr lang="ko-KR" altLang="en-US" sz="1200">
                <a:latin typeface="+mj-ea"/>
                <a:ea typeface="+mj-ea"/>
              </a:rPr>
              <a:t> 메시지를 표시하도록 작성하시오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7342" y="2384477"/>
            <a:ext cx="7694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test01 </a:t>
            </a:r>
            <a:r>
              <a:rPr lang="ko-KR" altLang="en-US" sz="1200">
                <a:latin typeface="+mj-ea"/>
                <a:ea typeface="+mj-ea"/>
              </a:rPr>
              <a:t>폴더에 </a:t>
            </a:r>
            <a:r>
              <a:rPr lang="en-US" altLang="ko-KR" sz="1200">
                <a:latin typeface="+mj-ea"/>
                <a:ea typeface="+mj-ea"/>
              </a:rPr>
              <a:t>login.html</a:t>
            </a:r>
            <a:r>
              <a:rPr lang="ko-KR" altLang="en-US" sz="1200">
                <a:latin typeface="+mj-ea"/>
                <a:ea typeface="+mj-ea"/>
              </a:rPr>
              <a:t>을 만들고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324274" y="2824602"/>
            <a:ext cx="6132029" cy="347542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505119" y="711235"/>
            <a:ext cx="758533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6.8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서블릿을 이용한 여러 가지 실습 예제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107" name="직사각형 47106"/>
          <p:cNvSpPr/>
          <p:nvPr/>
        </p:nvSpPr>
        <p:spPr>
          <a:xfrm>
            <a:off x="4572000" y="3751621"/>
            <a:ext cx="2888226" cy="749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7108" name="가로 글상자 47107"/>
          <p:cNvSpPr txBox="1"/>
          <p:nvPr/>
        </p:nvSpPr>
        <p:spPr>
          <a:xfrm>
            <a:off x="2385244" y="2874703"/>
            <a:ext cx="2034047" cy="179442"/>
          </a:xfrm>
          <a:prstGeom prst="rect">
            <a:avLst/>
          </a:prstGeom>
          <a:solidFill>
            <a:srgbClr val="D8BEE4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200"/>
              <a:t>webapp/test01/login.html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47107" name="TextBox 47106"/>
          <p:cNvSpPr txBox="1"/>
          <p:nvPr/>
        </p:nvSpPr>
        <p:spPr>
          <a:xfrm>
            <a:off x="0" y="1482670"/>
            <a:ext cx="9144000" cy="2649275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&lt;!DOCTYPE html&gt;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&lt;html&gt;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&lt;head&gt;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&lt;meta charset="UTF-8"&gt;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&lt;title&gt;로그인창&lt;/title&gt;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&lt;/head&gt;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&lt;body&gt;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&lt;form name="frmLogin" method="post" action="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/pro06/loginTest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"  encType="UTF-8"&gt;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아이디  :&lt;input type="text" name="user_id"&gt;&lt;br&gt;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</a:t>
            </a: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비밀번호:&lt;input type="password" name="user_pw" &gt;&lt;br&gt;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&lt;input type="submit" value="로그인"&gt;  &lt;input type="reset" value="다시입력"&gt;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&lt;/form&gt;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&lt;/body&gt;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&lt;/html&gt;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1056089" y="1961998"/>
            <a:ext cx="6693384" cy="4911468"/>
            <a:chOff x="1056089" y="1961998"/>
            <a:chExt cx="6693384" cy="4911468"/>
          </a:xfrm>
        </p:grpSpPr>
        <p:pic>
          <p:nvPicPr>
            <p:cNvPr id="6147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1056089" y="1961998"/>
              <a:ext cx="6693384" cy="3829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48" name="Picture 4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1510748" y="5796706"/>
              <a:ext cx="3468756" cy="10767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05119" y="711235"/>
            <a:ext cx="758533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6.8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서블릿을 이용한 여러 가지 실습 예제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461052"/>
            <a:ext cx="7883507" cy="45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LoginTest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 ID</a:t>
            </a:r>
            <a:r>
              <a:rPr lang="ko-KR" altLang="en-US" sz="1200">
                <a:latin typeface="+mj-ea"/>
                <a:ea typeface="+mj-ea"/>
              </a:rPr>
              <a:t>나 비밀번호를 제대로 입력하지 않으면 오류 메시지를 출력한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후 다시 로그인창으로 이동합니다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1360588" y="4739135"/>
            <a:ext cx="478151" cy="1353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5762" y="4618269"/>
            <a:ext cx="8448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100" b="1">
                <a:solidFill>
                  <a:srgbClr val="FF0000"/>
                </a:solidFill>
              </a:rPr>
              <a:t>protected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05119" y="711235"/>
            <a:ext cx="758533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6.8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서블릿을 이용한 여러 가지 실습 예제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206715" y="1234455"/>
            <a:ext cx="6182140" cy="49442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직선 연결선 3"/>
          <p:cNvCxnSpPr/>
          <p:nvPr/>
        </p:nvCxnSpPr>
        <p:spPr>
          <a:xfrm>
            <a:off x="5664530" y="3966358"/>
            <a:ext cx="92627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044540" y="3539024"/>
            <a:ext cx="2045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solidFill>
                  <a:srgbClr val="FF0000"/>
                </a:solidFill>
              </a:rPr>
              <a:t>login.html</a:t>
            </a:r>
            <a:endParaRPr lang="ko-KR" altLang="en-US" sz="12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47107" name="TextBox 47106"/>
          <p:cNvSpPr txBox="1"/>
          <p:nvPr/>
        </p:nvSpPr>
        <p:spPr>
          <a:xfrm>
            <a:off x="0" y="427001"/>
            <a:ext cx="9144000" cy="631276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@WebServlet("/loginTest")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public class LoginTest extends HttpServlet{  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public void init(){	   System.out.println("init 메서드 호출");   }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protected void doPost(HttpServletRequest request, HttpServletResponse response) 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                                            throws IOException, ServletException{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request.setCharacterEncoding("utf-8");   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response.setContentType("text/html;charset=utf-8");  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PrintWriter out = response.getWriter();				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String id = request.getParameter("user_id");  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String pw = request.getParameter("user_pw");  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System.out.println("아이디   : "+ id);  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System.out.println("패스워드 : "+ pw);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</a:t>
            </a:r>
            <a:r>
              <a:rPr kumimoji="0" lang="ko-KR" altLang="en-US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if(id!= null &amp;&amp;(id.length()!=0)){</a:t>
            </a:r>
            <a:endParaRPr kumimoji="0" lang="ko-KR" altLang="en-US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out.print("&lt;html&gt;");  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out.print("&lt;body&gt;");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 id +" 님!! 로그인 하셨습니다." 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out.print("&lt;/html&gt;");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out.print("&lt;/body&gt;");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</a:t>
            </a:r>
            <a:r>
              <a:rPr kumimoji="0" lang="ko-KR" altLang="en-US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}else{</a:t>
            </a:r>
            <a:endParaRPr kumimoji="0" lang="ko-KR" altLang="en-US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out.print("&lt;html&gt;");  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out.print("&lt;body&gt;");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out.print("아이디를 입력하세요!!!" ) 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out.print("&lt;br&gt;");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</a:t>
            </a:r>
            <a:r>
              <a:rPr kumimoji="0" lang="ko-KR" altLang="en-US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&lt;a href='http://localhost:8090/pro06/test01/login.html'&gt;</a:t>
            </a: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로그인창으로 이동  &lt;/a&gt;");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out.print("&lt;/html&gt;");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out.print("&lt;/body&gt;");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}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}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public void destroy(){   System.out.println("destroy 메서드 호출");  }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}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477077" y="1550504"/>
            <a:ext cx="8040756" cy="447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http://localhost:8090/pro06/test01/login.html</a:t>
            </a:r>
            <a:r>
              <a:rPr lang="ko-KR" altLang="en-US" sz="1200">
                <a:latin typeface="+mj-ea"/>
                <a:ea typeface="+mj-ea"/>
              </a:rPr>
              <a:t>로 요청한 후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비밀번호를 정상적으로 입력하고 로그인을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7077" y="3735817"/>
            <a:ext cx="73964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로그인 성공 메시지가 정상적으로 출력됩니다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9" name="그림 8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857669" y="2012168"/>
            <a:ext cx="3695700" cy="14382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694082" y="4012816"/>
            <a:ext cx="3011437" cy="9169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/>
          <p:cNvPicPr/>
          <p:nvPr/>
        </p:nvPicPr>
        <p:blipFill rotWithShape="1">
          <a:blip r:embed="rId4">
            <a:alphaModFix/>
            <a:lum/>
          </a:blip>
          <a:stretch>
            <a:fillRect/>
          </a:stretch>
        </p:blipFill>
        <p:spPr>
          <a:xfrm>
            <a:off x="771819" y="5392832"/>
            <a:ext cx="2933700" cy="10659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39711" y="5115833"/>
            <a:ext cx="3552825" cy="263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/>
              <a:t>아이디를 입력하지 않은 경우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119" y="711235"/>
            <a:ext cx="758533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6.8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서블릿을 이용한 여러 가지 실습 예제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517429" y="1351707"/>
            <a:ext cx="8039111" cy="494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6.8.2 </a:t>
            </a:r>
            <a:r>
              <a:rPr lang="ko-KR" altLang="en-US" b="1"/>
              <a:t>서블릿으로 로그인 요청 시 관리자 화면 나타내기</a:t>
            </a:r>
            <a:endParaRPr lang="en-US" altLang="ko-KR" b="1" spc="-95"/>
          </a:p>
        </p:txBody>
      </p:sp>
      <p:sp>
        <p:nvSpPr>
          <p:cNvPr id="3" name="TextBox 2"/>
          <p:cNvSpPr txBox="1"/>
          <p:nvPr/>
        </p:nvSpPr>
        <p:spPr>
          <a:xfrm>
            <a:off x="725557" y="1804973"/>
            <a:ext cx="7830983" cy="45054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ko-KR" altLang="en-US" sz="1200">
                <a:latin typeface="+mj-ea"/>
                <a:ea typeface="+mj-ea"/>
              </a:rPr>
              <a:t>문제</a:t>
            </a:r>
            <a:r>
              <a:rPr lang="en-US" altLang="ko-KR" sz="1200">
                <a:latin typeface="+mj-ea"/>
                <a:ea typeface="+mj-ea"/>
              </a:rPr>
              <a:t>: </a:t>
            </a:r>
            <a:r>
              <a:rPr lang="ko-KR" altLang="en-US" sz="1200">
                <a:latin typeface="+mj-ea"/>
                <a:ea typeface="+mj-ea"/>
              </a:rPr>
              <a:t>실습 예제 </a:t>
            </a:r>
            <a:r>
              <a:rPr lang="en-US" altLang="ko-KR" sz="1200">
                <a:latin typeface="+mj-ea"/>
                <a:ea typeface="+mj-ea"/>
              </a:rPr>
              <a:t>1</a:t>
            </a:r>
            <a:r>
              <a:rPr lang="ko-KR" altLang="en-US" sz="1200">
                <a:latin typeface="+mj-ea"/>
                <a:ea typeface="+mj-ea"/>
              </a:rPr>
              <a:t>을 이용해 로그인 시 </a:t>
            </a:r>
            <a:r>
              <a:rPr lang="en-US" altLang="ko-KR" sz="1200">
                <a:latin typeface="+mj-ea"/>
                <a:ea typeface="+mj-ea"/>
              </a:rPr>
              <a:t>admin ID</a:t>
            </a:r>
            <a:r>
              <a:rPr lang="ko-KR" altLang="en-US" sz="1200">
                <a:latin typeface="+mj-ea"/>
                <a:ea typeface="+mj-ea"/>
              </a:rPr>
              <a:t>로 로그인하면 회원 관리와 회원 삭제 기능을 보여주도록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    </a:t>
            </a:r>
            <a:r>
              <a:rPr lang="ko-KR" altLang="en-US" sz="1200">
                <a:latin typeface="+mj-ea"/>
                <a:ea typeface="+mj-ea"/>
              </a:rPr>
              <a:t> 작성하시오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6043" y="2395330"/>
            <a:ext cx="77425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LoginTest2 </a:t>
            </a:r>
            <a:r>
              <a:rPr lang="ko-KR" altLang="en-US" sz="1200">
                <a:latin typeface="+mj-ea"/>
                <a:ea typeface="+mj-ea"/>
              </a:rPr>
              <a:t>서블릿을 생성하고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1091744" y="2781817"/>
            <a:ext cx="5814175" cy="2747972"/>
            <a:chOff x="725557" y="2629099"/>
            <a:chExt cx="5390115" cy="2130547"/>
          </a:xfrm>
        </p:grpSpPr>
        <p:pic>
          <p:nvPicPr>
            <p:cNvPr id="5017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725557" y="2629099"/>
              <a:ext cx="5390115" cy="527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180" name="Picture 4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1024241" y="3157041"/>
              <a:ext cx="3616808" cy="160260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" name="직선 연결선 10"/>
          <p:cNvCxnSpPr/>
          <p:nvPr/>
        </p:nvCxnSpPr>
        <p:spPr>
          <a:xfrm flipV="1">
            <a:off x="1424710" y="2992134"/>
            <a:ext cx="347869" cy="993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9494" y="2860676"/>
            <a:ext cx="844826" cy="261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100" b="1">
                <a:solidFill>
                  <a:srgbClr val="FF0000"/>
                </a:solidFill>
              </a:rPr>
              <a:t>protected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5119" y="711235"/>
            <a:ext cx="758533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6.8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서블릿을 이용한 여러 가지 실습 예제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58550" y="2583677"/>
            <a:ext cx="11231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>
                <a:latin typeface="+mj-ea"/>
                <a:ea typeface="+mj-ea"/>
              </a:rPr>
              <a:t>...</a:t>
            </a:r>
            <a:endParaRPr lang="ko-KR" altLang="en-US" sz="12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507233" y="1212574"/>
            <a:ext cx="5710842" cy="554520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05119" y="711235"/>
            <a:ext cx="758533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6.8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서블릿을 이용한 여러 가지 실습 예제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530626"/>
            <a:ext cx="7456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+mj-ea"/>
                <a:ea typeface="+mj-ea"/>
              </a:rPr>
              <a:t>2. login.html</a:t>
            </a:r>
            <a:r>
              <a:rPr lang="ko-KR" altLang="en-US" sz="1200">
                <a:latin typeface="+mj-ea"/>
                <a:ea typeface="+mj-ea"/>
              </a:rPr>
              <a:t>에서 </a:t>
            </a:r>
            <a:r>
              <a:rPr lang="en-US" altLang="ko-KR" sz="1200" b="1">
                <a:solidFill>
                  <a:srgbClr val="FF0000"/>
                </a:solidFill>
                <a:latin typeface="+mj-ea"/>
                <a:ea typeface="+mj-ea"/>
              </a:rPr>
              <a:t>LoginTest2</a:t>
            </a:r>
            <a:r>
              <a:rPr lang="ko-KR" altLang="en-US" sz="1200">
                <a:latin typeface="+mj-ea"/>
                <a:ea typeface="+mj-ea"/>
              </a:rPr>
              <a:t>를 매핑하도록 수정합니다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5118" y="1987826"/>
            <a:ext cx="76052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http://localhost:8090/pro06/login.html</a:t>
            </a:r>
            <a:r>
              <a:rPr lang="ko-KR" altLang="en-US" sz="1200">
                <a:latin typeface="+mj-ea"/>
                <a:ea typeface="+mj-ea"/>
              </a:rPr>
              <a:t>로 요청한 후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를 </a:t>
            </a:r>
            <a:r>
              <a:rPr lang="en-US" altLang="ko-KR" sz="1200">
                <a:latin typeface="+mj-ea"/>
                <a:ea typeface="+mj-ea"/>
              </a:rPr>
              <a:t>admin</a:t>
            </a:r>
            <a:r>
              <a:rPr lang="ko-KR" altLang="en-US" sz="1200">
                <a:latin typeface="+mj-ea"/>
                <a:ea typeface="+mj-ea"/>
              </a:rPr>
              <a:t>으로 입력한 후 로그인합니다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7" name="그림 6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114964" y="2360129"/>
            <a:ext cx="3562350" cy="15811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/>
          <p:cNvSpPr/>
          <p:nvPr/>
        </p:nvSpPr>
        <p:spPr>
          <a:xfrm>
            <a:off x="2713383" y="3269973"/>
            <a:ext cx="487017" cy="19878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05119" y="711235"/>
            <a:ext cx="758533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6.8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서블릿을 이용한 여러 가지 실습 예제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0" name="그림 5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2061723" y="4704883"/>
            <a:ext cx="4706620" cy="1414145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  <p:sp>
        <p:nvSpPr>
          <p:cNvPr id="11" name="TextBox 2"/>
          <p:cNvSpPr txBox="1"/>
          <p:nvPr/>
        </p:nvSpPr>
        <p:spPr>
          <a:xfrm>
            <a:off x="603742" y="4262653"/>
            <a:ext cx="7555516" cy="266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4. 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Calibri Light"/>
                <a:ea typeface="맑은 고딕"/>
              </a:rPr>
              <a:t>다음과 같이 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"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Calibri Light"/>
                <a:ea typeface="맑은 고딕"/>
              </a:rPr>
              <a:t>관리자로 로그인 하셨습니다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!!"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Calibri Light"/>
                <a:ea typeface="맑은 고딕"/>
              </a:rPr>
              <a:t>라는 메시지가 표시됩니다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kumimoji="0" lang="ko-KR" altLang="en-US" sz="1200" b="0" i="0" u="none" strike="noStrike" kern="1200" cap="none" spc="0" normalizeH="0" baseline="0">
              <a:solidFill>
                <a:srgbClr val="000000"/>
              </a:solidFill>
              <a:latin typeface="Calibri Light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47107" name="TextBox 47106"/>
          <p:cNvSpPr txBox="1"/>
          <p:nvPr/>
        </p:nvSpPr>
        <p:spPr>
          <a:xfrm>
            <a:off x="0" y="1236754"/>
            <a:ext cx="9144000" cy="3009491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@WebServlet("/loginTest2")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public class LoginTest2 extends HttpServlet{  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public void init(){	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System.out.println("init 메서드 호출");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}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protected void doPost(HttpServletRequest request, HttpServletResponse response) throws IOException, ServletException{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request.setCharacterEncoding("utf-8");   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response.setContentType("text/html;charset=utf-8");  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PrintWriter out = response.getWriter();				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</a:t>
            </a:r>
            <a:r>
              <a:rPr kumimoji="0" lang="ko-KR" altLang="en-US" sz="1200" b="1" i="0" u="none" strike="noStrike" kern="1200" cap="none" spc="0" normalizeH="0" baseline="0">
                <a:solidFill>
                  <a:srgbClr val="783E94"/>
                </a:solidFill>
                <a:latin typeface="한컴산뜻돋움"/>
                <a:ea typeface="한컴산뜻돋움"/>
              </a:rPr>
              <a:t> String id = request.getParameter("user_id");  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783E94"/>
                </a:solidFill>
                <a:latin typeface="한컴산뜻돋움"/>
                <a:ea typeface="한컴산뜻돋움"/>
              </a:rPr>
              <a:t>      String pw = request.getParameter("user_pw");  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System.out.println("아이디   : "+ id);  // 콘솔에 출력한다.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System.out.println("패스워드 : "+ pw);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</p:txBody>
      </p:sp>
      <p:pic>
        <p:nvPicPr>
          <p:cNvPr id="47108" name="그림 6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5079377" y="3730562"/>
            <a:ext cx="3562350" cy="1581150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  <p:sp>
        <p:nvSpPr>
          <p:cNvPr id="47109" name="직사각형 4"/>
          <p:cNvSpPr/>
          <p:nvPr/>
        </p:nvSpPr>
        <p:spPr>
          <a:xfrm>
            <a:off x="5677796" y="4640407"/>
            <a:ext cx="487017" cy="198784"/>
          </a:xfrm>
          <a:prstGeom prst="rect">
            <a:avLst/>
          </a:prstGeom>
          <a:noFill/>
          <a:ln w="19050" cap="flat" cmpd="sng" algn="ctr">
            <a:solidFill>
              <a:srgbClr val="C0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47107" name="TextBox 47106"/>
          <p:cNvSpPr txBox="1"/>
          <p:nvPr/>
        </p:nvSpPr>
        <p:spPr>
          <a:xfrm>
            <a:off x="0" y="417475"/>
            <a:ext cx="9144000" cy="5933795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</a:t>
            </a:r>
            <a:r>
              <a:rPr kumimoji="0" lang="ko-KR" altLang="en-US" sz="1200" b="1" i="0" u="none" strike="noStrike" kern="1200" cap="none" spc="0" normalizeH="0" baseline="0">
                <a:solidFill>
                  <a:srgbClr val="783E94"/>
                </a:solidFill>
                <a:latin typeface="한컴산뜻돋움"/>
                <a:ea typeface="한컴산뜻돋움"/>
              </a:rPr>
              <a:t> if(id!= null &amp;&amp;(id.length()!=0)){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</a:t>
            </a:r>
            <a:r>
              <a:rPr kumimoji="0" lang="ko-KR" altLang="en-US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 if(id.equals("admin")){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   out.print("&lt;html&gt;");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   out.print("&lt;body&gt;");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 	   out.print( "&lt;font size='12'&gt;관리자로 로그인 하셨습니다!! &lt;/font&gt;" 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   out.print("&lt;br&gt;");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   out.print("&lt;input type=button value='회원정보 수정하기'  /&gt;");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   out.print("&lt;input type=button value='회원정보 삭제하기'  /&gt;");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   out.print("&lt;/html&gt;");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   out.print("&lt;/body&gt;");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</a:t>
            </a:r>
            <a:r>
              <a:rPr kumimoji="0" lang="ko-KR" altLang="en-US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 }else{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   out.print("&lt;html&gt;");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   out.print("&lt;body&gt;");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   out.print( id +" 님!! 로그인 하셨습니다." 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   out.print("&lt;/html&gt;");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   out.print("&lt;/body&gt;");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 }     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</a:t>
            </a:r>
            <a:r>
              <a:rPr kumimoji="0" lang="ko-KR" altLang="en-US" sz="1200" b="1" i="0" u="none" strike="noStrike" kern="1200" cap="none" spc="0" normalizeH="0" baseline="0">
                <a:solidFill>
                  <a:srgbClr val="783E94"/>
                </a:solidFill>
                <a:latin typeface="한컴산뜻돋움"/>
                <a:ea typeface="한컴산뜻돋움"/>
              </a:rPr>
              <a:t>}else{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out.print("&lt;html&gt;");  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out.print("&lt;body&gt;");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out.print("ID와 비밀번호를 입력하세요!!!" ) 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out.print("&lt;br&gt;");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out.print("&lt;a href='http://localhost:8090/pro06/test01/login.html'&gt; 로그인창으로 이동  &lt;/a&gt;");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out.print("&lt;/html&gt;");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out.print("&lt;/body&gt;");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}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}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public void destroy(){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System.out.println("destroy 메서드 호출");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}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}</a:t>
            </a:r>
          </a:p>
        </p:txBody>
      </p:sp>
      <p:pic>
        <p:nvPicPr>
          <p:cNvPr id="47108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5716214" y="846284"/>
            <a:ext cx="3287589" cy="879578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  <p:pic>
        <p:nvPicPr>
          <p:cNvPr id="47109" name="그림 9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5757882" y="2308811"/>
            <a:ext cx="3011437" cy="916993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  <p:pic>
        <p:nvPicPr>
          <p:cNvPr id="47110" name="그림 10"/>
          <p:cNvPicPr/>
          <p:nvPr/>
        </p:nvPicPr>
        <p:blipFill rotWithShape="1">
          <a:blip r:embed="rId4">
            <a:alphaModFix/>
            <a:lum/>
          </a:blip>
          <a:stretch>
            <a:fillRect/>
          </a:stretch>
        </p:blipFill>
        <p:spPr>
          <a:xfrm>
            <a:off x="5806462" y="4945932"/>
            <a:ext cx="2933700" cy="1065943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517429" y="1321890"/>
            <a:ext cx="8039111" cy="49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6.8.3 </a:t>
            </a:r>
            <a:r>
              <a:rPr lang="ko-KR" altLang="en-US" b="1"/>
              <a:t>서블릿으로 요청 시 구구단 출력하기</a:t>
            </a:r>
            <a:endParaRPr lang="en-US" altLang="ko-KR" b="1" spc="-95"/>
          </a:p>
        </p:txBody>
      </p:sp>
      <p:sp>
        <p:nvSpPr>
          <p:cNvPr id="3" name="TextBox 2"/>
          <p:cNvSpPr txBox="1"/>
          <p:nvPr/>
        </p:nvSpPr>
        <p:spPr>
          <a:xfrm>
            <a:off x="665922" y="1775156"/>
            <a:ext cx="7424530" cy="27699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ko-KR" altLang="en-US" sz="1200">
                <a:latin typeface="+mj-ea"/>
                <a:ea typeface="+mj-ea"/>
              </a:rPr>
              <a:t>문제</a:t>
            </a:r>
            <a:r>
              <a:rPr lang="en-US" altLang="ko-KR" sz="1200">
                <a:latin typeface="+mj-ea"/>
                <a:ea typeface="+mj-ea"/>
              </a:rPr>
              <a:t>: </a:t>
            </a:r>
            <a:r>
              <a:rPr lang="ko-KR" altLang="en-US" sz="1200">
                <a:latin typeface="+mj-ea"/>
                <a:ea typeface="+mj-ea"/>
              </a:rPr>
              <a:t>구구단 단수를 입력 받아 단수를 출력하시오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5922" y="2276061"/>
            <a:ext cx="7722704" cy="446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ko-KR" altLang="en-US" sz="1200">
                <a:latin typeface="+mj-ea"/>
                <a:ea typeface="+mj-ea"/>
              </a:rPr>
              <a:t>구구단의 단수를 입력 받는 </a:t>
            </a:r>
            <a:r>
              <a:rPr lang="en-US" altLang="ko-KR" sz="1200">
                <a:latin typeface="+mj-ea"/>
                <a:ea typeface="+mj-ea"/>
              </a:rPr>
              <a:t>gugu.html</a:t>
            </a:r>
            <a:r>
              <a:rPr lang="ko-KR" altLang="en-US" sz="1200">
                <a:latin typeface="+mj-ea"/>
                <a:ea typeface="+mj-ea"/>
              </a:rPr>
              <a:t>을 다음과 같이 작성합니다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단수를 입력 받아 </a:t>
            </a:r>
            <a:r>
              <a:rPr lang="en-US" altLang="ko-KR" sz="1200">
                <a:latin typeface="+mj-ea"/>
                <a:ea typeface="+mj-ea"/>
              </a:rPr>
              <a:t>guguTest </a:t>
            </a:r>
            <a:r>
              <a:rPr lang="ko-KR" altLang="en-US" sz="1200">
                <a:latin typeface="+mj-ea"/>
                <a:ea typeface="+mj-ea"/>
              </a:rPr>
              <a:t>서블릿으로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 전송합니다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217957" y="2905151"/>
            <a:ext cx="6320459" cy="309912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505119" y="711235"/>
            <a:ext cx="758533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6.8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서블릿을 이용한 여러 가지 실습 예제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3251" name="가로 글상자 53250"/>
          <p:cNvSpPr txBox="1"/>
          <p:nvPr/>
        </p:nvSpPr>
        <p:spPr>
          <a:xfrm>
            <a:off x="2593873" y="2941685"/>
            <a:ext cx="2138515" cy="173604"/>
          </a:xfrm>
          <a:prstGeom prst="rect">
            <a:avLst/>
          </a:prstGeom>
          <a:solidFill>
            <a:srgbClr val="D8BEE4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200"/>
              <a:t>webapp/test01/gugu.html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47107" name="TextBox 47106"/>
          <p:cNvSpPr txBox="1"/>
          <p:nvPr/>
        </p:nvSpPr>
        <p:spPr>
          <a:xfrm>
            <a:off x="0" y="1266520"/>
            <a:ext cx="9144000" cy="2471725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&lt;!DOCTYPE html&gt;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&lt;html&gt;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&lt;head&gt;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&lt;title&gt;단수 입력창&lt;/title&gt;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&lt;/head&gt;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&lt;body&gt;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&lt;h1&gt;출력할 구구단의 수를 지정해 주세요.&lt;/h1&gt;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&lt;form method="get" action="/pro06/guguTest"&gt;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 출력할 구구단  :&lt;input type=text  name="dan" /&gt; &lt;br&gt;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&lt;input type ="submit" value="구구단출력"&gt;	 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&lt;/form&gt;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&lt;/body&gt;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&lt;/html&gt;</a:t>
            </a:r>
          </a:p>
        </p:txBody>
      </p:sp>
      <p:pic>
        <p:nvPicPr>
          <p:cNvPr id="47108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4572000" y="3281493"/>
            <a:ext cx="3996690" cy="1669415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182756" y="1672005"/>
            <a:ext cx="6350276" cy="49748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505119" y="1339549"/>
            <a:ext cx="8082290" cy="449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GuguTest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 &lt;table&gt; </a:t>
            </a:r>
            <a:r>
              <a:rPr lang="ko-KR" altLang="en-US" sz="1200">
                <a:latin typeface="+mj-ea"/>
                <a:ea typeface="+mj-ea"/>
              </a:rPr>
              <a:t>태그의 </a:t>
            </a:r>
            <a:r>
              <a:rPr lang="en-US" altLang="ko-KR" sz="1200">
                <a:latin typeface="+mj-ea"/>
                <a:ea typeface="+mj-ea"/>
              </a:rPr>
              <a:t>&lt;tr&gt; </a:t>
            </a:r>
            <a:r>
              <a:rPr lang="ko-KR" altLang="en-US" sz="1200">
                <a:latin typeface="+mj-ea"/>
                <a:ea typeface="+mj-ea"/>
              </a:rPr>
              <a:t>태그와 자바의 </a:t>
            </a:r>
            <a:r>
              <a:rPr lang="en-US" altLang="ko-KR" sz="1200">
                <a:latin typeface="+mj-ea"/>
                <a:ea typeface="+mj-ea"/>
              </a:rPr>
              <a:t>for</a:t>
            </a:r>
            <a:r>
              <a:rPr lang="ko-KR" altLang="en-US" sz="1200">
                <a:latin typeface="+mj-ea"/>
                <a:ea typeface="+mj-ea"/>
              </a:rPr>
              <a:t>문을 이용해 구구단을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연속해서 행으로 출력합니다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cxnSp>
        <p:nvCxnSpPr>
          <p:cNvPr id="6" name="직선 연결선 5"/>
          <p:cNvCxnSpPr/>
          <p:nvPr/>
        </p:nvCxnSpPr>
        <p:spPr>
          <a:xfrm flipV="1">
            <a:off x="1525660" y="4321660"/>
            <a:ext cx="452226" cy="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0525" y="4159440"/>
            <a:ext cx="8448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100" b="1">
                <a:solidFill>
                  <a:srgbClr val="FF0000"/>
                </a:solidFill>
              </a:rPr>
              <a:t>protected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5119" y="711235"/>
            <a:ext cx="758533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6.8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서블릿을 이용한 여러 가지 실습 예제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8" name="TextBox 7"/>
          <p:cNvSpPr txBox="1"/>
          <p:nvPr/>
        </p:nvSpPr>
        <p:spPr>
          <a:xfrm>
            <a:off x="505119" y="711235"/>
            <a:ext cx="758533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6.8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서블릿을 이용한 여러 가지 실습 예제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245954" y="1516095"/>
            <a:ext cx="6506568" cy="4546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47107" name="TextBox 47106"/>
          <p:cNvSpPr txBox="1"/>
          <p:nvPr/>
        </p:nvSpPr>
        <p:spPr>
          <a:xfrm>
            <a:off x="0" y="109549"/>
            <a:ext cx="9144000" cy="6670346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@WebServlet("/guguTest")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public class GuguTest extends HttpServlet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public void init()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System.out.println("init 메서드 호출");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protected void doGet(HttpServletRequest request, HttpServletResponse response) throws IOException, ServletException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request.setCharacterEncoding("utf-8");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response.setContentType("text/html;charset=utf-8");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PrintWriter out = response.getWriter();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</a:t>
            </a:r>
            <a:r>
              <a:rPr kumimoji="0" lang="ko-KR" altLang="en-US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int dan = Integer.parseInt(request.getParameter("dan"));</a:t>
            </a:r>
            <a:endParaRPr kumimoji="0" lang="ko-KR" altLang="en-US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 &lt;table border=1 width=800 align=center&gt;");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out.print("&lt;tr align=center bgcolor='#FFFF66'&gt;");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out.print("&lt;td colspan=2&gt;" + dan + " 단 출력  &lt;/td&gt;");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out.print("&lt;/tr&gt;");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for (int i = 1; i &lt; 10; i++)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out.print("&lt;tr align=center&gt;");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out.print("&lt;td width=400&gt;");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out.print(dan + " *  " + i);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out.print("&lt;/td&gt;");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out.print("&lt;td width=400&gt;");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out.print(</a:t>
            </a:r>
            <a:r>
              <a:rPr kumimoji="0" lang="ko-KR" altLang="en-US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i * dan)</a:t>
            </a: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out.print("&lt;/td&gt;");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out.print("&lt;/tr&gt;");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out.print("&lt;/table&gt;");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public void destroy()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System.out.println("destroy 메서드 호출");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}</a:t>
            </a:r>
          </a:p>
        </p:txBody>
      </p:sp>
      <p:pic>
        <p:nvPicPr>
          <p:cNvPr id="47108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4352220" y="3429000"/>
            <a:ext cx="4539916" cy="1670684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  <p:sp>
        <p:nvSpPr>
          <p:cNvPr id="47109" name="TextBox 47108"/>
          <p:cNvSpPr txBox="1"/>
          <p:nvPr/>
        </p:nvSpPr>
        <p:spPr>
          <a:xfrm>
            <a:off x="5434262" y="2175710"/>
            <a:ext cx="1313448" cy="8247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200" b="1"/>
              <a:t>String </a:t>
            </a:r>
            <a:r>
              <a:rPr lang="ko-KR" altLang="en-US" sz="1200" b="1"/>
              <a:t>을 </a:t>
            </a:r>
            <a:r>
              <a:rPr lang="en-US" altLang="ko-KR" sz="1200" b="1"/>
              <a:t>int</a:t>
            </a:r>
            <a:r>
              <a:rPr lang="ko-KR" altLang="en-US" sz="1200" b="1"/>
              <a:t>로 </a:t>
            </a:r>
            <a:r>
              <a:rPr lang="en-US" altLang="ko-KR" sz="1200" b="1"/>
              <a:t>datatype </a:t>
            </a:r>
            <a:r>
              <a:rPr lang="ko-KR" altLang="en-US" sz="1200" b="1"/>
              <a:t>변환해서 </a:t>
            </a:r>
            <a:r>
              <a:rPr lang="ko-KR" altLang="en-US" sz="1200" b="1">
                <a:solidFill>
                  <a:srgbClr val="FF0000"/>
                </a:solidFill>
              </a:rPr>
              <a:t>연산</a:t>
            </a:r>
            <a:r>
              <a:rPr lang="ko-KR" altLang="en-US" sz="1200" b="1"/>
              <a:t> 가능하도록 함</a:t>
            </a:r>
          </a:p>
        </p:txBody>
      </p:sp>
      <p:sp>
        <p:nvSpPr>
          <p:cNvPr id="47110" name="왼쪽 화살표 47109"/>
          <p:cNvSpPr/>
          <p:nvPr/>
        </p:nvSpPr>
        <p:spPr>
          <a:xfrm>
            <a:off x="5173578" y="2185737"/>
            <a:ext cx="170447" cy="1503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47111" name="직선 화살표 연결선 47110"/>
          <p:cNvCxnSpPr/>
          <p:nvPr/>
        </p:nvCxnSpPr>
        <p:spPr>
          <a:xfrm rot="10800000" flipV="1">
            <a:off x="2777289" y="2897606"/>
            <a:ext cx="2697080" cy="1694447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530626"/>
            <a:ext cx="76350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ko-KR" altLang="en-US" sz="1200">
                <a:latin typeface="+mj-ea"/>
                <a:ea typeface="+mj-ea"/>
              </a:rPr>
              <a:t>출력 결과 화면에서 구구단 입력창을 요청한 후 단수를 입력합니다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629438" y="1807625"/>
            <a:ext cx="3996690" cy="16694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5119" y="711235"/>
            <a:ext cx="758533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6.8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서블릿을 이용한 여러 가지 실습 예제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TextBox 2"/>
          <p:cNvSpPr txBox="1"/>
          <p:nvPr/>
        </p:nvSpPr>
        <p:spPr>
          <a:xfrm>
            <a:off x="598358" y="3764314"/>
            <a:ext cx="7813932" cy="266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4. 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Calibri Light"/>
                <a:ea typeface="맑은 고딕"/>
              </a:rPr>
              <a:t>전송된 단수에 대한 구구단이 브라우저에 행으로 출력됩니다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kumimoji="0" lang="ko-KR" altLang="en-US" sz="1200" b="0" i="0" u="none" strike="noStrike" kern="1200" cap="none" spc="0" normalizeH="0" baseline="0">
              <a:solidFill>
                <a:srgbClr val="000000"/>
              </a:solidFill>
              <a:latin typeface="Calibri Light"/>
              <a:ea typeface="맑은 고딕"/>
            </a:endParaRPr>
          </a:p>
        </p:txBody>
      </p:sp>
      <p:pic>
        <p:nvPicPr>
          <p:cNvPr id="9" name="그림 5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1417513" y="4168050"/>
            <a:ext cx="5943600" cy="2432685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449899"/>
            <a:ext cx="7863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ko-KR" altLang="en-US" sz="1200">
                <a:latin typeface="+mj-ea"/>
                <a:ea typeface="+mj-ea"/>
              </a:rPr>
              <a:t>이번에는 서블릿의 응답 기능을 이용해 구구단 테이블의 행 배경색을 교대로 바꾸어 보겠습니다</a:t>
            </a:r>
            <a:r>
              <a:rPr lang="en-US" altLang="ko-KR" sz="1200">
                <a:latin typeface="+mj-ea"/>
                <a:ea typeface="+mj-ea"/>
              </a:rPr>
              <a:t>. 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다음과 같이 </a:t>
            </a:r>
            <a:r>
              <a:rPr lang="en-US" altLang="ko-KR" sz="1200">
                <a:latin typeface="+mj-ea"/>
                <a:ea typeface="+mj-ea"/>
              </a:rPr>
              <a:t>GuguTest2 </a:t>
            </a:r>
            <a:r>
              <a:rPr lang="ko-KR" altLang="en-US" sz="1200">
                <a:latin typeface="+mj-ea"/>
                <a:ea typeface="+mj-ea"/>
              </a:rPr>
              <a:t>클래스를 생성하고 코드를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441174" y="2024918"/>
            <a:ext cx="5924858" cy="47237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직선 연결선 5"/>
          <p:cNvCxnSpPr/>
          <p:nvPr/>
        </p:nvCxnSpPr>
        <p:spPr>
          <a:xfrm flipV="1">
            <a:off x="1515718" y="2179920"/>
            <a:ext cx="347869" cy="993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5436" y="2016635"/>
            <a:ext cx="8448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100" b="1">
                <a:solidFill>
                  <a:srgbClr val="FF0000"/>
                </a:solidFill>
              </a:rPr>
              <a:t>protected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5119" y="711235"/>
            <a:ext cx="758533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6.8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서블릿을 이용한 여러 가지 실습 예제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90262" y="1881747"/>
            <a:ext cx="11628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>
                <a:latin typeface="+mj-ea"/>
                <a:ea typeface="+mj-ea"/>
              </a:rPr>
              <a:t>...</a:t>
            </a:r>
            <a:endParaRPr lang="ko-KR" altLang="en-US" sz="12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47107" name="TextBox 47106"/>
          <p:cNvSpPr txBox="1"/>
          <p:nvPr/>
        </p:nvSpPr>
        <p:spPr>
          <a:xfrm>
            <a:off x="0" y="479191"/>
            <a:ext cx="9144000" cy="6124094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: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@WebServlet("/guguTest2") 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: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protected void doGet(HttpServletRequest request, HttpServletResponse response) 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                              throws IOException, ServletException{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request.setCharacterEncoding("utf-8");            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response.setContentType("text/html;charset=utf-8");  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PrintWriter out = response.getWriter();		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int dan =Integer.parseInt( request.getParameter("dan"));  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out.print(" &lt;table border=1 width=800 align=center&gt;");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out.print("&lt;tr align=center bgcolor='#FFFF66'&gt;"); 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out.print("&lt;td colspan=2&gt;" +  dan+ " 단 출력  &lt;/td&gt;");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out.print("&lt;/tr&gt;");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  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for(int i=1; i&lt;10;i++){ 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	if(i%2 == 0)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	    out.print("&lt;tr align=center bgcolor='#ACFA58'&gt; 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	 }else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	     out.print("&lt;tr align=center bgcolor='#81BEF7'&gt; 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	 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out.print("&lt;td width=400&gt;"); 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out.print(dan+" *  "+i );    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</a:t>
            </a: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  out.print("&lt;/td&gt;");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out.print("&lt;td width=400&gt;");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out.print(i*dan); 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out.print("&lt;/td&gt;");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out.print("&lt;/tr&gt;");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out.print("&lt;/table&gt;");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377687" y="1540565"/>
            <a:ext cx="7931426" cy="44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6. </a:t>
            </a:r>
            <a:r>
              <a:rPr lang="en-US" altLang="ko-KR" sz="1200">
                <a:latin typeface="+mj-ea"/>
                <a:ea typeface="+mj-ea"/>
              </a:rPr>
              <a:t>guguTest2 </a:t>
            </a:r>
            <a:r>
              <a:rPr lang="ko-KR" altLang="en-US" sz="1200">
                <a:latin typeface="+mj-ea"/>
                <a:ea typeface="+mj-ea"/>
              </a:rPr>
              <a:t>서블릿을 매핑하도록 </a:t>
            </a:r>
            <a:r>
              <a:rPr lang="en-US" altLang="ko-KR" sz="1200">
                <a:latin typeface="+mj-ea"/>
                <a:ea typeface="+mj-ea"/>
              </a:rPr>
              <a:t>gugu.html </a:t>
            </a:r>
            <a:r>
              <a:rPr lang="ko-KR" altLang="en-US" sz="1200">
                <a:latin typeface="+mj-ea"/>
                <a:ea typeface="+mj-ea"/>
              </a:rPr>
              <a:t>파일을 수정한 후 브라우저에 요청합니다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구구단 수를 입력하면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테이블의 배경색이 교대로 바뀌는 것을 확인할 수 있습니다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324274" y="2109166"/>
            <a:ext cx="5943600" cy="23812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5119" y="711235"/>
            <a:ext cx="758533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6.8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서블릿을 이용한 여러 가지 실습 예제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431235"/>
            <a:ext cx="7734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7. </a:t>
            </a:r>
            <a:r>
              <a:rPr lang="ko-KR" altLang="en-US" sz="1200">
                <a:latin typeface="+mj-ea"/>
                <a:ea typeface="+mj-ea"/>
              </a:rPr>
              <a:t>이번에는 서블릿의 응답 기능을 조금 더 응용해서 행마다 라디오 박스와 체크박스가 표시되도록 구현해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보겠습니다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다음과 같이 </a:t>
            </a:r>
            <a:r>
              <a:rPr lang="en-US" altLang="ko-KR" sz="1200">
                <a:latin typeface="+mj-ea"/>
                <a:ea typeface="+mj-ea"/>
              </a:rPr>
              <a:t>GuguTest3 </a:t>
            </a:r>
            <a:r>
              <a:rPr lang="ko-KR" altLang="en-US" sz="1200">
                <a:latin typeface="+mj-ea"/>
                <a:ea typeface="+mj-ea"/>
              </a:rPr>
              <a:t>클래스를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679714" y="1892900"/>
            <a:ext cx="5022156" cy="4914322"/>
            <a:chOff x="818156" y="1876405"/>
            <a:chExt cx="5813401" cy="6099169"/>
          </a:xfrm>
        </p:grpSpPr>
        <p:grpSp>
          <p:nvGrpSpPr>
            <p:cNvPr id="6" name="그룹 5"/>
            <p:cNvGrpSpPr/>
            <p:nvPr/>
          </p:nvGrpSpPr>
          <p:grpSpPr>
            <a:xfrm>
              <a:off x="1747510" y="1876405"/>
              <a:ext cx="4884047" cy="6099169"/>
              <a:chOff x="1747510" y="1876405"/>
              <a:chExt cx="4884047" cy="6099169"/>
            </a:xfrm>
          </p:grpSpPr>
          <p:grpSp>
            <p:nvGrpSpPr>
              <p:cNvPr id="4" name="그룹 3"/>
              <p:cNvGrpSpPr/>
              <p:nvPr/>
            </p:nvGrpSpPr>
            <p:grpSpPr>
              <a:xfrm>
                <a:off x="1747510" y="2151317"/>
                <a:ext cx="4884047" cy="5824257"/>
                <a:chOff x="594571" y="2051926"/>
                <a:chExt cx="4884047" cy="5824257"/>
              </a:xfrm>
            </p:grpSpPr>
            <p:pic>
              <p:nvPicPr>
                <p:cNvPr id="59394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alphaModFix/>
                  <a:lum/>
                </a:blip>
                <a:srcRect/>
                <a:stretch>
                  <a:fillRect/>
                </a:stretch>
              </p:blipFill>
              <p:spPr>
                <a:xfrm>
                  <a:off x="705678" y="2051926"/>
                  <a:ext cx="4772940" cy="141298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9395" name="Picture 3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alphaModFix/>
                  <a:lum/>
                </a:blip>
                <a:srcRect/>
                <a:stretch>
                  <a:fillRect/>
                </a:stretch>
              </p:blipFill>
              <p:spPr>
                <a:xfrm>
                  <a:off x="594571" y="3464912"/>
                  <a:ext cx="4774924" cy="441127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5" name="TextBox 4"/>
              <p:cNvSpPr txBox="1"/>
              <p:nvPr/>
            </p:nvSpPr>
            <p:spPr>
              <a:xfrm>
                <a:off x="1858617" y="1876405"/>
                <a:ext cx="944217" cy="331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altLang="ko-KR" sz="1200">
                    <a:latin typeface="+mj-ea"/>
                    <a:ea typeface="+mj-ea"/>
                  </a:rPr>
                  <a:t>...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</p:grpSp>
        <p:cxnSp>
          <p:nvCxnSpPr>
            <p:cNvPr id="8" name="직선 연결선 7"/>
            <p:cNvCxnSpPr/>
            <p:nvPr/>
          </p:nvCxnSpPr>
          <p:spPr>
            <a:xfrm flipV="1">
              <a:off x="1878495" y="2240768"/>
              <a:ext cx="347869" cy="993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818156" y="2111560"/>
              <a:ext cx="1092526" cy="3246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altLang="ko-KR" sz="1100" b="1">
                  <a:solidFill>
                    <a:srgbClr val="FF0000"/>
                  </a:solidFill>
                </a:rPr>
                <a:t>protected</a:t>
              </a:r>
              <a:endParaRPr lang="ko-KR" altLang="en-US" sz="1100" b="1">
                <a:solidFill>
                  <a:srgbClr val="FF0000"/>
                </a:solidFill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505119" y="711235"/>
            <a:ext cx="758533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6.8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서블릿을 이용한 여러 가지 실습 예제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47107" name="TextBox 47106"/>
          <p:cNvSpPr txBox="1"/>
          <p:nvPr/>
        </p:nvSpPr>
        <p:spPr>
          <a:xfrm>
            <a:off x="0" y="449425"/>
            <a:ext cx="9144000" cy="5390669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 &lt;table border=1 width=1200  align=center&gt;");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out.print("&lt;tr align=center bgcolor='#FFFF66'&gt;");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&lt;td colspan=4&gt;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" + dan + " 단 출력  &lt;/td&gt;");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out.print("&lt;/tr&gt;");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for (int i = 1; i &lt; 10; i++)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if (i % 2 == 0)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	out.print("&lt;tr align=center bgcolor='#ACFA58'&gt; 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} else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	out.print("&lt;tr align=center bgcolor='#81BEF7'&gt; 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out.print("&lt;td width=200&gt; 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out.print("&lt;input  type='radio'  /&gt;" + i);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out.print("&lt;/td&gt;");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out.print("&lt;td width=200&gt; 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out.print("&lt;input  type='checkbox'  /&gt;" + i);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out.print("&lt;/td&gt;");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out.print("&lt;td width=400&gt;");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out.print(dan + " *  " + i);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out.print("&lt;/td&gt;");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out.print("&lt;td width=400&gt;");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out.print(i * dan);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out.print("&lt;/td&gt;");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out.print("&lt;/tr&gt;");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out.print("&lt;/table&gt;");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610139"/>
            <a:ext cx="7545577" cy="26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8. </a:t>
            </a:r>
            <a:r>
              <a:rPr lang="ko-KR" altLang="en-US" sz="1200">
                <a:latin typeface="+mj-ea"/>
                <a:ea typeface="+mj-ea"/>
              </a:rPr>
              <a:t>다음은 실행 결과입니다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123122" y="1926895"/>
            <a:ext cx="5943600" cy="18440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5119" y="711235"/>
            <a:ext cx="758533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6.8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서블릿을 이용한 여러 가지 실습 예제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449898"/>
            <a:ext cx="68480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400" b="1"/>
              <a:t>계층형 패키지 구조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5119" y="1757676"/>
            <a:ext cx="8082290" cy="45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>
                <a:latin typeface="+mj-ea"/>
                <a:ea typeface="+mj-ea"/>
              </a:rPr>
              <a:t>이클립스의 </a:t>
            </a:r>
            <a:r>
              <a:rPr lang="en-US" altLang="ko-KR" sz="1200">
                <a:latin typeface="+mj-ea"/>
                <a:ea typeface="+mj-ea"/>
              </a:rPr>
              <a:t>Project Explorer </a:t>
            </a:r>
            <a:r>
              <a:rPr lang="ko-KR" altLang="en-US" sz="1200">
                <a:latin typeface="+mj-ea"/>
                <a:ea typeface="+mj-ea"/>
              </a:rPr>
              <a:t>창에서 상단의 역삼각형을 클릭한 후 </a:t>
            </a:r>
            <a:r>
              <a:rPr lang="en-US" altLang="ko-KR" sz="1200">
                <a:latin typeface="+mj-ea"/>
                <a:ea typeface="+mj-ea"/>
              </a:rPr>
              <a:t>Package Presentation &gt; Hierarchical</a:t>
            </a:r>
            <a:r>
              <a:rPr lang="ko-KR" altLang="en-US" sz="1200">
                <a:latin typeface="+mj-ea"/>
                <a:ea typeface="+mj-ea"/>
              </a:rPr>
              <a:t>을 </a:t>
            </a:r>
          </a:p>
          <a:p>
            <a:pPr lvl="0"/>
            <a:r>
              <a:rPr lang="ko-KR" altLang="en-US" sz="1200">
                <a:latin typeface="+mj-ea"/>
                <a:ea typeface="+mj-ea"/>
              </a:rPr>
              <a:t>선택합니다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324274" y="2269037"/>
            <a:ext cx="4964430" cy="25996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/>
          <p:cNvSpPr/>
          <p:nvPr/>
        </p:nvSpPr>
        <p:spPr>
          <a:xfrm>
            <a:off x="3250096" y="2269037"/>
            <a:ext cx="202096" cy="15611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250096" y="3737113"/>
            <a:ext cx="1296168" cy="19878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5198165" y="3935896"/>
            <a:ext cx="864705" cy="16896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1324274" y="4979504"/>
            <a:ext cx="1925822" cy="17989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직사각형 8"/>
          <p:cNvSpPr/>
          <p:nvPr/>
        </p:nvSpPr>
        <p:spPr>
          <a:xfrm>
            <a:off x="1679713" y="5685183"/>
            <a:ext cx="1451113" cy="88458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05119" y="711235"/>
            <a:ext cx="758533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6.8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서블릿을 이용한 여러 가지 실습 예제</a:t>
            </a:r>
            <a:endParaRPr lang="ko-KR" altLang="en-US" sz="2800" spc="-89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기초</a:t>
            </a:r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-1" y="452353"/>
            <a:ext cx="9144001" cy="506071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00" b="1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이클립스 첫 작업 활용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200" b="1" i="0" u="none" strike="noStrike">
              <a:solidFill>
                <a:srgbClr val="000000"/>
              </a:solidFill>
              <a:latin typeface="한컴산뜻돋움"/>
              <a:ea typeface="한컴산뜻돋움"/>
              <a:cs typeface="한컴산뜻돋움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1.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이클립스 작동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2. New- Project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예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: pro06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3. pro06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에서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   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Build Path- Configuration Build Path -&gt; servlet-api.jar(tomcat9/lib)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4. WebContent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에서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New- Html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5. src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에서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New- Package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예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: sec01.ex01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6. sec01.ex01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에서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New- Servlet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예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: LoginServlet / mapping- /login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  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체크박스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- inherited, init, destroy, doGet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7.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톰캣 등록 후 실행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  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servers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클릭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  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tomcat v9.0 - add and Remove...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  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pro06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더블클릭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8.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이클립스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Html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파일 상태에서 서버구동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-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브라우저 화면 이클립스에서 구현됨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200" b="0" i="0" u="none" strike="noStrike">
              <a:solidFill>
                <a:srgbClr val="000000"/>
              </a:solidFill>
              <a:latin typeface="한컴산뜻돋움"/>
              <a:ea typeface="한컴산뜻돋움"/>
              <a:cs typeface="한컴산뜻돋움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#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주석처리</a:t>
            </a:r>
            <a:r>
              <a:rPr lang="en-US" altLang="ko-KR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(</a:t>
            </a:r>
            <a:r>
              <a:rPr lang="ko-KR" alt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자바 코딩</a:t>
            </a:r>
            <a:r>
              <a:rPr lang="en-US" altLang="ko-KR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)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범위 지정 후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, Shift + Ctrl + /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혹은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Shift + Ctrl + \</a:t>
            </a:r>
            <a:endParaRPr sz="1200" b="0" i="0" u="none" strike="noStrike">
              <a:solidFill>
                <a:srgbClr val="000000"/>
              </a:solidFill>
              <a:latin typeface="한컴산뜻돋움"/>
              <a:ea typeface="한컴산뜻돋움"/>
              <a:cs typeface="한컴산뜻돋움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4047</Words>
  <Application>Microsoft Office PowerPoint</Application>
  <PresentationFormat>화면 슬라이드 쇼(4:3)</PresentationFormat>
  <Paragraphs>1115</Paragraphs>
  <Slides>93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93</vt:i4>
      </vt:variant>
    </vt:vector>
  </HeadingPairs>
  <TitlesOfParts>
    <vt:vector size="101" baseType="lpstr">
      <vt:lpstr>맑은 고딕</vt:lpstr>
      <vt:lpstr>한컴산뜻돋움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SSEN Kim</dc:creator>
  <cp:lastModifiedBy>JA-PROFESSOR</cp:lastModifiedBy>
  <cp:revision>810</cp:revision>
  <dcterms:created xsi:type="dcterms:W3CDTF">2018-08-29T04:30:46Z</dcterms:created>
  <dcterms:modified xsi:type="dcterms:W3CDTF">2025-08-11T02:18:47Z</dcterms:modified>
  <cp:version/>
</cp:coreProperties>
</file>