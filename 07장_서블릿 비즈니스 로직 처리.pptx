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0" r:id="rId1"/>
  </p:sldMasterIdLst>
  <p:notesMasterIdLst>
    <p:notesMasterId r:id="rId7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5" r:id="rId16"/>
    <p:sldId id="274" r:id="rId17"/>
    <p:sldId id="276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283" r:id="rId26"/>
    <p:sldId id="284" r:id="rId27"/>
    <p:sldId id="285" r:id="rId28"/>
    <p:sldId id="335" r:id="rId29"/>
    <p:sldId id="336" r:id="rId30"/>
    <p:sldId id="288" r:id="rId31"/>
    <p:sldId id="289" r:id="rId32"/>
    <p:sldId id="290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37" r:id="rId43"/>
    <p:sldId id="338" r:id="rId44"/>
    <p:sldId id="348" r:id="rId45"/>
    <p:sldId id="304" r:id="rId46"/>
    <p:sldId id="305" r:id="rId47"/>
    <p:sldId id="306" r:id="rId48"/>
    <p:sldId id="307" r:id="rId49"/>
    <p:sldId id="339" r:id="rId50"/>
    <p:sldId id="340" r:id="rId51"/>
    <p:sldId id="308" r:id="rId52"/>
    <p:sldId id="309" r:id="rId53"/>
    <p:sldId id="341" r:id="rId54"/>
    <p:sldId id="342" r:id="rId55"/>
    <p:sldId id="310" r:id="rId56"/>
    <p:sldId id="311" r:id="rId57"/>
    <p:sldId id="343" r:id="rId58"/>
    <p:sldId id="312" r:id="rId59"/>
    <p:sldId id="313" r:id="rId60"/>
    <p:sldId id="314" r:id="rId61"/>
    <p:sldId id="344" r:id="rId62"/>
    <p:sldId id="345" r:id="rId63"/>
    <p:sldId id="315" r:id="rId64"/>
    <p:sldId id="346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47" r:id="rId7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SEN Kim" initials="S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12"/>
    <p:restoredTop sz="94660"/>
  </p:normalViewPr>
  <p:slideViewPr>
    <p:cSldViewPr snapToGrid="0">
      <p:cViewPr varScale="1">
        <p:scale>
          <a:sx n="91" d="100"/>
          <a:sy n="91" d="100"/>
        </p:scale>
        <p:origin x="1056" y="84"/>
      </p:cViewPr>
      <p:guideLst>
        <p:guide orient="horz" pos="2157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>
              <a:defRPr/>
            </a:pPr>
            <a:fld id="{0E7094D2-52B1-4A24-9772-F4ABB377CA0B}" type="datetime1">
              <a:rPr lang="ko-KR" altLang="en-US"/>
              <a:pPr>
                <a:defRPr/>
              </a:pPr>
              <a:t>2025-08-18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303C5F93-DBD8-475E-B5C0-664EF94AA89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이(가) 표시된 사진&#10;&#10;매우 높은 신뢰도로 생성된 설명">
            <a:extLst>
              <a:ext uri="{FF2B5EF4-FFF2-40B4-BE49-F238E27FC236}">
                <a16:creationId xmlns:a16="http://schemas.microsoft.com/office/drawing/2014/main" id="{1F71807D-336E-4FF6-BE4D-1DFB82D18E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503"/>
            <a:ext cx="9144000" cy="687500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74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52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tcpschool.com/java/java_io_strea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52004"/>
            <a:ext cx="9144000" cy="80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5000"/>
              </a:lnSpc>
            </a:pPr>
            <a:r>
              <a:rPr lang="en-US" altLang="ko-KR" sz="2800"/>
              <a:t>7</a:t>
            </a:r>
            <a:r>
              <a:rPr lang="ko-KR" altLang="en-US" sz="2800"/>
              <a:t>장</a:t>
            </a:r>
            <a:r>
              <a:rPr lang="en-US" altLang="ko-KR" sz="2800"/>
              <a:t>  </a:t>
            </a:r>
            <a:r>
              <a:rPr lang="ko-KR" altLang="en-US" sz="2800"/>
              <a:t>서블릿 비즈니스 로직 처리</a:t>
            </a:r>
            <a:endParaRPr lang="ko-KR" altLang="en-US" sz="2800" spc="-88"/>
          </a:p>
        </p:txBody>
      </p:sp>
      <p:cxnSp>
        <p:nvCxnSpPr>
          <p:cNvPr id="5" name="직선 연결선 4"/>
          <p:cNvCxnSpPr/>
          <p:nvPr/>
        </p:nvCxnSpPr>
        <p:spPr>
          <a:xfrm>
            <a:off x="716437" y="1455301"/>
            <a:ext cx="7748833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66887" y="1909244"/>
            <a:ext cx="6400800" cy="2603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1">
                    <a:lumMod val="75000"/>
                  </a:schemeClr>
                </a:solidFill>
              </a:rPr>
              <a:t>7.1</a:t>
            </a:r>
            <a:r>
              <a:rPr lang="ko-KR" altLang="en-US" sz="200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ko-KR" altLang="en-US" sz="2000">
                <a:solidFill>
                  <a:schemeClr val="bg1">
                    <a:lumMod val="75000"/>
                  </a:schemeClr>
                </a:solidFill>
              </a:rPr>
              <a:t>서블릿의 비즈니스 로직 처리 방법</a:t>
            </a: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1">
                    <a:lumMod val="75000"/>
                  </a:schemeClr>
                </a:solidFill>
              </a:rPr>
              <a:t>7.2  </a:t>
            </a:r>
            <a:r>
              <a:rPr lang="ko-KR" altLang="en-US" sz="2000">
                <a:solidFill>
                  <a:schemeClr val="bg1">
                    <a:lumMod val="75000"/>
                  </a:schemeClr>
                </a:solidFill>
              </a:rPr>
              <a:t>서블릿의 데이터베이스 연동하기</a:t>
            </a: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1">
                    <a:lumMod val="75000"/>
                  </a:schemeClr>
                </a:solidFill>
              </a:rPr>
              <a:t>7.3  DataSource </a:t>
            </a:r>
            <a:r>
              <a:rPr lang="ko-KR" altLang="en-US" sz="2000">
                <a:solidFill>
                  <a:schemeClr val="bg1">
                    <a:lumMod val="75000"/>
                  </a:schemeClr>
                </a:solidFill>
              </a:rPr>
              <a:t>이용해 데이터베이스 연동하기</a:t>
            </a: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1">
                    <a:lumMod val="75000"/>
                  </a:schemeClr>
                </a:solidFill>
              </a:rPr>
              <a:t>7.4  DataSource </a:t>
            </a:r>
            <a:r>
              <a:rPr lang="ko-KR" altLang="en-US" sz="2000">
                <a:solidFill>
                  <a:schemeClr val="bg1">
                    <a:lumMod val="75000"/>
                  </a:schemeClr>
                </a:solidFill>
              </a:rPr>
              <a:t>이용해 회원 정보 등록하기</a:t>
            </a: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1">
                    <a:lumMod val="75000"/>
                  </a:schemeClr>
                </a:solidFill>
              </a:rPr>
              <a:t>7.5  </a:t>
            </a:r>
            <a:r>
              <a:rPr lang="ko-KR" altLang="en-US" sz="2000">
                <a:solidFill>
                  <a:schemeClr val="bg1">
                    <a:lumMod val="75000"/>
                  </a:schemeClr>
                </a:solidFill>
              </a:rPr>
              <a:t>회원 정보 삭제하기</a:t>
            </a:r>
            <a:endParaRPr lang="en-US" altLang="ko-KR" sz="200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비즈니스 로직 처리 방법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01418" y="1490869"/>
            <a:ext cx="68480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도서 쇼핑몰에서 검색 하기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499146" y="1767868"/>
            <a:ext cx="5406771" cy="4609619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  <p:sp>
        <p:nvSpPr>
          <p:cNvPr id="8" name="직사각형 7"/>
          <p:cNvSpPr/>
          <p:nvPr/>
        </p:nvSpPr>
        <p:spPr>
          <a:xfrm>
            <a:off x="3220278" y="1767868"/>
            <a:ext cx="695739" cy="26965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533832"/>
            <a:ext cx="8039113" cy="49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520315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ko-KR" altLang="en-US" spc="-94"/>
              <a:t>서블릿의 비즈니스 처리 작업</a:t>
            </a:r>
            <a:endParaRPr lang="en-US" altLang="ko-KR" spc="-94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비즈니스 로직 처리 방법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5009" y="1989278"/>
            <a:ext cx="7394711" cy="118064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서블릿이 클라이언트로부터 요청을 받으면 그 요청에 대해 작업을 수행하는 것</a:t>
            </a:r>
            <a:r>
              <a:rPr lang="en-US" altLang="ko-KR" sz="1200">
                <a:latin typeface="+mj-ea"/>
                <a:ea typeface="+mj-ea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웹 프로그램에서 대부분의 비즈니스 처리 작업은 데이터베이스 연동 관련 작업이지만 그 외에 다른 서버와 연동해서 데이터를 얻는 작업도 수행</a:t>
            </a:r>
            <a:r>
              <a:rPr lang="en-US" altLang="ko-KR" sz="1200">
                <a:latin typeface="+mj-ea"/>
                <a:ea typeface="+mj-ea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서블릿의  가장 핵심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808" y="3372571"/>
            <a:ext cx="8039113" cy="49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520315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ko-KR" altLang="en-US" spc="-94"/>
              <a:t>서블릿의 비즈니스 처리 작업 예</a:t>
            </a:r>
            <a:endParaRPr lang="en-US" altLang="ko-KR" spc="-94"/>
          </a:p>
        </p:txBody>
      </p:sp>
      <p:sp>
        <p:nvSpPr>
          <p:cNvPr id="5" name="TextBox 4"/>
          <p:cNvSpPr txBox="1"/>
          <p:nvPr/>
        </p:nvSpPr>
        <p:spPr>
          <a:xfrm>
            <a:off x="815009" y="3880402"/>
            <a:ext cx="7394711" cy="90876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웹 사이트 회원 등록 요청 처리 작업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웹 사이트 로그인 요청 처리 작업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쇼핑몰 상품 주문 처리 작업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비즈니스 로직 처리 방법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3548" y="5096249"/>
            <a:ext cx="7056781" cy="90259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클라이언트로부터 요청을 받습니다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데이터베이스 연동과 같은 비즈니스 로직을 처리합니다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처리 결과를 클라이언트에게 돌려줍니다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3122" y="1361915"/>
            <a:ext cx="4403035" cy="26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서블릿의 비즈니스 처리 과정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1748963" y="1767995"/>
            <a:ext cx="4596570" cy="2952281"/>
            <a:chOff x="2027582" y="2499758"/>
            <a:chExt cx="4695962" cy="3059605"/>
          </a:xfrm>
        </p:grpSpPr>
        <p:pic>
          <p:nvPicPr>
            <p:cNvPr id="9" name="Picture 6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2027583" y="2499758"/>
              <a:ext cx="4695961" cy="30596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TextBox 9"/>
            <p:cNvSpPr txBox="1"/>
            <p:nvPr/>
          </p:nvSpPr>
          <p:spPr>
            <a:xfrm>
              <a:off x="2027582" y="4052940"/>
              <a:ext cx="134178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/>
                <a:t>클라이언트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94919" y="4808318"/>
              <a:ext cx="134178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/>
                <a:t>톰캣 컨테이너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20278" y="3150700"/>
              <a:ext cx="485241" cy="278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1200" b="1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93474" y="3434757"/>
              <a:ext cx="485239" cy="2809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1200" b="1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40152" y="3704698"/>
              <a:ext cx="485241" cy="2775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1200" b="1">
                  <a:solidFill>
                    <a:srgbClr val="FF0000"/>
                  </a:solidFill>
                </a:rPr>
                <a:t>③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533832"/>
            <a:ext cx="8039113" cy="49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520315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ko-KR" altLang="en-US" spc="-94"/>
              <a:t>서블릿의 데이터베이스 연동 과정</a:t>
            </a:r>
            <a:endParaRPr lang="en-US" altLang="ko-KR" spc="-94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1357" y="1989278"/>
            <a:ext cx="5078895" cy="266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서블릿의 데이터베이스 연동 과정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411357" y="2386843"/>
            <a:ext cx="5873750" cy="364331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98785" y="6330959"/>
            <a:ext cx="80299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solidFill>
                  <a:srgbClr val="FF0000"/>
                </a:solidFill>
                <a:latin typeface="+mj-ea"/>
                <a:ea typeface="+mj-ea"/>
              </a:rPr>
              <a:t>https://cafe.naver.com/standardjava</a:t>
            </a:r>
            <a:endParaRPr lang="ko-KR" altLang="en-US" sz="1200" b="1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5213" y="6106510"/>
            <a:ext cx="3225591" cy="263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/>
              <a:buChar char="v"/>
            </a:pPr>
            <a:r>
              <a:rPr lang="ko-KR" altLang="en-US" sz="1200" b="1"/>
              <a:t>자바 데이터베이스 강좌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533832"/>
            <a:ext cx="8039113" cy="49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520315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 spc="-94"/>
              <a:t>7.2.1 </a:t>
            </a:r>
            <a:r>
              <a:rPr lang="ko-KR" altLang="en-US" b="1" spc="-94"/>
              <a:t>서블릿으로 회원 정보 테이블의 회원 정보 조회</a:t>
            </a:r>
            <a:endParaRPr lang="en-US" altLang="ko-KR" b="1" spc="-94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6039" y="2107096"/>
            <a:ext cx="39534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회원 정보 조회 과정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384599" y="2245595"/>
            <a:ext cx="6340475" cy="46894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119" y="1580322"/>
            <a:ext cx="7873568" cy="228492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웹 브라우저가 서블릿에게 회원 정보를 요청합니다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>
                <a:latin typeface="+mj-ea"/>
                <a:ea typeface="+mj-ea"/>
              </a:rPr>
              <a:t>MemberServlet</a:t>
            </a:r>
            <a:r>
              <a:rPr lang="ko-KR" altLang="en-US" sz="1200">
                <a:latin typeface="+mj-ea"/>
                <a:ea typeface="+mj-ea"/>
              </a:rPr>
              <a:t>은 요청을 받은 후 </a:t>
            </a:r>
            <a:r>
              <a:rPr lang="en-US" altLang="ko-KR" sz="1200">
                <a:latin typeface="+mj-ea"/>
                <a:ea typeface="+mj-ea"/>
              </a:rPr>
              <a:t>MemberDAO </a:t>
            </a:r>
            <a:r>
              <a:rPr lang="ko-KR" altLang="en-US" sz="1200">
                <a:latin typeface="+mj-ea"/>
                <a:ea typeface="+mj-ea"/>
              </a:rPr>
              <a:t>객체를 생성하여 </a:t>
            </a:r>
            <a:r>
              <a:rPr lang="en-US" altLang="ko-KR" sz="1200">
                <a:latin typeface="+mj-ea"/>
                <a:ea typeface="+mj-ea"/>
              </a:rPr>
              <a:t>listMembers() </a:t>
            </a:r>
            <a:r>
              <a:rPr lang="ko-KR" altLang="en-US" sz="1200">
                <a:latin typeface="+mj-ea"/>
                <a:ea typeface="+mj-ea"/>
              </a:rPr>
              <a:t>메서드를 호출합니다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>
                <a:latin typeface="+mj-ea"/>
                <a:ea typeface="+mj-ea"/>
              </a:rPr>
              <a:t>listMembers()</a:t>
            </a:r>
            <a:r>
              <a:rPr lang="ko-KR" altLang="en-US" sz="1200">
                <a:latin typeface="+mj-ea"/>
                <a:ea typeface="+mj-ea"/>
              </a:rPr>
              <a:t>에서 다시 </a:t>
            </a:r>
            <a:r>
              <a:rPr lang="en-US" altLang="ko-KR" sz="1200">
                <a:latin typeface="+mj-ea"/>
                <a:ea typeface="+mj-ea"/>
              </a:rPr>
              <a:t>connDB() </a:t>
            </a:r>
            <a:r>
              <a:rPr lang="ko-KR" altLang="en-US" sz="1200">
                <a:latin typeface="+mj-ea"/>
                <a:ea typeface="+mj-ea"/>
              </a:rPr>
              <a:t>메서드를 호출하여 데이터베이스와 연결한 후 </a:t>
            </a:r>
            <a:r>
              <a:rPr lang="en-US" altLang="ko-KR" sz="1200">
                <a:latin typeface="+mj-ea"/>
                <a:ea typeface="+mj-ea"/>
              </a:rPr>
              <a:t>SQL</a:t>
            </a:r>
            <a:r>
              <a:rPr lang="ko-KR" altLang="en-US" sz="1200">
                <a:latin typeface="+mj-ea"/>
                <a:ea typeface="+mj-ea"/>
              </a:rPr>
              <a:t>문을 실행해 회원 정보를 조회합니다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조회된 회원 정보를 </a:t>
            </a:r>
            <a:r>
              <a:rPr lang="en-US" altLang="ko-KR" sz="1200">
                <a:latin typeface="+mj-ea"/>
                <a:ea typeface="+mj-ea"/>
              </a:rPr>
              <a:t>MemberVO </a:t>
            </a:r>
            <a:r>
              <a:rPr lang="ko-KR" altLang="en-US" sz="1200">
                <a:latin typeface="+mj-ea"/>
                <a:ea typeface="+mj-ea"/>
              </a:rPr>
              <a:t>속성에 설정한 후 다시 </a:t>
            </a:r>
            <a:r>
              <a:rPr lang="en-US" altLang="ko-KR" sz="1200">
                <a:latin typeface="+mj-ea"/>
                <a:ea typeface="+mj-ea"/>
              </a:rPr>
              <a:t>ArrayList</a:t>
            </a:r>
            <a:r>
              <a:rPr lang="ko-KR" altLang="en-US" sz="1200">
                <a:latin typeface="+mj-ea"/>
                <a:ea typeface="+mj-ea"/>
              </a:rPr>
              <a:t>에 저장합니다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>
                <a:latin typeface="+mj-ea"/>
                <a:ea typeface="+mj-ea"/>
              </a:rPr>
              <a:t>ArrayList</a:t>
            </a:r>
            <a:r>
              <a:rPr lang="ko-KR" altLang="en-US" sz="1200">
                <a:latin typeface="+mj-ea"/>
                <a:ea typeface="+mj-ea"/>
              </a:rPr>
              <a:t>를 다시 메서드를 호출한 </a:t>
            </a:r>
            <a:r>
              <a:rPr lang="en-US" altLang="ko-KR" sz="1200">
                <a:latin typeface="+mj-ea"/>
                <a:ea typeface="+mj-ea"/>
              </a:rPr>
              <a:t>MemberServlet</a:t>
            </a:r>
            <a:r>
              <a:rPr lang="ko-KR" altLang="en-US" sz="1200">
                <a:latin typeface="+mj-ea"/>
                <a:ea typeface="+mj-ea"/>
              </a:rPr>
              <a:t>으로 반환한 후 </a:t>
            </a:r>
            <a:r>
              <a:rPr lang="en-US" altLang="ko-KR" sz="1200">
                <a:latin typeface="+mj-ea"/>
                <a:ea typeface="+mj-ea"/>
              </a:rPr>
              <a:t>ArrayList</a:t>
            </a:r>
            <a:r>
              <a:rPr lang="ko-KR" altLang="en-US" sz="1200">
                <a:latin typeface="+mj-ea"/>
                <a:ea typeface="+mj-ea"/>
              </a:rPr>
              <a:t>의 </a:t>
            </a:r>
            <a:r>
              <a:rPr lang="en-US" altLang="ko-KR" sz="1200">
                <a:latin typeface="+mj-ea"/>
                <a:ea typeface="+mj-ea"/>
              </a:rPr>
              <a:t>MemberVO</a:t>
            </a:r>
            <a:r>
              <a:rPr lang="ko-KR" altLang="en-US" sz="1200">
                <a:latin typeface="+mj-ea"/>
                <a:ea typeface="+mj-ea"/>
              </a:rPr>
              <a:t>를 차례대로 가져와 회원 정보를 </a:t>
            </a:r>
            <a:r>
              <a:rPr lang="en-US" altLang="ko-KR" sz="1200">
                <a:latin typeface="+mj-ea"/>
                <a:ea typeface="+mj-ea"/>
              </a:rPr>
              <a:t>HTML </a:t>
            </a:r>
            <a:r>
              <a:rPr lang="ko-KR" altLang="en-US" sz="1200">
                <a:latin typeface="+mj-ea"/>
                <a:ea typeface="+mj-ea"/>
              </a:rPr>
              <a:t>태그의 문자열로 만듭니다</a:t>
            </a:r>
            <a:r>
              <a:rPr lang="en-US" altLang="ko-KR" sz="1200">
                <a:latin typeface="+mj-ea"/>
                <a:ea typeface="+mj-ea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만들어진 </a:t>
            </a:r>
            <a:r>
              <a:rPr lang="en-US" altLang="ko-KR" sz="1200">
                <a:latin typeface="+mj-ea"/>
                <a:ea typeface="+mj-ea"/>
              </a:rPr>
              <a:t>HTML </a:t>
            </a:r>
            <a:r>
              <a:rPr lang="ko-KR" altLang="en-US" sz="1200">
                <a:latin typeface="+mj-ea"/>
                <a:ea typeface="+mj-ea"/>
              </a:rPr>
              <a:t>태그를 웹 브라우저로 전송해서 회원 정보를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44266" y="1699532"/>
            <a:ext cx="3271752" cy="36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520315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</a:pPr>
            <a:r>
              <a:rPr lang="ko-KR" altLang="en-US" sz="1200" b="1" spc="-100">
                <a:latin typeface="+mj-ea"/>
                <a:ea typeface="+mj-ea"/>
              </a:rPr>
              <a:t>테이블 </a:t>
            </a:r>
            <a:r>
              <a:rPr lang="en-US" altLang="ko-KR" sz="1200" b="1" spc="-100">
                <a:latin typeface="+mj-ea"/>
                <a:ea typeface="+mj-ea"/>
              </a:rPr>
              <a:t>t_member</a:t>
            </a:r>
            <a:r>
              <a:rPr lang="ko-KR" altLang="en-US" sz="1200" b="1" spc="-100">
                <a:latin typeface="+mj-ea"/>
                <a:ea typeface="+mj-ea"/>
              </a:rPr>
              <a:t>의 구성</a:t>
            </a:r>
            <a:endParaRPr lang="en-US" altLang="ko-KR" sz="1200" b="1" spc="-10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57520" y="1994894"/>
          <a:ext cx="7780802" cy="2058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4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2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54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34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25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컬럼이름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자료형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크기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유일키 여부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NULL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여부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기본값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varchar2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Y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기본키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pwd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varchar2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varchar2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email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varchar2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1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가입일자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joinDate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sysdate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396137"/>
            <a:ext cx="80391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520315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</a:pPr>
            <a:r>
              <a:rPr lang="ko-KR" altLang="en-US" sz="1400" spc="-102">
                <a:latin typeface="+mj-ea"/>
                <a:ea typeface="+mj-ea"/>
              </a:rPr>
              <a:t>오라클에 테이블 생성 후 회원 정보 입력하기</a:t>
            </a:r>
            <a:endParaRPr lang="en-US" altLang="ko-KR" sz="1400" spc="-102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5252" y="1848678"/>
            <a:ext cx="7593496" cy="263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먼저 </a:t>
            </a:r>
            <a:r>
              <a:rPr lang="en-US" altLang="ko-KR" sz="1200">
                <a:latin typeface="+mj-ea"/>
                <a:ea typeface="+mj-ea"/>
              </a:rPr>
              <a:t>SQL Developer</a:t>
            </a:r>
            <a:r>
              <a:rPr lang="ko-KR" altLang="en-US" sz="1200">
                <a:latin typeface="+mj-ea"/>
                <a:ea typeface="+mj-ea"/>
              </a:rPr>
              <a:t>에서 회원 테이블과 회원 정보를 입력하기 위해 </a:t>
            </a:r>
            <a:r>
              <a:rPr lang="en-US" altLang="ko-KR" sz="1200">
                <a:latin typeface="+mj-ea"/>
                <a:ea typeface="+mj-ea"/>
              </a:rPr>
              <a:t>SQL Developer</a:t>
            </a:r>
            <a:r>
              <a:rPr lang="ko-KR" altLang="en-US" sz="1200">
                <a:latin typeface="+mj-ea"/>
                <a:ea typeface="+mj-ea"/>
              </a:rPr>
              <a:t>를 실행합니다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324274" y="2125677"/>
            <a:ext cx="5943600" cy="3492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119" y="1530626"/>
            <a:ext cx="77841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왼쪽 메뉴의 </a:t>
            </a:r>
            <a:r>
              <a:rPr lang="en-US" altLang="ko-KR" sz="1200">
                <a:latin typeface="+mj-ea"/>
                <a:ea typeface="+mj-ea"/>
              </a:rPr>
              <a:t>+</a:t>
            </a:r>
            <a:r>
              <a:rPr lang="ko-KR" altLang="en-US" sz="1200">
                <a:latin typeface="+mj-ea"/>
                <a:ea typeface="+mj-ea"/>
              </a:rPr>
              <a:t>를 클릭한 후 새 접속</a:t>
            </a:r>
            <a:r>
              <a:rPr lang="en-US" altLang="ko-KR" sz="1200">
                <a:latin typeface="+mj-ea"/>
                <a:ea typeface="+mj-ea"/>
              </a:rPr>
              <a:t>...</a:t>
            </a:r>
            <a:r>
              <a:rPr lang="ko-KR" altLang="en-US" sz="1200">
                <a:latin typeface="+mj-ea"/>
                <a:ea typeface="+mj-ea"/>
              </a:rPr>
              <a:t>을 선택합니다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145896" y="1807625"/>
            <a:ext cx="6502561" cy="37781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1145896" y="2743200"/>
            <a:ext cx="275400" cy="17890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283596" y="2922104"/>
            <a:ext cx="912952" cy="2286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119" y="1560443"/>
            <a:ext cx="7714542" cy="266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왼쪽 메뉴에서 미리 만들어 놓은 접속 이름을 클릭하거나 직접 연결 정보를 입력한 후 접속을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284899" y="1967601"/>
            <a:ext cx="5950788" cy="30516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5367130" y="4770783"/>
            <a:ext cx="874644" cy="16896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394774" y="2030015"/>
            <a:ext cx="1600398" cy="100258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latin typeface="한컴산뜻돋움"/>
                <a:ea typeface="한컴산뜻돋움"/>
              </a:rPr>
              <a:t>자신의 계정을 기재</a:t>
            </a:r>
          </a:p>
          <a:p>
            <a:pPr lvl="0">
              <a:defRPr/>
            </a:pPr>
            <a:endParaRPr lang="ko-KR" altLang="en-US" sz="1200">
              <a:latin typeface="한컴산뜻돋움"/>
              <a:ea typeface="한컴산뜻돋움"/>
            </a:endParaRP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(</a:t>
            </a:r>
            <a:r>
              <a:rPr lang="ko-KR" altLang="en-US" sz="1200">
                <a:latin typeface="한컴산뜻돋움"/>
                <a:ea typeface="한컴산뜻돋움"/>
              </a:rPr>
              <a:t>예</a:t>
            </a:r>
            <a:r>
              <a:rPr lang="en-US" altLang="ko-KR" sz="1200">
                <a:latin typeface="한컴산뜻돋움"/>
                <a:ea typeface="한컴산뜻돋움"/>
              </a:rPr>
              <a:t>)</a:t>
            </a:r>
          </a:p>
          <a:p>
            <a:pPr lvl="0">
              <a:defRPr/>
            </a:pPr>
            <a:r>
              <a:rPr lang="en-US" altLang="ko-KR" sz="1200">
                <a:solidFill>
                  <a:srgbClr val="FF0000"/>
                </a:solidFill>
                <a:latin typeface="한컴산뜻돋움"/>
                <a:ea typeface="한컴산뜻돋움"/>
              </a:rPr>
              <a:t>system</a:t>
            </a:r>
          </a:p>
          <a:p>
            <a:pPr lvl="0">
              <a:defRPr/>
            </a:pPr>
            <a:r>
              <a:rPr lang="en-US" altLang="ko-KR" sz="1200">
                <a:solidFill>
                  <a:srgbClr val="FF0000"/>
                </a:solidFill>
                <a:latin typeface="한컴산뜻돋움"/>
                <a:ea typeface="한컴산뜻돋움"/>
              </a:rPr>
              <a:t>12345</a:t>
            </a:r>
          </a:p>
        </p:txBody>
      </p:sp>
      <p:sp>
        <p:nvSpPr>
          <p:cNvPr id="14" name="자유형 13"/>
          <p:cNvSpPr/>
          <p:nvPr/>
        </p:nvSpPr>
        <p:spPr>
          <a:xfrm>
            <a:off x="5492073" y="1815701"/>
            <a:ext cx="1918935" cy="521278"/>
          </a:xfrm>
          <a:custGeom>
            <a:avLst/>
            <a:gdLst>
              <a:gd name="connsiteX0" fmla="*/ -2300 w 1918935"/>
              <a:gd name="connsiteY0" fmla="*/ 521892 h 521278"/>
              <a:gd name="connsiteX1" fmla="*/ 841060 w 1918935"/>
              <a:gd name="connsiteY1" fmla="*/ 5955 h 521278"/>
              <a:gd name="connsiteX2" fmla="*/ 1922544 w 1918935"/>
              <a:gd name="connsiteY2" fmla="*/ 234158 h 521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8935" h="521278">
                <a:moveTo>
                  <a:pt x="-2300" y="521892"/>
                </a:moveTo>
                <a:cubicBezTo>
                  <a:pt x="138259" y="435902"/>
                  <a:pt x="520252" y="53910"/>
                  <a:pt x="841060" y="5955"/>
                </a:cubicBezTo>
                <a:cubicBezTo>
                  <a:pt x="1161867" y="-42000"/>
                  <a:pt x="1742296" y="196124"/>
                  <a:pt x="1922544" y="234158"/>
                </a:cubicBezTo>
              </a:path>
            </a:pathLst>
          </a:custGeom>
          <a:noFill/>
          <a:ln>
            <a:solidFill>
              <a:schemeClr val="accent1">
                <a:shade val="20000"/>
              </a:schemeClr>
            </a:solidFill>
            <a:tailEnd type="triangle" w="lg" len="lg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451113"/>
            <a:ext cx="7863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접속한 후 생성되는 워크시트에 다음과 같은 테이블 생성 </a:t>
            </a:r>
            <a:r>
              <a:rPr lang="en-US" altLang="ko-KR" sz="1200">
                <a:latin typeface="+mj-ea"/>
                <a:ea typeface="+mj-ea"/>
              </a:rPr>
              <a:t>SQL</a:t>
            </a:r>
            <a:r>
              <a:rPr lang="ko-KR" altLang="en-US" sz="1200">
                <a:latin typeface="+mj-ea"/>
                <a:ea typeface="+mj-ea"/>
              </a:rPr>
              <a:t>문을 입력합니다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449085" y="1728112"/>
            <a:ext cx="5975696" cy="481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10748"/>
            <a:ext cx="7784116" cy="449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마우스 포인터를 각각의 </a:t>
            </a:r>
            <a:r>
              <a:rPr lang="en-US" altLang="ko-KR" sz="1200">
                <a:latin typeface="+mj-ea"/>
                <a:ea typeface="+mj-ea"/>
              </a:rPr>
              <a:t>SQL</a:t>
            </a:r>
            <a:r>
              <a:rPr lang="ko-KR" altLang="en-US" sz="1200">
                <a:latin typeface="+mj-ea"/>
                <a:ea typeface="+mj-ea"/>
              </a:rPr>
              <a:t>문에 위치시킨 후 왼쪽 상단 녹색</a:t>
            </a:r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버튼을 클릭해 </a:t>
            </a:r>
            <a:r>
              <a:rPr lang="en-US" altLang="ko-KR" sz="1200">
                <a:latin typeface="+mj-ea"/>
                <a:ea typeface="+mj-ea"/>
              </a:rPr>
              <a:t>SQL</a:t>
            </a:r>
            <a:r>
              <a:rPr lang="ko-KR" altLang="en-US" sz="1200">
                <a:latin typeface="+mj-ea"/>
                <a:ea typeface="+mj-ea"/>
              </a:rPr>
              <a:t>문을 실행하여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테이블을 생성합니다</a:t>
            </a:r>
            <a:r>
              <a:rPr lang="en-US" altLang="ko-KR" sz="1200">
                <a:latin typeface="+mj-ea"/>
                <a:ea typeface="+mj-ea"/>
              </a:rPr>
              <a:t>. insert</a:t>
            </a:r>
            <a:r>
              <a:rPr lang="ko-KR" altLang="en-US" sz="1200">
                <a:latin typeface="+mj-ea"/>
                <a:ea typeface="+mj-ea"/>
              </a:rPr>
              <a:t>문에 대해서도 동일하게 실행합니다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557545" y="2156957"/>
            <a:ext cx="3392805" cy="23850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557545" y="2355574"/>
            <a:ext cx="185655" cy="16896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461700"/>
            <a:ext cx="76531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ko-KR" altLang="en-US" sz="1200">
                <a:latin typeface="+mj-ea"/>
                <a:ea typeface="+mj-ea"/>
              </a:rPr>
              <a:t>커밋이 완료됐다는 메시지가 나타나고 </a:t>
            </a:r>
            <a:r>
              <a:rPr lang="en-US" altLang="ko-KR" sz="1200">
                <a:latin typeface="+mj-ea"/>
                <a:ea typeface="+mj-ea"/>
              </a:rPr>
              <a:t>select</a:t>
            </a:r>
            <a:r>
              <a:rPr lang="ko-KR" altLang="en-US" sz="1200">
                <a:latin typeface="+mj-ea"/>
                <a:ea typeface="+mj-ea"/>
              </a:rPr>
              <a:t>문으로 조회 시 회원 정보가 표시됩니다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4524674" y="2000250"/>
            <a:ext cx="3768725" cy="744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971964" y="2000250"/>
            <a:ext cx="3105150" cy="952500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10748"/>
            <a:ext cx="7833811" cy="639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7. </a:t>
            </a:r>
            <a:r>
              <a:rPr lang="ko-KR" altLang="en-US" sz="1200">
                <a:latin typeface="+mj-ea"/>
                <a:ea typeface="+mj-ea"/>
              </a:rPr>
              <a:t>이클립스에서 만든 프로젝트에서 회원 정보를 조회해 보겠습니다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새 프로젝트 </a:t>
            </a:r>
            <a:r>
              <a:rPr lang="en-US" altLang="ko-KR" sz="1200">
                <a:latin typeface="+mj-ea"/>
                <a:ea typeface="+mj-ea"/>
              </a:rPr>
              <a:t>pro07</a:t>
            </a:r>
            <a:r>
              <a:rPr lang="ko-KR" altLang="en-US" sz="1200">
                <a:latin typeface="+mj-ea"/>
                <a:ea typeface="+mj-ea"/>
              </a:rPr>
              <a:t>을 생성한 다음 오라클</a:t>
            </a:r>
          </a:p>
          <a:p>
            <a:pPr lvl="0">
              <a:defRPr/>
            </a:pPr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데이터베이스와 연동하는 데 필요한 드라이버인 </a:t>
            </a:r>
            <a:r>
              <a:rPr lang="en-US" altLang="ko-KR" sz="1200">
                <a:latin typeface="+mj-ea"/>
                <a:ea typeface="+mj-ea"/>
              </a:rPr>
              <a:t>ojdbc6.jar</a:t>
            </a:r>
            <a:r>
              <a:rPr lang="ko-KR" altLang="en-US" sz="1200">
                <a:latin typeface="+mj-ea"/>
                <a:ea typeface="+mj-ea"/>
              </a:rPr>
              <a:t>를 프로젝트의 </a:t>
            </a:r>
            <a:r>
              <a:rPr lang="en-US" altLang="ko-KR" sz="1200">
                <a:latin typeface="+mj-ea"/>
                <a:ea typeface="+mj-ea"/>
              </a:rPr>
              <a:t>/webapp/WEB-INF/lib </a:t>
            </a:r>
            <a:r>
              <a:rPr lang="ko-KR" altLang="en-US" sz="1200">
                <a:latin typeface="+mj-ea"/>
                <a:ea typeface="+mj-ea"/>
              </a:rPr>
              <a:t>폴더에</a:t>
            </a:r>
          </a:p>
          <a:p>
            <a:pPr lvl="0">
              <a:defRPr/>
            </a:pPr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복사하여 붙여 넣습니다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69" y="5571610"/>
            <a:ext cx="6134220" cy="41740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>
                <a:latin typeface="+mj-ea"/>
                <a:ea typeface="+mj-ea"/>
              </a:rPr>
              <a:t>오라클 드라이버는 아래 링크를 클릭해 다운로드할 수 있습니다</a:t>
            </a:r>
            <a:r>
              <a:rPr lang="en-US" altLang="ko-KR" sz="1100">
                <a:latin typeface="+mj-ea"/>
                <a:ea typeface="+mj-ea"/>
              </a:rPr>
              <a:t>.</a:t>
            </a:r>
          </a:p>
          <a:p>
            <a:pPr lvl="0">
              <a:defRPr/>
            </a:pPr>
            <a:r>
              <a:rPr lang="en-US" altLang="ko-KR" sz="1100" b="1">
                <a:solidFill>
                  <a:srgbClr val="FF0000"/>
                </a:solidFill>
                <a:latin typeface="+mj-ea"/>
                <a:ea typeface="+mj-ea"/>
              </a:rPr>
              <a:t>• https://www.oracle.com/technetwork/apps-tech/jdbc-112010-090769.html</a:t>
            </a:r>
            <a:endParaRPr lang="ko-KR" altLang="en-US" sz="1100" b="1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8652" y="5294611"/>
            <a:ext cx="907950" cy="2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Wingdings"/>
              <a:buChar char="v"/>
              <a:defRPr/>
            </a:pPr>
            <a:r>
              <a:rPr lang="en-US" altLang="ko-KR" sz="1200" b="1"/>
              <a:t>Tip</a:t>
            </a:r>
            <a:endParaRPr lang="ko-KR" altLang="en-US" sz="1200" b="1"/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073425" y="2345649"/>
            <a:ext cx="2209800" cy="2419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1741003" y="4380272"/>
            <a:ext cx="904461" cy="18884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가로 글상자 12"/>
          <p:cNvSpPr txBox="1"/>
          <p:nvPr/>
        </p:nvSpPr>
        <p:spPr>
          <a:xfrm>
            <a:off x="1539621" y="3564092"/>
            <a:ext cx="748415" cy="169482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100"/>
              <a:t>webapp</a:t>
            </a:r>
          </a:p>
        </p:txBody>
      </p:sp>
      <p:sp>
        <p:nvSpPr>
          <p:cNvPr id="14" name="직사각형 5124"/>
          <p:cNvSpPr txBox="1"/>
          <p:nvPr/>
        </p:nvSpPr>
        <p:spPr>
          <a:xfrm>
            <a:off x="3502741" y="2326312"/>
            <a:ext cx="4615485" cy="2013954"/>
          </a:xfrm>
          <a:prstGeom prst="rect">
            <a:avLst/>
          </a:prstGeom>
          <a:ln w="9525" cap="flat" cmpd="sng">
            <a:solidFill>
              <a:srgbClr val="FF0000"/>
            </a:solidFill>
            <a:prstDash val="sysDash"/>
            <a:round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en-US" altLang="ko-KR" sz="1200">
                <a:latin typeface="함초롬돋움"/>
                <a:ea typeface="함초롬돋움"/>
              </a:rPr>
              <a:t>JDBC </a:t>
            </a:r>
            <a:r>
              <a:rPr lang="ko-KR" altLang="en-US" sz="1200">
                <a:latin typeface="함초롬돋움"/>
                <a:ea typeface="함초롬돋움"/>
              </a:rPr>
              <a:t>프로그래밍 작업을 할 때, </a:t>
            </a:r>
            <a:r>
              <a:rPr lang="en-US" altLang="ko-KR" sz="1200" b="1">
                <a:solidFill>
                  <a:srgbClr val="FF0000"/>
                </a:solidFill>
                <a:latin typeface="함초롬돋움"/>
                <a:ea typeface="함초롬돋움"/>
              </a:rPr>
              <a:t>java.sql</a:t>
            </a:r>
            <a:r>
              <a:rPr lang="ko-KR" altLang="en-US" sz="1200" b="1">
                <a:solidFill>
                  <a:srgbClr val="FF0000"/>
                </a:solidFill>
                <a:latin typeface="함초롬돋움"/>
                <a:ea typeface="함초롬돋움"/>
              </a:rPr>
              <a:t> 패키지의 인터페이스들</a:t>
            </a:r>
            <a:r>
              <a:rPr lang="ko-KR" altLang="en-US" sz="1200">
                <a:latin typeface="함초롬돋움"/>
                <a:ea typeface="함초롬돋움"/>
              </a:rPr>
              <a:t>로 작업을 하게 되는데, 본래 인터페이스란</a:t>
            </a:r>
          </a:p>
          <a:p>
            <a:pPr lvl="0" algn="just">
              <a:lnSpc>
                <a:spcPct val="150000"/>
              </a:lnSpc>
              <a:defRPr/>
            </a:pPr>
            <a:r>
              <a:rPr lang="ko-KR" altLang="en-US" sz="1200">
                <a:latin typeface="함초롬돋움"/>
                <a:ea typeface="함초롬돋움"/>
              </a:rPr>
              <a:t>메소드의 몸체는 없고 메소드의 선언부만 있는 객체를 의미한다. 따라서 인터페이스는 실제 작업을 할 수 있는 기능이 구현되어 있지 않아서, </a:t>
            </a:r>
            <a:r>
              <a:rPr lang="en-US" altLang="ko-KR" sz="1200">
                <a:latin typeface="함초롬돋움"/>
                <a:ea typeface="함초롬돋움"/>
              </a:rPr>
              <a:t>java.sql </a:t>
            </a:r>
            <a:r>
              <a:rPr lang="ko-KR" altLang="en-US" sz="1200">
                <a:latin typeface="함초롬돋움"/>
                <a:ea typeface="함초롬돋움"/>
              </a:rPr>
              <a:t>의 인터페이스들을 상속하여 메소드들을 구현한 클래스 파일들이 필요하다. 이 파일들을 </a:t>
            </a:r>
            <a:r>
              <a:rPr lang="en-US" altLang="ko-KR" sz="1200" b="1">
                <a:solidFill>
                  <a:srgbClr val="FF0000"/>
                </a:solidFill>
                <a:latin typeface="함초롬돋움"/>
                <a:ea typeface="함초롬돋움"/>
              </a:rPr>
              <a:t>JDBC </a:t>
            </a:r>
            <a:r>
              <a:rPr lang="ko-KR" altLang="en-US" sz="1200" b="1">
                <a:solidFill>
                  <a:srgbClr val="FF0000"/>
                </a:solidFill>
                <a:latin typeface="함초롬돋움"/>
                <a:ea typeface="함초롬돋움"/>
              </a:rPr>
              <a:t>드라이버</a:t>
            </a:r>
            <a:r>
              <a:rPr lang="ko-KR" altLang="en-US" sz="1200">
                <a:latin typeface="함초롬돋움"/>
                <a:ea typeface="함초롬돋움"/>
              </a:rPr>
              <a:t>라고 하며, 사용하는 </a:t>
            </a:r>
            <a:r>
              <a:rPr lang="en-US" altLang="ko-KR" sz="1200">
                <a:latin typeface="함초롬돋움"/>
                <a:ea typeface="함초롬돋움"/>
              </a:rPr>
              <a:t>DB</a:t>
            </a:r>
            <a:r>
              <a:rPr lang="ko-KR" altLang="en-US" sz="1200">
                <a:latin typeface="함초롬돋움"/>
                <a:ea typeface="함초롬돋움"/>
              </a:rPr>
              <a:t>벤더사에서 내려받아 사용하면 된다.</a:t>
            </a:r>
          </a:p>
        </p:txBody>
      </p:sp>
      <p:sp>
        <p:nvSpPr>
          <p:cNvPr id="16" name="TextBox 2"/>
          <p:cNvSpPr txBox="1"/>
          <p:nvPr/>
        </p:nvSpPr>
        <p:spPr>
          <a:xfrm>
            <a:off x="3486176" y="4454393"/>
            <a:ext cx="5139762" cy="52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 b="1"/>
              <a:t>JDBC(Java DataBase Connectivity):</a:t>
            </a:r>
          </a:p>
          <a:p>
            <a:pPr marL="0" lvl="1" eaLnBrk="0" hangingPunct="0">
              <a:lnSpc>
                <a:spcPct val="150000"/>
              </a:lnSpc>
              <a:spcBef>
                <a:spcPts val="156"/>
              </a:spcBef>
              <a:buFont typeface="Arial"/>
              <a:buNone/>
              <a:defRPr/>
            </a:pPr>
            <a:r>
              <a:rPr lang="ko-KR" altLang="en-US" sz="1100" b="1" kern="0" spc="5">
                <a:solidFill>
                  <a:schemeClr val="tx1"/>
                </a:solidFill>
                <a:latin typeface="함초롬돋움"/>
                <a:ea typeface="함초롬돋움"/>
              </a:rPr>
              <a:t>관계형 데이터베이스에 접속하여 </a:t>
            </a:r>
            <a:r>
              <a:rPr lang="en-US" altLang="ko-KR" sz="1100" b="1" kern="0" spc="5">
                <a:solidFill>
                  <a:schemeClr val="tx1"/>
                </a:solidFill>
                <a:latin typeface="함초롬돋움"/>
                <a:ea typeface="함초롬돋움"/>
              </a:rPr>
              <a:t>SQL</a:t>
            </a:r>
            <a:r>
              <a:rPr lang="ko-KR" altLang="en-US" sz="1100" b="1" kern="0" spc="5">
                <a:solidFill>
                  <a:schemeClr val="tx1"/>
                </a:solidFill>
                <a:latin typeface="함초롬돋움"/>
                <a:ea typeface="함초롬돋움"/>
              </a:rPr>
              <a:t>문 수행 처리하는 표준</a:t>
            </a:r>
            <a:r>
              <a:rPr lang="en-US" altLang="ko-KR" sz="1100" b="1" kern="0" spc="5">
                <a:solidFill>
                  <a:schemeClr val="tx1"/>
                </a:solidFill>
                <a:latin typeface="함초롬돋움"/>
                <a:ea typeface="함초롬돋움"/>
              </a:rPr>
              <a:t>SQL </a:t>
            </a:r>
            <a:r>
              <a:rPr lang="ko-KR" altLang="en-US" sz="1100" b="1" kern="0" spc="5">
                <a:solidFill>
                  <a:schemeClr val="tx1"/>
                </a:solidFill>
                <a:latin typeface="함초롬돋움"/>
                <a:ea typeface="함초롬돋움"/>
              </a:rPr>
              <a:t>인터페이스 </a:t>
            </a:r>
            <a:r>
              <a:rPr lang="en-US" altLang="ko-KR" sz="1100" b="1" kern="0" spc="5">
                <a:solidFill>
                  <a:schemeClr val="tx1"/>
                </a:solidFill>
                <a:latin typeface="함초롬돋움"/>
                <a:ea typeface="함초롬돋움"/>
              </a:rPr>
              <a:t>API. </a:t>
            </a:r>
            <a:endParaRPr lang="en-US" altLang="ko-KR" sz="11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368152"/>
            <a:ext cx="7653131" cy="365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     JDBC </a:t>
            </a:r>
            <a:r>
              <a:rPr lang="ko-KR" altLang="en-US"/>
              <a:t>관련 클래스와 프로그래밍 순서</a:t>
            </a:r>
          </a:p>
        </p:txBody>
      </p:sp>
      <p:sp>
        <p:nvSpPr>
          <p:cNvPr id="5124" name="내용 개체 틀 2"/>
          <p:cNvSpPr>
            <a:spLocks noGrp="1"/>
          </p:cNvSpPr>
          <p:nvPr/>
        </p:nvSpPr>
        <p:spPr>
          <a:xfrm>
            <a:off x="571993" y="1787909"/>
            <a:ext cx="8000012" cy="4766025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  <p:txBody>
          <a:bodyPr vert="horz" lIns="91440" tIns="45720" rIns="91440" bIns="45720"/>
          <a:lstStyle/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1. java.lang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패키지의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Class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클래스의 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forName()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메소드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: JDBC driver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사용할 수 있도록 메모리 준비 작업 메소드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                                                       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        </a:t>
            </a:r>
            <a:r>
              <a:rPr lang="ko-KR" altLang="en-US" sz="1200" b="1" i="0" spc="5">
                <a:solidFill>
                  <a:srgbClr val="FF0000"/>
                </a:solidFill>
                <a:latin typeface="한컴산뜻돋움"/>
                <a:ea typeface="한컴산뜻돋움"/>
              </a:rPr>
              <a:t>private static final String driver = "oracle.jdbc.driver.OracleDriver";</a:t>
            </a:r>
          </a:p>
          <a:p>
            <a:pPr marL="0" lvl="0" indent="0" algn="l" latinLnBrk="1" hangingPunct="1">
              <a:spcBef>
                <a:spcPct val="26000"/>
              </a:spcBef>
              <a:buFont typeface="Arial"/>
              <a:buNone/>
              <a:defRPr/>
            </a:pPr>
            <a:r>
              <a:rPr lang="ko-KR" altLang="en-US" sz="1200" b="1" i="0" spc="5">
                <a:solidFill>
                  <a:srgbClr val="FF0000"/>
                </a:solidFill>
                <a:latin typeface="한컴산뜻돋움"/>
                <a:ea typeface="한컴산뜻돋움"/>
              </a:rPr>
              <a:t>         Class.forName(driver);    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// forName()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 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메소드는 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static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으로 선언되어 있어서 사용할 땐 "클래스.메소드" 형식으로 사용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2. DriverManager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클래스의 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getConnection():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 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DBMS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서버접속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       </a:t>
            </a:r>
            <a:r>
              <a:rPr lang="en-US" altLang="ko-KR" sz="1200" b="1" i="0" spc="5">
                <a:solidFill>
                  <a:srgbClr val="FF0000"/>
                </a:solidFill>
                <a:latin typeface="한컴산뜻돋움"/>
                <a:ea typeface="한컴산뜻돋움"/>
              </a:rPr>
              <a:t> con = DriverManager.getConnection(url, user, pwd);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ko-KR" altLang="en-US" sz="1200" b="1" i="0" spc="5">
                <a:solidFill>
                  <a:srgbClr val="FF0000"/>
                </a:solidFill>
                <a:latin typeface="한컴산뜻돋움"/>
                <a:ea typeface="한컴산뜻돋움"/>
              </a:rPr>
              <a:t>                url =  "</a:t>
            </a:r>
            <a:r>
              <a:rPr lang="ko-KR" altLang="en-US" sz="1200" b="1" i="0" u="sng" spc="5">
                <a:solidFill>
                  <a:srgbClr val="FF0000"/>
                </a:solidFill>
                <a:latin typeface="한컴산뜻돋움"/>
                <a:ea typeface="한컴산뜻돋움"/>
              </a:rPr>
              <a:t>jdbc:oracle:thin:@</a:t>
            </a:r>
            <a:r>
              <a:rPr lang="ko-KR" altLang="en-US" sz="1200" b="1" i="0" spc="5">
                <a:solidFill>
                  <a:srgbClr val="FF0000"/>
                </a:solidFill>
                <a:latin typeface="한컴산뜻돋움"/>
                <a:ea typeface="한컴산뜻돋움"/>
              </a:rPr>
              <a:t>localhost:</a:t>
            </a:r>
            <a:r>
              <a:rPr lang="ko-KR" altLang="en-US" sz="1200" b="1" i="0" u="sng" spc="5">
                <a:solidFill>
                  <a:srgbClr val="FF0000"/>
                </a:solidFill>
                <a:latin typeface="한컴산뜻돋움"/>
                <a:ea typeface="한컴산뜻돋움"/>
              </a:rPr>
              <a:t>1521</a:t>
            </a:r>
            <a:r>
              <a:rPr lang="ko-KR" altLang="en-US" sz="1200" b="1" i="0" spc="5">
                <a:solidFill>
                  <a:srgbClr val="FF0000"/>
                </a:solidFill>
                <a:latin typeface="한컴산뜻돋움"/>
                <a:ea typeface="한컴산뜻돋움"/>
              </a:rPr>
              <a:t>:XE"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ko-KR" altLang="en-US" sz="1200" b="1" i="0" spc="5">
                <a:solidFill>
                  <a:srgbClr val="FF0000"/>
                </a:solidFill>
                <a:latin typeface="한컴산뜻돋움"/>
                <a:ea typeface="한컴산뜻돋움"/>
              </a:rPr>
              <a:t>                     </a:t>
            </a:r>
            <a:r>
              <a:rPr lang="ko-KR" altLang="en-US" sz="1000" b="1" i="0" spc="5">
                <a:solidFill>
                  <a:srgbClr val="0000FF"/>
                </a:solidFill>
                <a:latin typeface="한컴산뜻돋움"/>
                <a:ea typeface="한컴산뜻돋움"/>
              </a:rPr>
              <a:t>          오라클 프로토콜        서버주소  서버포트  </a:t>
            </a:r>
            <a:r>
              <a:rPr lang="en-US" altLang="ko-KR" sz="1000" b="1" i="0" spc="5">
                <a:solidFill>
                  <a:srgbClr val="0000FF"/>
                </a:solidFill>
                <a:latin typeface="한컴산뜻돋움"/>
                <a:ea typeface="한컴산뜻돋움"/>
              </a:rPr>
              <a:t>DB</a:t>
            </a:r>
            <a:r>
              <a:rPr lang="ko-KR" altLang="en-US" sz="1000" b="1" i="0" spc="5">
                <a:solidFill>
                  <a:srgbClr val="0000FF"/>
                </a:solidFill>
                <a:latin typeface="한컴산뜻돋움"/>
                <a:ea typeface="한컴산뜻돋움"/>
              </a:rPr>
              <a:t>이름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3. Connection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객체의 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createStatement() statement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생성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: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         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DBMS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서버 측으로 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SQL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문 전송/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자바 프로그램 측으로 처리결과 전달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.</a:t>
            </a:r>
          </a:p>
          <a:p>
            <a:pPr marL="228600" lvl="0" indent="-22860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         </a:t>
            </a:r>
            <a:r>
              <a:rPr lang="ko-KR" altLang="en-US" sz="1200" b="1" i="0" spc="5">
                <a:solidFill>
                  <a:srgbClr val="FF0000"/>
                </a:solidFill>
                <a:latin typeface="한컴산뜻돋움"/>
                <a:ea typeface="한컴산뜻돋움"/>
              </a:rPr>
              <a:t>stmt = con.createStatement();   </a:t>
            </a:r>
            <a:r>
              <a:rPr lang="ko-KR" altLang="en-US" sz="1200" i="0" spc="5">
                <a:solidFill>
                  <a:schemeClr val="tx1"/>
                </a:solidFill>
                <a:latin typeface="한컴산뜻돋움"/>
                <a:ea typeface="한컴산뜻돋움"/>
              </a:rPr>
              <a:t>혹은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 </a:t>
            </a:r>
            <a:r>
              <a:rPr lang="en-US" altLang="ko-KR" sz="1200" b="1" i="0" spc="5">
                <a:solidFill>
                  <a:srgbClr val="FF0000"/>
                </a:solidFill>
                <a:latin typeface="한컴산뜻돋움"/>
                <a:ea typeface="한컴산뜻돋움"/>
              </a:rPr>
              <a:t>pstmt = con.prepareStatement(query);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4. Statement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객체 제공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: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         .</a:t>
            </a:r>
            <a:r>
              <a:rPr lang="en-US" altLang="ko-KR" sz="1200" b="1" i="0" spc="5">
                <a:solidFill>
                  <a:srgbClr val="0000FF"/>
                </a:solidFill>
                <a:latin typeface="한컴산뜻돋움"/>
                <a:ea typeface="한컴산뜻돋움"/>
              </a:rPr>
              <a:t>executeQuery()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</a:t>
            </a:r>
            <a:r>
              <a:rPr lang="en-US" altLang="ko-KR" sz="1200" b="0" i="0" spc="5">
                <a:solidFill>
                  <a:schemeClr val="tx1"/>
                </a:solidFill>
                <a:ea typeface="한컴산뜻돋움"/>
              </a:rPr>
              <a:t>–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</a:t>
            </a:r>
            <a:r>
              <a:rPr lang="en-US" altLang="ko-KR" sz="1200" b="1" i="0" spc="5">
                <a:solidFill>
                  <a:srgbClr val="FF0000"/>
                </a:solidFill>
                <a:latin typeface="한컴산뜻돋움"/>
                <a:ea typeface="한컴산뜻돋움"/>
              </a:rPr>
              <a:t>ResultSet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저장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후 처리 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/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검색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         .</a:t>
            </a:r>
            <a:r>
              <a:rPr lang="en-US" altLang="ko-KR" sz="1200" b="1" i="0" spc="5">
                <a:solidFill>
                  <a:srgbClr val="0000FF"/>
                </a:solidFill>
                <a:latin typeface="한컴산뜻돋움"/>
                <a:ea typeface="한컴산뜻돋움"/>
              </a:rPr>
              <a:t>executeUpdate()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-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</a:t>
            </a:r>
            <a:r>
              <a:rPr lang="en-US" altLang="ko-KR" sz="1200" b="1" i="0" spc="5">
                <a:solidFill>
                  <a:srgbClr val="FF0000"/>
                </a:solidFill>
                <a:latin typeface="한컴산뜻돋움"/>
                <a:ea typeface="한컴산뜻돋움"/>
              </a:rPr>
              <a:t>int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수정된 레코드 수 반환 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/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수정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,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삭제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,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 등록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5. </a:t>
            </a:r>
            <a:r>
              <a:rPr lang="en-US" altLang="ko-KR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close </a:t>
            </a:r>
            <a:r>
              <a:rPr lang="ko-KR" altLang="en-US" sz="1200" b="0" i="0" spc="5">
                <a:solidFill>
                  <a:schemeClr val="tx1"/>
                </a:solidFill>
                <a:latin typeface="한컴산뜻돋움"/>
                <a:ea typeface="한컴산뜻돋움"/>
              </a:rPr>
              <a:t>자원해제: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   </a:t>
            </a:r>
            <a:r>
              <a:rPr lang="ko-KR" altLang="en-US" sz="1200">
                <a:latin typeface="한컴산뜻돋움"/>
                <a:ea typeface="한컴산뜻돋움"/>
              </a:rPr>
              <a:t>    </a:t>
            </a:r>
            <a:r>
              <a:rPr lang="en-US" altLang="ko-KR" sz="1200">
                <a:latin typeface="한컴산뜻돋움"/>
                <a:ea typeface="한컴산뜻돋움"/>
              </a:rPr>
              <a:t>  . 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rs.close / stmt.close  /  conn.close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endParaRPr lang="en-US" altLang="ko-KR" sz="1200">
              <a:latin typeface="한컴산뜻돋움"/>
              <a:ea typeface="한컴산뜻돋움"/>
            </a:endParaRPr>
          </a:p>
        </p:txBody>
      </p:sp>
      <p:sp>
        <p:nvSpPr>
          <p:cNvPr id="5125" name="내용 개체 틀 2"/>
          <p:cNvSpPr>
            <a:spLocks noGrp="1"/>
          </p:cNvSpPr>
          <p:nvPr/>
        </p:nvSpPr>
        <p:spPr>
          <a:xfrm>
            <a:off x="5580302" y="2885292"/>
            <a:ext cx="3198848" cy="137850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</a:ln>
        </p:spPr>
        <p:txBody>
          <a:bodyPr vert="horz" lIns="91440" tIns="45720" rIns="91440" bIns="45720"/>
          <a:lstStyle/>
          <a:p>
            <a:pPr marL="228600" lvl="0" indent="-22860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en-US" altLang="ko-KR" sz="10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1. JDBC </a:t>
            </a:r>
            <a:r>
              <a:rPr lang="ko-KR" altLang="en-US" sz="10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드라이버 로딩하기</a:t>
            </a:r>
          </a:p>
          <a:p>
            <a:pPr marL="228600" lvl="0" indent="-22860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en-US" altLang="ko-KR" sz="10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2. DBMS </a:t>
            </a:r>
            <a:r>
              <a:rPr lang="ko-KR" altLang="en-US" sz="10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서버와 접속하기</a:t>
            </a:r>
          </a:p>
          <a:p>
            <a:pPr marL="228600" lvl="0" indent="-22860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en-US" altLang="ko-KR" sz="10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3. Statement </a:t>
            </a:r>
            <a:r>
              <a:rPr lang="ko-KR" altLang="en-US" sz="10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혹은 </a:t>
            </a:r>
            <a:r>
              <a:rPr lang="en-US" altLang="ko-KR" sz="10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PreparedStatement </a:t>
            </a:r>
            <a:r>
              <a:rPr lang="ko-KR" altLang="en-US" sz="10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객체생성하기</a:t>
            </a:r>
          </a:p>
          <a:p>
            <a:pPr marL="228600" lvl="0" indent="-22860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en-US" altLang="ko-KR" sz="10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4. SQL</a:t>
            </a:r>
            <a:r>
              <a:rPr lang="ko-KR" altLang="en-US" sz="10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문 실행하기</a:t>
            </a:r>
          </a:p>
          <a:p>
            <a:pPr marL="228600" lvl="0" indent="-228600" algn="l" latinLnBrk="1" hangingPunct="1">
              <a:lnSpc>
                <a:spcPct val="150000"/>
              </a:lnSpc>
              <a:spcBef>
                <a:spcPct val="26000"/>
              </a:spcBef>
              <a:buFont typeface="Arial"/>
              <a:buNone/>
              <a:defRPr/>
            </a:pPr>
            <a:r>
              <a:rPr lang="ko-KR" altLang="en-US" sz="10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5. 자원 해제하기</a:t>
            </a:r>
          </a:p>
        </p:txBody>
      </p:sp>
      <p:pic>
        <p:nvPicPr>
          <p:cNvPr id="5126" name="그림 512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41180" y="2724841"/>
            <a:ext cx="1367490" cy="598939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119" y="1580322"/>
            <a:ext cx="8151864" cy="446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8. </a:t>
            </a:r>
            <a:r>
              <a:rPr lang="en-US" altLang="ko-KR" sz="1200">
                <a:latin typeface="+mj-ea"/>
                <a:ea typeface="+mj-ea"/>
              </a:rPr>
              <a:t>sec01.ex01 </a:t>
            </a:r>
            <a:r>
              <a:rPr lang="ko-KR" altLang="en-US" sz="1200">
                <a:latin typeface="+mj-ea"/>
                <a:ea typeface="+mj-ea"/>
              </a:rPr>
              <a:t>패키지를 만들고 다음과 같이 회원 조회와 관련된 자바 클래스 파일인 </a:t>
            </a:r>
            <a:r>
              <a:rPr lang="en-US" altLang="ko-KR" sz="1200">
                <a:latin typeface="+mj-ea"/>
                <a:ea typeface="+mj-ea"/>
              </a:rPr>
              <a:t>MemberDAO, MemberServelet,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MemberVO </a:t>
            </a:r>
            <a:r>
              <a:rPr lang="ko-KR" altLang="en-US" sz="1200">
                <a:latin typeface="+mj-ea"/>
                <a:ea typeface="+mj-ea"/>
              </a:rPr>
              <a:t>클래스를 각각 생성합니다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940174" y="2150165"/>
            <a:ext cx="2277869" cy="20242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7172" name="TextBox 7171"/>
          <p:cNvSpPr txBox="1"/>
          <p:nvPr/>
        </p:nvSpPr>
        <p:spPr>
          <a:xfrm>
            <a:off x="526552" y="1207457"/>
            <a:ext cx="8185548" cy="4844138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package sec01.ex01;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java.io.IOException;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java.io.PrintWriter;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java.sql.Date;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java.util.List;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javax.servlet.ServletException;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javax.servlet.annotation.WebServlet;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javax.servlet.http.HttpServlet;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javax.servlet.http.HttpServletRequest;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javax.servlet.http.HttpServletResponse;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@WebServlet("/member")</a:t>
            </a:r>
            <a:endParaRPr lang="en-US" altLang="ko-KR" sz="1200" b="1">
              <a:solidFill>
                <a:srgbClr val="FF0000"/>
              </a:solidFill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public class MemberServlet extends HttpServlet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protected void doGet(HttpServletRequest request,HttpServletResponse response)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                                               throws ServletException, IOException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 response.setContentType("text/html;charset=utf-8");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 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PrintWriter out=response.getWriter();</a:t>
            </a:r>
            <a:r>
              <a:rPr lang="en-US" altLang="ko-KR" sz="1200" b="1">
                <a:latin typeface="한컴산뜻돋움"/>
                <a:ea typeface="한컴산뜻돋움"/>
              </a:rPr>
              <a:t>	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//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 출력 스트림 객체를 반환받음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 MemberDAO dao=new MemberDAO();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 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List&lt;MemberVO&gt; list=dao.listMembers();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  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//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 인터페이스 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List 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구현 클래스 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ArrayList LinkedList, 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제네릭스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(</a:t>
            </a:r>
            <a:r>
              <a:rPr lang="ko-KR" altLang="en-US" sz="1200" b="1">
                <a:solidFill>
                  <a:srgbClr val="800080"/>
                </a:solidFill>
                <a:latin typeface="한컴산뜻돋움"/>
                <a:ea typeface="한컴산뜻돋움"/>
              </a:rPr>
              <a:t>객체 포함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)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 out.print("&lt;html&gt;&lt;body&gt;");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 out.print("&lt;table  border=1&gt;&lt;tr align='center' bgcolor='lightgreen'&gt;");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 out.print("&lt;td&gt;아이디&lt;/td&gt;&lt;td&gt;비밀번호&lt;/td&gt;&lt;td&gt;이름&lt;/td&gt;&lt;td&gt;이메일&lt;/td&gt;&lt;td&gt;가입일&lt;/td&gt;&lt;/tr&gt;");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</p:txBody>
      </p:sp>
      <p:sp>
        <p:nvSpPr>
          <p:cNvPr id="7173" name="TextBox 7172"/>
          <p:cNvSpPr txBox="1"/>
          <p:nvPr/>
        </p:nvSpPr>
        <p:spPr>
          <a:xfrm>
            <a:off x="4941788" y="6164563"/>
            <a:ext cx="3720703" cy="511453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>
                <a:latin typeface="한컴산뜻돋움"/>
                <a:ea typeface="한컴산뜻돋움"/>
              </a:rPr>
              <a:t>입출력 스트림 </a:t>
            </a:r>
            <a:r>
              <a:rPr lang="en-US" altLang="ko-KR" sz="1400" b="1">
                <a:latin typeface="한컴산뜻돋움"/>
                <a:ea typeface="한컴산뜻돋움"/>
                <a:hlinkClick r:id="rId2"/>
              </a:rPr>
              <a:t>http://tcpschool.com/java/java_io_stream</a:t>
            </a:r>
            <a:endParaRPr lang="en-US" altLang="ko-KR" sz="1400" b="1">
              <a:latin typeface="한컴산뜻돋움"/>
              <a:ea typeface="한컴산뜻돋움"/>
            </a:endParaRPr>
          </a:p>
        </p:txBody>
      </p:sp>
      <p:pic>
        <p:nvPicPr>
          <p:cNvPr id="7174" name="그림 717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283083" y="863041"/>
            <a:ext cx="4457059" cy="28667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7175" name="직선 화살표 연결선 7174"/>
          <p:cNvCxnSpPr/>
          <p:nvPr/>
        </p:nvCxnSpPr>
        <p:spPr>
          <a:xfrm rot="5400000">
            <a:off x="3120406" y="2075431"/>
            <a:ext cx="3218447" cy="2225873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6" name="그림 717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956893" y="4706346"/>
            <a:ext cx="3194260" cy="222596"/>
          </a:xfrm>
          <a:prstGeom prst="rect">
            <a:avLst/>
          </a:prstGeom>
        </p:spPr>
      </p:pic>
      <p:pic>
        <p:nvPicPr>
          <p:cNvPr id="7177" name="그림 717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068360" y="5137477"/>
            <a:ext cx="3326516" cy="232623"/>
          </a:xfrm>
          <a:prstGeom prst="rect">
            <a:avLst/>
          </a:prstGeom>
        </p:spPr>
      </p:pic>
      <p:sp>
        <p:nvSpPr>
          <p:cNvPr id="7178" name="TextBox 2"/>
          <p:cNvSpPr txBox="1"/>
          <p:nvPr/>
        </p:nvSpPr>
        <p:spPr>
          <a:xfrm>
            <a:off x="571500" y="638371"/>
            <a:ext cx="8001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9. 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브라우저의 요청을 받는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MemberServlet 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클래스를 다음과 같이 작성합니다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kumimoji="0" lang="ko-KR" altLang="en-US" sz="1200" b="0" i="0" u="none" strike="noStrike" kern="1200" cap="none" spc="0" normalizeH="0" baseline="0">
              <a:solidFill>
                <a:srgbClr val="000000"/>
              </a:solidFill>
              <a:latin typeface="Calibri Light"/>
              <a:ea typeface="맑은 고딕"/>
            </a:endParaRPr>
          </a:p>
        </p:txBody>
      </p:sp>
      <p:pic>
        <p:nvPicPr>
          <p:cNvPr id="7179" name="그림 717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83331" y="916003"/>
            <a:ext cx="2704571" cy="223386"/>
          </a:xfrm>
          <a:prstGeom prst="rect">
            <a:avLst/>
          </a:prstGeom>
        </p:spPr>
      </p:pic>
      <p:cxnSp>
        <p:nvCxnSpPr>
          <p:cNvPr id="7180" name="직선 연결선 7179"/>
          <p:cNvCxnSpPr>
            <a:stCxn id="7177" idx="1"/>
          </p:cNvCxnSpPr>
          <p:nvPr/>
        </p:nvCxnSpPr>
        <p:spPr>
          <a:xfrm rot="16200000" flipV="1">
            <a:off x="2970449" y="5155879"/>
            <a:ext cx="145382" cy="50439"/>
          </a:xfrm>
          <a:prstGeom prst="line">
            <a:avLst/>
          </a:prstGeom>
          <a:ln>
            <a:solidFill>
              <a:srgbClr val="783E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7172" name="TextBox 7171"/>
          <p:cNvSpPr txBox="1"/>
          <p:nvPr/>
        </p:nvSpPr>
        <p:spPr>
          <a:xfrm>
            <a:off x="568523" y="1548804"/>
            <a:ext cx="7580312" cy="3385622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for (int i=0; i&lt;list.size();i++){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MemberVO memberVO=(MemberVO) 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list.get(i)</a:t>
            </a:r>
            <a:r>
              <a:rPr lang="en-US" altLang="ko-KR" sz="1200" b="1">
                <a:latin typeface="한컴산뜻돋움"/>
                <a:ea typeface="한컴산뜻돋움"/>
              </a:rPr>
              <a:t>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String id=memberVO.getId();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String pwd = memberVO.getPwd();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String name=memberVO.getName();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String email=memberVO.getEmail();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Date joinDate = memberVO.getJoinDate();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out.print("&lt;tr&gt;&lt;td&gt;"+id+"&lt;/td&gt;&lt;td&gt;"+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                pwd+"&lt;/td&gt;&lt;td&gt;"+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                name+"&lt;/td&gt;&lt;td&gt;"+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                email+"&lt;/td&gt;&lt;td&gt;"+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                joinDate+"&lt;/td&gt;&lt;/tr&gt;");		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 }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   out.print("&lt;/table&gt;&lt;/body&gt;&lt;/html&gt;");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 }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}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</p:txBody>
      </p:sp>
      <p:pic>
        <p:nvPicPr>
          <p:cNvPr id="7174" name="그림 717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31849" y="2945903"/>
            <a:ext cx="861060" cy="1508760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</p:pic>
      <p:sp>
        <p:nvSpPr>
          <p:cNvPr id="7175" name="자유형 7174"/>
          <p:cNvSpPr/>
          <p:nvPr/>
        </p:nvSpPr>
        <p:spPr>
          <a:xfrm>
            <a:off x="4538195" y="2270378"/>
            <a:ext cx="1602944" cy="1350761"/>
          </a:xfrm>
          <a:custGeom>
            <a:avLst/>
            <a:gdLst>
              <a:gd name="connsiteX0" fmla="*/ -922 w 3200686"/>
              <a:gd name="connsiteY0" fmla="*/ -2238 h 2051310"/>
              <a:gd name="connsiteX1" fmla="*/ 842438 w 3200686"/>
              <a:gd name="connsiteY1" fmla="*/ 1198308 h 2051310"/>
              <a:gd name="connsiteX2" fmla="*/ 3203844 w 3200686"/>
              <a:gd name="connsiteY2" fmla="*/ 2051589 h 2051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00686" h="2051310">
                <a:moveTo>
                  <a:pt x="-922" y="-2238"/>
                </a:moveTo>
                <a:cubicBezTo>
                  <a:pt x="139637" y="197853"/>
                  <a:pt x="308310" y="856004"/>
                  <a:pt x="842438" y="1198308"/>
                </a:cubicBezTo>
                <a:cubicBezTo>
                  <a:pt x="1376565" y="1540613"/>
                  <a:pt x="2810276" y="1909376"/>
                  <a:pt x="3203844" y="2051589"/>
                </a:cubicBezTo>
              </a:path>
            </a:pathLst>
          </a:custGeom>
          <a:noFill/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7177" name="그림 717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60852" y="1882525"/>
            <a:ext cx="2511678" cy="496134"/>
          </a:xfrm>
          <a:prstGeom prst="rect">
            <a:avLst/>
          </a:prstGeom>
        </p:spPr>
      </p:pic>
      <p:sp>
        <p:nvSpPr>
          <p:cNvPr id="7178" name="오른쪽 대괄호 7177"/>
          <p:cNvSpPr/>
          <p:nvPr/>
        </p:nvSpPr>
        <p:spPr>
          <a:xfrm>
            <a:off x="5243763" y="1839829"/>
            <a:ext cx="180474" cy="2215815"/>
          </a:xfrm>
          <a:prstGeom prst="rightBracket">
            <a:avLst>
              <a:gd name="adj" fmla="val 83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10244" name="TextBox 10243"/>
          <p:cNvSpPr txBox="1"/>
          <p:nvPr/>
        </p:nvSpPr>
        <p:spPr>
          <a:xfrm>
            <a:off x="985242" y="2105024"/>
            <a:ext cx="6439297" cy="3562826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package sec01.ex01;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java.sql.Connection;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java.sql.Date;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java.sql.DriverManager;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java.sql.ResultSet;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java.sql.Statement;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java.util.ArrayList;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java.util.List;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public class MemberDAO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private static final String driver = "oracle.jdbc.driver.OracleDriver";</a:t>
            </a:r>
          </a:p>
          <a:p>
            <a:pPr>
              <a:defRPr/>
            </a:pP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	private static final String url = "jdbc:oracle:thin:@localhost:1521:XE";</a:t>
            </a:r>
          </a:p>
          <a:p>
            <a:pPr>
              <a:defRPr/>
            </a:pP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	private static final String user = "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scott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";</a:t>
            </a:r>
          </a:p>
          <a:p>
            <a:pPr>
              <a:defRPr/>
            </a:pP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	private static final String pwd = "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tiger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";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</a:t>
            </a:r>
            <a:r>
              <a:rPr lang="en-US" altLang="ko-KR" sz="1200" b="1">
                <a:solidFill>
                  <a:srgbClr val="0000FF"/>
                </a:solidFill>
                <a:latin typeface="한컴산뜻돋움"/>
                <a:ea typeface="한컴산뜻돋움"/>
              </a:rPr>
              <a:t>private Connection con;</a:t>
            </a:r>
          </a:p>
          <a:p>
            <a:pPr>
              <a:defRPr/>
            </a:pPr>
            <a:r>
              <a:rPr lang="en-US" altLang="ko-KR" sz="1200" b="1">
                <a:solidFill>
                  <a:srgbClr val="0000FF"/>
                </a:solidFill>
                <a:latin typeface="한컴산뜻돋움"/>
                <a:ea typeface="한컴산뜻돋움"/>
              </a:rPr>
              <a:t>	private Statement stmt;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</p:txBody>
      </p:sp>
      <p:sp>
        <p:nvSpPr>
          <p:cNvPr id="10245" name="TextBox 10244"/>
          <p:cNvSpPr txBox="1"/>
          <p:nvPr/>
        </p:nvSpPr>
        <p:spPr>
          <a:xfrm>
            <a:off x="4752472" y="4516353"/>
            <a:ext cx="1173080" cy="2602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100" b="1">
                <a:solidFill>
                  <a:srgbClr val="FF0000"/>
                </a:solidFill>
              </a:rPr>
              <a:t>본인 계정 정보</a:t>
            </a:r>
          </a:p>
        </p:txBody>
      </p:sp>
      <p:sp>
        <p:nvSpPr>
          <p:cNvPr id="10246" name="오른쪽 대괄호 10245"/>
          <p:cNvSpPr/>
          <p:nvPr/>
        </p:nvSpPr>
        <p:spPr>
          <a:xfrm>
            <a:off x="4361447" y="4536407"/>
            <a:ext cx="110289" cy="200526"/>
          </a:xfrm>
          <a:prstGeom prst="rightBracket">
            <a:avLst>
              <a:gd name="adj" fmla="val 83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247" name="직선 연결선 10246"/>
          <p:cNvCxnSpPr>
            <a:stCxn id="10246" idx="2"/>
            <a:endCxn id="10245" idx="1"/>
          </p:cNvCxnSpPr>
          <p:nvPr/>
        </p:nvCxnSpPr>
        <p:spPr>
          <a:xfrm>
            <a:off x="4471736" y="4636670"/>
            <a:ext cx="280736" cy="9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8" name="TextBox 2"/>
          <p:cNvSpPr txBox="1"/>
          <p:nvPr/>
        </p:nvSpPr>
        <p:spPr>
          <a:xfrm>
            <a:off x="505119" y="1401335"/>
            <a:ext cx="7972959" cy="444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10.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MemberDAO 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클래스를 다음과 같이 작성합니다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회원 정보 조회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SQL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문을 실행하여 조회한 레코드들의 컬럼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  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   값을 다시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MemberVO 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객체의 속성에 설정한 다음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ArrayList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에 저장하고 호출한 곳으로 반환합니다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kumimoji="0" lang="ko-KR" altLang="en-US" sz="1200" b="0" i="0" u="none" strike="noStrike" kern="1200" cap="none" spc="0" normalizeH="0" baseline="0">
              <a:solidFill>
                <a:srgbClr val="000000"/>
              </a:solidFill>
              <a:latin typeface="Calibri Light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10244" name="TextBox 10243"/>
          <p:cNvSpPr txBox="1"/>
          <p:nvPr/>
        </p:nvSpPr>
        <p:spPr>
          <a:xfrm>
            <a:off x="1163836" y="640714"/>
            <a:ext cx="6300390" cy="5577206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public List&lt;MemberVO&gt; listMembers()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List&lt;MemberVO&gt; list = new ArrayList&lt;MemberVO&gt;();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try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connDB();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String query = "select * from t_member ";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System.out.println(query);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ResultSet 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rs</a:t>
            </a:r>
            <a:r>
              <a:rPr lang="en-US" altLang="ko-KR" sz="1200" b="1">
                <a:latin typeface="한컴산뜻돋움"/>
                <a:ea typeface="한컴산뜻돋움"/>
              </a:rPr>
              <a:t> = 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stmt.executeQuery(query);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while (rs.next())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String id = rs.getString("id");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String pwd = rs.getString("pwd");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String name = rs.getString("name");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String email = rs.getString("email");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Date joinDate = rs.getDate("joinDate");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MemberVO vo = new MemberVO();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vo.setId(id);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vo.setPwd(pwd);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vo.setName(name);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vo.setEmail(email);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vo.setJoinDate(joinDate);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list.add(vo);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}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rs.close();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stmt.close();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con.close();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} catch (Exception e)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e.printStackTrace();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}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return list;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}</a:t>
            </a:r>
          </a:p>
        </p:txBody>
      </p:sp>
      <p:pic>
        <p:nvPicPr>
          <p:cNvPr id="10245" name="그림 1024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75008" y="4335356"/>
            <a:ext cx="2484464" cy="663788"/>
          </a:xfrm>
          <a:prstGeom prst="rect">
            <a:avLst/>
          </a:prstGeom>
        </p:spPr>
      </p:pic>
      <p:pic>
        <p:nvPicPr>
          <p:cNvPr id="10246" name="그림 1024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6997" y="5767539"/>
            <a:ext cx="2339295" cy="496503"/>
          </a:xfrm>
          <a:prstGeom prst="rect">
            <a:avLst/>
          </a:prstGeom>
        </p:spPr>
      </p:pic>
      <p:pic>
        <p:nvPicPr>
          <p:cNvPr id="10247" name="그림 1024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942326" y="3429000"/>
            <a:ext cx="2291017" cy="417521"/>
          </a:xfrm>
          <a:prstGeom prst="rect">
            <a:avLst/>
          </a:prstGeom>
        </p:spPr>
      </p:pic>
      <p:pic>
        <p:nvPicPr>
          <p:cNvPr id="10248" name="그림 1024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344783" y="2363594"/>
            <a:ext cx="2313142" cy="295994"/>
          </a:xfrm>
          <a:prstGeom prst="rect">
            <a:avLst/>
          </a:prstGeom>
        </p:spPr>
      </p:pic>
      <p:sp>
        <p:nvSpPr>
          <p:cNvPr id="10249" name="오른쪽 대괄호 10248"/>
          <p:cNvSpPr/>
          <p:nvPr/>
        </p:nvSpPr>
        <p:spPr>
          <a:xfrm>
            <a:off x="6045868" y="2391276"/>
            <a:ext cx="290763" cy="772026"/>
          </a:xfrm>
          <a:prstGeom prst="rightBracket">
            <a:avLst>
              <a:gd name="adj" fmla="val 83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altLang="ko-KR">
              <a:solidFill>
                <a:schemeClr val="tx1"/>
              </a:solidFill>
            </a:endParaRPr>
          </a:p>
        </p:txBody>
      </p:sp>
      <p:pic>
        <p:nvPicPr>
          <p:cNvPr id="10250" name="그림 1024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23317" y="1410497"/>
            <a:ext cx="4254604" cy="166847"/>
          </a:xfrm>
          <a:prstGeom prst="rect">
            <a:avLst/>
          </a:prstGeom>
        </p:spPr>
      </p:pic>
      <p:pic>
        <p:nvPicPr>
          <p:cNvPr id="10251" name="그림 1025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658780" y="1923841"/>
            <a:ext cx="2227990" cy="243053"/>
          </a:xfrm>
          <a:prstGeom prst="rect">
            <a:avLst/>
          </a:prstGeom>
        </p:spPr>
      </p:pic>
      <p:sp>
        <p:nvSpPr>
          <p:cNvPr id="10252" name="오른쪽 대괄호 10251"/>
          <p:cNvSpPr/>
          <p:nvPr/>
        </p:nvSpPr>
        <p:spPr>
          <a:xfrm>
            <a:off x="5654842" y="3293645"/>
            <a:ext cx="180472" cy="952499"/>
          </a:xfrm>
          <a:prstGeom prst="rightBracket">
            <a:avLst>
              <a:gd name="adj" fmla="val 83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altLang="ko-KR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10244" name="TextBox 10243"/>
          <p:cNvSpPr txBox="1"/>
          <p:nvPr/>
        </p:nvSpPr>
        <p:spPr>
          <a:xfrm>
            <a:off x="1044773" y="750092"/>
            <a:ext cx="6439297" cy="2648428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private void connDB()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try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Class.forName(driver);</a:t>
            </a: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System.out.println("Oracle 드라이버 로딩 성공");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con = DriverManager.getConnection(url, user, pwd);</a:t>
            </a: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System.out.println("Connection 생성 성공");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stmt = con.createStatement();</a:t>
            </a: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System.out.println("Statement 생성 성공");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} catch (Exception e)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e.printStackTrace();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}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}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10244" name="TextBox 10243"/>
          <p:cNvSpPr txBox="1"/>
          <p:nvPr/>
        </p:nvSpPr>
        <p:spPr>
          <a:xfrm>
            <a:off x="1114640" y="1765645"/>
            <a:ext cx="6439297" cy="4941559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package sec01.ex01;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import java.sql.Date;</a:t>
            </a:r>
          </a:p>
          <a:p>
            <a:pPr>
              <a:defRPr/>
            </a:pPr>
            <a:endParaRPr lang="en-US" altLang="ko-KR" sz="11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public class MemberVO {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private String id;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private String pwd;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private String name;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private String email;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private Date joinDate;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public MemberVO() {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	System.out.println("MemberVO 생성자 호출");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en-US" altLang="ko-KR" sz="11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public String getId() {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	return id;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en-US" altLang="ko-KR" sz="11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public void setId(String id) {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	this.id = id;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en-US" altLang="ko-KR" sz="11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public String getPwd() {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	return pwd;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en-US" altLang="ko-KR" sz="11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public void setPwd(String pwd) {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	this.pwd = pwd;</a:t>
            </a:r>
          </a:p>
          <a:p>
            <a:pPr>
              <a:defRPr/>
            </a:pPr>
            <a:r>
              <a:rPr lang="en-US" altLang="ko-KR" sz="1100" b="1">
                <a:latin typeface="한컴산뜻돋움"/>
                <a:ea typeface="한컴산뜻돋움"/>
              </a:rPr>
              <a:t>	}</a:t>
            </a:r>
          </a:p>
        </p:txBody>
      </p:sp>
      <p:sp>
        <p:nvSpPr>
          <p:cNvPr id="10245" name="TextBox 2"/>
          <p:cNvSpPr txBox="1"/>
          <p:nvPr/>
        </p:nvSpPr>
        <p:spPr>
          <a:xfrm>
            <a:off x="696174" y="1170026"/>
            <a:ext cx="7345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11.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MemberVO 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클래스를 다음과 같이 작성합니다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kumimoji="0" lang="ko-KR" altLang="en-US" sz="1200" b="0" i="0" u="none" strike="noStrike" kern="1200" cap="none" spc="0" normalizeH="0" baseline="0">
              <a:solidFill>
                <a:srgbClr val="000000"/>
              </a:solidFill>
              <a:latin typeface="Calibri Light"/>
              <a:ea typeface="맑은 고딕"/>
            </a:endParaRPr>
          </a:p>
        </p:txBody>
      </p:sp>
      <p:pic>
        <p:nvPicPr>
          <p:cNvPr id="10246" name="그림 1024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492967" y="2571951"/>
            <a:ext cx="3190775" cy="490888"/>
          </a:xfrm>
          <a:prstGeom prst="rect">
            <a:avLst/>
          </a:prstGeom>
        </p:spPr>
      </p:pic>
      <p:sp>
        <p:nvSpPr>
          <p:cNvPr id="10247" name="오른쪽 대괄호 10246"/>
          <p:cNvSpPr/>
          <p:nvPr/>
        </p:nvSpPr>
        <p:spPr>
          <a:xfrm>
            <a:off x="3168316" y="2561724"/>
            <a:ext cx="180473" cy="731921"/>
          </a:xfrm>
          <a:prstGeom prst="rightBracket">
            <a:avLst>
              <a:gd name="adj" fmla="val 83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48" name="그림 1024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56975" y="1488506"/>
            <a:ext cx="5468681" cy="2815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10244" name="TextBox 10243"/>
          <p:cNvSpPr txBox="1"/>
          <p:nvPr/>
        </p:nvSpPr>
        <p:spPr>
          <a:xfrm>
            <a:off x="1044770" y="673892"/>
            <a:ext cx="6439297" cy="5020153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public String getName()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return name;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public void setName(String name)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this.name = name;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public String getEmail()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return email;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public void setEmail(String email)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this.email = email;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public Date getJoinDate()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return joinDate;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public void setJoinDate(Date joinDate)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this.joinDate = joinDate;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6043" y="1490869"/>
            <a:ext cx="73450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11. </a:t>
            </a:r>
            <a:r>
              <a:rPr lang="en-US" altLang="ko-KR" sz="1200">
                <a:latin typeface="+mj-ea"/>
                <a:ea typeface="+mj-ea"/>
              </a:rPr>
              <a:t>MemberVO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.(getter and setter </a:t>
            </a:r>
            <a:r>
              <a:rPr lang="ko-KR" altLang="en-US" sz="1200">
                <a:latin typeface="+mj-ea"/>
                <a:ea typeface="+mj-ea"/>
              </a:rPr>
              <a:t>자동생성)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635" y="6259994"/>
            <a:ext cx="19281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j-ea"/>
                <a:ea typeface="+mj-ea"/>
              </a:rPr>
              <a:t>...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5365" name="그림 15364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6012668" y="2051415"/>
            <a:ext cx="2988661" cy="25931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  <p:sp>
        <p:nvSpPr>
          <p:cNvPr id="15366" name="직사각형 15365"/>
          <p:cNvSpPr txBox="1"/>
          <p:nvPr/>
        </p:nvSpPr>
        <p:spPr>
          <a:xfrm>
            <a:off x="6012668" y="4680385"/>
            <a:ext cx="2522555" cy="39453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000"/>
              <a:t>. </a:t>
            </a:r>
            <a:r>
              <a:rPr lang="ko-KR" altLang="en-US" sz="1000"/>
              <a:t>마우스 오른쪽 클릭</a:t>
            </a:r>
          </a:p>
          <a:p>
            <a:pPr>
              <a:defRPr/>
            </a:pPr>
            <a:r>
              <a:rPr lang="ko-KR" altLang="en-US" sz="1000"/>
              <a:t>   </a:t>
            </a:r>
            <a:r>
              <a:rPr lang="en-US" altLang="ko-KR" sz="1000" b="1">
                <a:solidFill>
                  <a:srgbClr val="0000FF"/>
                </a:solidFill>
                <a:latin typeface="한컴산뜻돋움"/>
                <a:ea typeface="한컴산뜻돋움"/>
              </a:rPr>
              <a:t>Source -</a:t>
            </a:r>
            <a:r>
              <a:rPr lang="ko-KR" altLang="en-US" sz="1000" b="1">
                <a:solidFill>
                  <a:srgbClr val="0000FF"/>
                </a:solidFill>
                <a:latin typeface="한컴산뜻돋움"/>
                <a:ea typeface="한컴산뜻돋움"/>
              </a:rPr>
              <a:t> </a:t>
            </a:r>
            <a:r>
              <a:rPr lang="en-US" altLang="ko-KR" sz="1000" b="1">
                <a:solidFill>
                  <a:srgbClr val="0000FF"/>
                </a:solidFill>
                <a:latin typeface="한컴산뜻돋움"/>
                <a:ea typeface="한컴산뜻돋움"/>
              </a:rPr>
              <a:t>Generate Getter and Setter</a:t>
            </a:r>
          </a:p>
        </p:txBody>
      </p:sp>
      <p:pic>
        <p:nvPicPr>
          <p:cNvPr id="15368" name="그림 15367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576064" y="2016224"/>
            <a:ext cx="5143500" cy="21336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  <p:sp>
        <p:nvSpPr>
          <p:cNvPr id="15369" name="타원 15368"/>
          <p:cNvSpPr/>
          <p:nvPr/>
        </p:nvSpPr>
        <p:spPr>
          <a:xfrm>
            <a:off x="526492" y="2273426"/>
            <a:ext cx="125604" cy="11513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370" name="직사각형 15369"/>
          <p:cNvSpPr/>
          <p:nvPr/>
        </p:nvSpPr>
        <p:spPr>
          <a:xfrm>
            <a:off x="2316354" y="2733975"/>
            <a:ext cx="2255645" cy="209340"/>
          </a:xfrm>
          <a:prstGeom prst="rect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3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371" name="직사각형 15370"/>
          <p:cNvSpPr txBox="1"/>
          <p:nvPr/>
        </p:nvSpPr>
        <p:spPr>
          <a:xfrm>
            <a:off x="577486" y="4269105"/>
            <a:ext cx="1762774" cy="26289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100"/>
              <a:t>1. 멤버 하나씩 생성 방법</a:t>
            </a:r>
          </a:p>
        </p:txBody>
      </p:sp>
      <p:sp>
        <p:nvSpPr>
          <p:cNvPr id="15372" name="직사각형 15371"/>
          <p:cNvSpPr txBox="1"/>
          <p:nvPr/>
        </p:nvSpPr>
        <p:spPr>
          <a:xfrm>
            <a:off x="6054697" y="5208898"/>
            <a:ext cx="1794175" cy="26289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100"/>
              <a:t>2. 멤버들 동시 생성 방법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20687"/>
            <a:ext cx="7664846" cy="449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12. </a:t>
            </a:r>
            <a:r>
              <a:rPr lang="en-US" altLang="ko-KR" sz="1200">
                <a:latin typeface="+mj-ea"/>
                <a:ea typeface="+mj-ea"/>
              </a:rPr>
              <a:t>http://localhost:8090/pro07/member</a:t>
            </a:r>
            <a:r>
              <a:rPr lang="ko-KR" altLang="en-US" sz="1200">
                <a:latin typeface="+mj-ea"/>
                <a:ea typeface="+mj-ea"/>
              </a:rPr>
              <a:t>로 요청하여 실행 결과를 확인합니다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회원 정보가 웹 브라우저로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 </a:t>
            </a:r>
            <a:r>
              <a:rPr lang="ko-KR" altLang="en-US" sz="1200">
                <a:latin typeface="+mj-ea"/>
                <a:ea typeface="+mj-ea"/>
              </a:rPr>
              <a:t> 출력되는 것을 확인할 수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200895" y="2056364"/>
            <a:ext cx="4086225" cy="2009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119" y="1414563"/>
            <a:ext cx="8039111" cy="49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520315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  <a:defRPr/>
            </a:pPr>
            <a:r>
              <a:rPr lang="en-US" altLang="ko-KR" b="1" spc="-94"/>
              <a:t>7.2.2 PreparedStatement </a:t>
            </a:r>
            <a:r>
              <a:rPr lang="ko-KR" altLang="en-US" b="1" spc="-94"/>
              <a:t>를 이용한 회원 정보 조회 실습</a:t>
            </a:r>
            <a:endParaRPr lang="en-US" altLang="ko-KR" b="1" spc="-94"/>
          </a:p>
        </p:txBody>
      </p:sp>
      <p:sp>
        <p:nvSpPr>
          <p:cNvPr id="3" name="TextBox 2"/>
          <p:cNvSpPr txBox="1"/>
          <p:nvPr/>
        </p:nvSpPr>
        <p:spPr>
          <a:xfrm>
            <a:off x="703902" y="1910882"/>
            <a:ext cx="5667081" cy="297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>
                <a:latin typeface="+mj-ea"/>
                <a:ea typeface="+mj-ea"/>
              </a:rPr>
              <a:t>PreparedStatement </a:t>
            </a:r>
            <a:r>
              <a:rPr lang="ko-KR" altLang="en-US" sz="1400" b="1">
                <a:latin typeface="+mj-ea"/>
                <a:ea typeface="+mj-ea"/>
              </a:rPr>
              <a:t>인터페이스의 특징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4945" y="2218657"/>
            <a:ext cx="8060636" cy="173231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Ø"/>
              <a:defRPr/>
            </a:pP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PreparedStatement </a:t>
            </a:r>
            <a:r>
              <a:rPr lang="ko-KR" altLang="en-US" sz="1200">
                <a:latin typeface="+mj-ea"/>
                <a:ea typeface="+mj-ea"/>
              </a:rPr>
              <a:t>인터페이스는 </a:t>
            </a:r>
            <a:r>
              <a:rPr lang="en-US" altLang="ko-KR" sz="1200">
                <a:latin typeface="+mj-ea"/>
                <a:ea typeface="+mj-ea"/>
              </a:rPr>
              <a:t>Statement </a:t>
            </a:r>
            <a:r>
              <a:rPr lang="ko-KR" altLang="en-US" sz="1200">
                <a:latin typeface="+mj-ea"/>
                <a:ea typeface="+mj-ea"/>
              </a:rPr>
              <a:t>인터페이스를 상속하므로 지금까지 사용한 메서드를 그대로 사용함</a:t>
            </a:r>
          </a:p>
          <a:p>
            <a:pPr marL="171450" indent="-171450">
              <a:lnSpc>
                <a:spcPct val="150000"/>
              </a:lnSpc>
              <a:buFont typeface="Wingdings"/>
              <a:buChar char="Ø"/>
              <a:defRPr/>
            </a:pP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Statement </a:t>
            </a:r>
            <a:r>
              <a:rPr lang="ko-KR" altLang="en-US" sz="1200">
                <a:latin typeface="+mj-ea"/>
                <a:ea typeface="+mj-ea"/>
              </a:rPr>
              <a:t>인터페이스에 대해서 </a:t>
            </a:r>
            <a:r>
              <a:rPr lang="en-US" altLang="ko-KR" sz="1200">
                <a:latin typeface="+mj-ea"/>
                <a:ea typeface="+mj-ea"/>
              </a:rPr>
              <a:t>PreparedStatement </a:t>
            </a:r>
            <a:r>
              <a:rPr lang="ko-KR" altLang="en-US" sz="1200">
                <a:latin typeface="+mj-ea"/>
                <a:ea typeface="+mj-ea"/>
              </a:rPr>
              <a:t>인터페이스는 </a:t>
            </a:r>
            <a:r>
              <a:rPr lang="ko-KR" altLang="en-US" sz="1200" b="1" u="sng">
                <a:solidFill>
                  <a:srgbClr val="FF0000"/>
                </a:solidFill>
                <a:latin typeface="+mj-ea"/>
                <a:ea typeface="+mj-ea"/>
              </a:rPr>
              <a:t>미리 컴파일된 </a:t>
            </a:r>
            <a:r>
              <a:rPr lang="en-US" altLang="ko-KR" sz="1200" b="1" u="sng">
                <a:solidFill>
                  <a:srgbClr val="FF0000"/>
                </a:solidFill>
                <a:latin typeface="+mj-ea"/>
                <a:ea typeface="+mj-ea"/>
              </a:rPr>
              <a:t>SQL</a:t>
            </a:r>
            <a:r>
              <a:rPr lang="ko-KR" altLang="en-US" sz="1200">
                <a:latin typeface="+mj-ea"/>
                <a:ea typeface="+mj-ea"/>
              </a:rPr>
              <a:t>문을 </a:t>
            </a:r>
            <a:r>
              <a:rPr lang="en-US" altLang="ko-KR" sz="1200">
                <a:latin typeface="+mj-ea"/>
                <a:ea typeface="+mj-ea"/>
              </a:rPr>
              <a:t>DBMS</a:t>
            </a:r>
            <a:r>
              <a:rPr lang="ko-KR" altLang="en-US" sz="1200">
                <a:latin typeface="+mj-ea"/>
                <a:ea typeface="+mj-ea"/>
              </a:rPr>
              <a:t>에 전달하여 성능을 향상시킴</a:t>
            </a:r>
          </a:p>
          <a:p>
            <a:pPr marL="171450" indent="-171450">
              <a:lnSpc>
                <a:spcPct val="150000"/>
              </a:lnSpc>
              <a:buFont typeface="Wingdings"/>
              <a:buChar char="Ø"/>
              <a:defRPr/>
            </a:pP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PreparedStatement </a:t>
            </a:r>
            <a:r>
              <a:rPr lang="ko-KR" altLang="en-US" sz="1200">
                <a:latin typeface="+mj-ea"/>
                <a:ea typeface="+mj-ea"/>
              </a:rPr>
              <a:t>인터페이스에서는 실행하려는 </a:t>
            </a:r>
            <a:r>
              <a:rPr lang="en-US" altLang="ko-KR" sz="1200">
                <a:latin typeface="+mj-ea"/>
                <a:ea typeface="+mj-ea"/>
              </a:rPr>
              <a:t>SQL</a:t>
            </a:r>
            <a:r>
              <a:rPr lang="ko-KR" altLang="en-US" sz="1200">
                <a:latin typeface="+mj-ea"/>
                <a:ea typeface="+mj-ea"/>
              </a:rPr>
              <a:t>문에 ‘</a:t>
            </a:r>
            <a:r>
              <a:rPr lang="en-US" altLang="ko-KR" sz="1200" b="1">
                <a:solidFill>
                  <a:srgbClr val="FF0000"/>
                </a:solidFill>
                <a:latin typeface="+mj-ea"/>
                <a:ea typeface="+mj-ea"/>
              </a:rPr>
              <a:t>?</a:t>
            </a:r>
            <a:r>
              <a:rPr lang="en-US" altLang="ko-KR" sz="1200">
                <a:latin typeface="+mj-ea"/>
                <a:ea typeface="+mj-ea"/>
              </a:rPr>
              <a:t>’</a:t>
            </a:r>
            <a:r>
              <a:rPr lang="ko-KR" altLang="en-US" sz="1200">
                <a:latin typeface="+mj-ea"/>
                <a:ea typeface="+mj-ea"/>
              </a:rPr>
              <a:t>를 넣을 수 있으므로 ‘</a:t>
            </a:r>
            <a:r>
              <a:rPr lang="en-US" altLang="ko-KR" sz="1200">
                <a:latin typeface="+mj-ea"/>
                <a:ea typeface="+mj-ea"/>
              </a:rPr>
              <a:t>?’</a:t>
            </a:r>
            <a:r>
              <a:rPr lang="ko-KR" altLang="en-US" sz="1200">
                <a:latin typeface="+mj-ea"/>
                <a:ea typeface="+mj-ea"/>
              </a:rPr>
              <a:t>의 값만 바꾸어 손쉽게 설정할 수 있어 </a:t>
            </a:r>
            <a:r>
              <a:rPr lang="en-US" altLang="ko-KR" sz="1200">
                <a:latin typeface="+mj-ea"/>
                <a:ea typeface="+mj-ea"/>
              </a:rPr>
              <a:t>Statement</a:t>
            </a:r>
            <a:r>
              <a:rPr lang="ko-KR" altLang="en-US" sz="1200">
                <a:latin typeface="+mj-ea"/>
                <a:ea typeface="+mj-ea"/>
              </a:rPr>
              <a:t>보다 </a:t>
            </a:r>
            <a:r>
              <a:rPr lang="en-US" altLang="ko-KR" sz="1200">
                <a:latin typeface="+mj-ea"/>
                <a:ea typeface="+mj-ea"/>
              </a:rPr>
              <a:t>SQL</a:t>
            </a:r>
            <a:r>
              <a:rPr lang="ko-KR" altLang="en-US" sz="1200">
                <a:latin typeface="+mj-ea"/>
                <a:ea typeface="+mj-ea"/>
              </a:rPr>
              <a:t>문 작성하기가 더 간단함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4176" y="4035816"/>
            <a:ext cx="7840330" cy="639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1. </a:t>
            </a:r>
            <a:r>
              <a:rPr lang="en-US" altLang="ko-KR" sz="1200">
                <a:latin typeface="한컴산뜻돋움"/>
                <a:ea typeface="한컴산뜻돋움"/>
              </a:rPr>
              <a:t>sec01.ex02 </a:t>
            </a:r>
            <a:r>
              <a:rPr lang="ko-KR" altLang="en-US" sz="1200">
                <a:latin typeface="한컴산뜻돋움"/>
                <a:ea typeface="한컴산뜻돋움"/>
              </a:rPr>
              <a:t>패키지를 만든 후 </a:t>
            </a:r>
            <a:r>
              <a:rPr lang="en-US" altLang="ko-KR" sz="1200" b="1">
                <a:solidFill>
                  <a:srgbClr val="FF6600"/>
                </a:solidFill>
                <a:latin typeface="한컴산뜻돋움"/>
                <a:ea typeface="한컴산뜻돋움"/>
              </a:rPr>
              <a:t>MemberServlet.java</a:t>
            </a:r>
            <a:r>
              <a:rPr lang="ko-KR" altLang="en-US" sz="1200" b="1">
                <a:solidFill>
                  <a:srgbClr val="FF6600"/>
                </a:solidFill>
                <a:latin typeface="한컴산뜻돋움"/>
                <a:ea typeface="한컴산뜻돋움"/>
              </a:rPr>
              <a:t>와 </a:t>
            </a:r>
            <a:r>
              <a:rPr lang="en-US" altLang="ko-KR" sz="1200" b="1">
                <a:solidFill>
                  <a:srgbClr val="FF6600"/>
                </a:solidFill>
                <a:latin typeface="한컴산뜻돋움"/>
                <a:ea typeface="한컴산뜻돋움"/>
              </a:rPr>
              <a:t>MemberVO.java</a:t>
            </a:r>
            <a:r>
              <a:rPr lang="ko-KR" altLang="en-US" sz="1200" b="1">
                <a:solidFill>
                  <a:srgbClr val="FF6600"/>
                </a:solidFill>
                <a:latin typeface="한컴산뜻돋움"/>
                <a:ea typeface="한컴산뜻돋움"/>
              </a:rPr>
              <a:t>는 기존의 것을 복사</a:t>
            </a:r>
            <a:r>
              <a:rPr lang="ko-KR" altLang="en-US" sz="1200">
                <a:latin typeface="한컴산뜻돋움"/>
                <a:ea typeface="한컴산뜻돋움"/>
              </a:rPr>
              <a:t>하여 붙여 넣습니다</a:t>
            </a:r>
            <a:r>
              <a:rPr lang="en-US" altLang="ko-KR" sz="1200">
                <a:latin typeface="한컴산뜻돋움"/>
                <a:ea typeface="한컴산뜻돋움"/>
              </a:rPr>
              <a:t>.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                                                                  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                                                                        </a:t>
            </a:r>
            <a:r>
              <a:rPr lang="en-US" altLang="ko-KR" sz="1200" b="1">
                <a:solidFill>
                  <a:srgbClr val="FF6600"/>
                </a:solidFill>
                <a:latin typeface="한컴산뜻돋움"/>
                <a:ea typeface="한컴산뜻돋움"/>
              </a:rPr>
              <a:t>MemberDAO.java</a:t>
            </a:r>
            <a:r>
              <a:rPr lang="en-US" altLang="ko-KR" sz="1200">
                <a:latin typeface="한컴산뜻돋움"/>
                <a:ea typeface="한컴산뜻돋움"/>
              </a:rPr>
              <a:t> </a:t>
            </a:r>
            <a:r>
              <a:rPr lang="ko-KR" altLang="en-US" sz="1200">
                <a:latin typeface="한컴산뜻돋움"/>
                <a:ea typeface="한컴산뜻돋움"/>
              </a:rPr>
              <a:t>는 복사하여 수정하여 코드를 완성합니다</a:t>
            </a:r>
            <a:r>
              <a:rPr lang="en-US" altLang="ko-KR" sz="1200">
                <a:latin typeface="한컴산뜻돋움"/>
                <a:ea typeface="한컴산뜻돋움"/>
              </a:rPr>
              <a:t>.</a:t>
            </a:r>
          </a:p>
        </p:txBody>
      </p:sp>
      <p:pic>
        <p:nvPicPr>
          <p:cNvPr id="9" name="그림 8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487591" y="4330922"/>
            <a:ext cx="2178050" cy="1952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가로 글상자 12"/>
          <p:cNvSpPr txBox="1"/>
          <p:nvPr/>
        </p:nvSpPr>
        <p:spPr>
          <a:xfrm>
            <a:off x="2046937" y="4957089"/>
            <a:ext cx="1022683" cy="19142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 tIns="0" rIns="0" bIns="0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300" i="0" u="none" strike="noStrike" kern="1200" cap="none" spc="0" normalizeH="0" baseline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src/main/java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890336" y="701208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10244" name="TextBox 10243"/>
          <p:cNvSpPr txBox="1"/>
          <p:nvPr/>
        </p:nvSpPr>
        <p:spPr>
          <a:xfrm>
            <a:off x="234840" y="2500936"/>
            <a:ext cx="6439297" cy="3927160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package sec01.ex02;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:</a:t>
            </a:r>
          </a:p>
          <a:p>
            <a:pPr>
              <a:defRPr/>
            </a:pP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import java.sql.PreparedStatement;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: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public class MemberDAO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:	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:	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private Connection con;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private PreparedStatement pstmt;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public List listMembers() {</a:t>
            </a:r>
          </a:p>
          <a:p>
            <a:pPr>
              <a:defRPr/>
            </a:pP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		List list = new ArrayList();</a:t>
            </a:r>
          </a:p>
          <a:p>
            <a:pPr>
              <a:defRPr/>
            </a:pP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	</a:t>
            </a:r>
            <a:r>
              <a:rPr lang="en-US" altLang="ko-KR" sz="1200" b="1">
                <a:latin typeface="한컴산뜻돋움"/>
                <a:ea typeface="한컴산뜻돋움"/>
              </a:rPr>
              <a:t>	try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connDB();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String query = "select * from t_member ";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</a:t>
            </a:r>
            <a:r>
              <a:rPr lang="en-US" altLang="ko-KR" sz="1200" b="1">
                <a:solidFill>
                  <a:schemeClr val="dk1"/>
                </a:solidFill>
                <a:latin typeface="한컴산뜻돋움"/>
                <a:ea typeface="한컴산뜻돋움"/>
              </a:rPr>
              <a:t>System.out.println("prepareStatememt: " + query);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pstmt = con.prepareStatement(query);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</a:t>
            </a:r>
            <a:r>
              <a:rPr lang="en-US" altLang="ko-KR" sz="1200" b="1">
                <a:solidFill>
                  <a:schemeClr val="dk1"/>
                </a:solidFill>
                <a:latin typeface="한컴산뜻돋움"/>
                <a:ea typeface="한컴산뜻돋움"/>
              </a:rPr>
              <a:t>ResultSet rs =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 pstmt.</a:t>
            </a:r>
            <a:r>
              <a:rPr lang="en-US" altLang="ko-KR" sz="1200" b="1">
                <a:solidFill>
                  <a:schemeClr val="dk1"/>
                </a:solidFill>
                <a:latin typeface="한컴산뜻돋움"/>
                <a:ea typeface="한컴산뜻돋움"/>
              </a:rPr>
              <a:t>executeQuery();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while (rs.next())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  :</a:t>
            </a:r>
          </a:p>
        </p:txBody>
      </p:sp>
      <p:sp>
        <p:nvSpPr>
          <p:cNvPr id="10245" name="TextBox 10244"/>
          <p:cNvSpPr txBox="1"/>
          <p:nvPr/>
        </p:nvSpPr>
        <p:spPr>
          <a:xfrm>
            <a:off x="4174824" y="1184756"/>
            <a:ext cx="4822034" cy="3740270"/>
          </a:xfrm>
          <a:prstGeom prst="rect">
            <a:avLst/>
          </a:prstGeom>
          <a:solidFill>
            <a:schemeClr val="lt1"/>
          </a:solidFill>
          <a:ln w="9525" cap="flat" cmpd="sng" algn="ctr">
            <a:solidFill>
              <a:srgbClr val="4472C4"/>
            </a:solidFill>
            <a:prstDash val="dash"/>
            <a:round/>
            <a:headEnd w="med" len="med"/>
            <a:tailEnd w="med" len="med"/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package sec01.ex01;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: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import java.sql.Statement;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: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public class MemberDAO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: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: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	private Connection con;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	private Statement stmt;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public List&lt;MemberVO&gt; listMembers()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		List&lt;MemberVO&gt; list = new ArrayList&lt;MemberVO&gt;();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try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</a:t>
            </a: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connDB();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String query = "select * from t_member ";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System.out.println(query);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ResultSet rs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 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=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 stmt.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executeQuery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(query);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</a:t>
            </a: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while (rs.next())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</p:txBody>
      </p:sp>
      <p:sp>
        <p:nvSpPr>
          <p:cNvPr id="10246" name="자유형 10245"/>
          <p:cNvSpPr/>
          <p:nvPr/>
        </p:nvSpPr>
        <p:spPr>
          <a:xfrm>
            <a:off x="6722304" y="4974955"/>
            <a:ext cx="1261142" cy="521589"/>
          </a:xfrm>
          <a:custGeom>
            <a:avLst/>
            <a:gdLst>
              <a:gd name="connsiteX0" fmla="*/ 1166280 w 1261142"/>
              <a:gd name="connsiteY0" fmla="*/ -4262 h 521589"/>
              <a:gd name="connsiteX1" fmla="*/ 1176202 w 1261142"/>
              <a:gd name="connsiteY1" fmla="*/ 432300 h 521589"/>
              <a:gd name="connsiteX2" fmla="*/ -4501 w 1261142"/>
              <a:gd name="connsiteY2" fmla="*/ 521596 h 521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1142" h="521589">
                <a:moveTo>
                  <a:pt x="1166280" y="-4262"/>
                </a:moveTo>
                <a:cubicBezTo>
                  <a:pt x="1167933" y="68497"/>
                  <a:pt x="1371332" y="344656"/>
                  <a:pt x="1176202" y="432300"/>
                </a:cubicBezTo>
                <a:cubicBezTo>
                  <a:pt x="981071" y="519942"/>
                  <a:pt x="192282" y="506713"/>
                  <a:pt x="-4501" y="521596"/>
                </a:cubicBezTo>
              </a:path>
            </a:pathLst>
          </a:custGeom>
          <a:noFill/>
          <a:ln>
            <a:solidFill>
              <a:schemeClr val="accent1">
                <a:shade val="20000"/>
              </a:schemeClr>
            </a:solidFill>
            <a:tailEnd type="triangle" w="lg" len="lg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10247" name="그림 1024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19326" y="5651821"/>
            <a:ext cx="2774202" cy="435169"/>
          </a:xfrm>
          <a:prstGeom prst="rect">
            <a:avLst/>
          </a:prstGeom>
        </p:spPr>
      </p:pic>
      <p:pic>
        <p:nvPicPr>
          <p:cNvPr id="10249" name="그림 1024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84423" y="6142722"/>
            <a:ext cx="3227317" cy="458002"/>
          </a:xfrm>
          <a:prstGeom prst="rect">
            <a:avLst/>
          </a:prstGeom>
        </p:spPr>
      </p:pic>
      <p:sp>
        <p:nvSpPr>
          <p:cNvPr id="10250" name="TextBox 2"/>
          <p:cNvSpPr txBox="1"/>
          <p:nvPr/>
        </p:nvSpPr>
        <p:spPr>
          <a:xfrm>
            <a:off x="579242" y="1330099"/>
            <a:ext cx="7684724" cy="44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2.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PreparedStatement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를 이용해 데이터베이스와</a:t>
            </a:r>
          </a:p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 연동하는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MemberDAO 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클래스를 작성합니다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kumimoji="0" lang="ko-KR" altLang="en-US" sz="1200" b="0" i="0" u="none" strike="noStrike" kern="1200" cap="none" spc="0" normalizeH="0" baseline="0">
              <a:solidFill>
                <a:srgbClr val="000000"/>
              </a:solidFill>
              <a:latin typeface="Calibri Light"/>
              <a:ea typeface="맑은 고딕"/>
            </a:endParaRPr>
          </a:p>
        </p:txBody>
      </p:sp>
      <p:pic>
        <p:nvPicPr>
          <p:cNvPr id="10251" name="그림 1025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34421" y="1853657"/>
            <a:ext cx="3136159" cy="233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10244" name="TextBox 10243"/>
          <p:cNvSpPr txBox="1"/>
          <p:nvPr/>
        </p:nvSpPr>
        <p:spPr>
          <a:xfrm>
            <a:off x="872125" y="723499"/>
            <a:ext cx="6439297" cy="2097567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private void connDB()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try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Class.forName(driver);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System.out.println("Oracle 드라이버 로딩 성공");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con = DriverManager.getConnection(url, user, pwd);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System.out.println("Connection 생성 성공");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} catch (Exception e)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e.printStackTrace();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}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}</a:t>
            </a:r>
          </a:p>
        </p:txBody>
      </p:sp>
      <p:sp>
        <p:nvSpPr>
          <p:cNvPr id="10245" name="TextBox 10244"/>
          <p:cNvSpPr txBox="1"/>
          <p:nvPr/>
        </p:nvSpPr>
        <p:spPr>
          <a:xfrm>
            <a:off x="3448841" y="3429000"/>
            <a:ext cx="5536410" cy="2469476"/>
          </a:xfrm>
          <a:prstGeom prst="rect">
            <a:avLst/>
          </a:prstGeom>
          <a:noFill/>
          <a:ln w="9525" cap="flat" cmpd="sng" algn="ctr">
            <a:solidFill>
              <a:srgbClr val="4472C4"/>
            </a:solidFill>
            <a:prstDash val="dash"/>
            <a:round/>
            <a:headEnd w="med" len="med"/>
            <a:tailEnd w="med" len="med"/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private void connDB()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try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Class.forName(driver);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System.out.println("Oracle 드라이버 로딩 성공");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con = DriverManager.getConnection(url, user, pwd);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System.out.println("Connection 생성 성공");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stmt = con.createStatement();</a:t>
            </a: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System.out.println("Statement 생성 성공");</a:t>
            </a: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} catch (Exception e)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e.printStackTrace();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}</a:t>
            </a:r>
          </a:p>
        </p:txBody>
      </p:sp>
      <p:sp>
        <p:nvSpPr>
          <p:cNvPr id="10246" name="자유형 10245"/>
          <p:cNvSpPr/>
          <p:nvPr/>
        </p:nvSpPr>
        <p:spPr>
          <a:xfrm>
            <a:off x="2602796" y="2807763"/>
            <a:ext cx="828585" cy="1252268"/>
          </a:xfrm>
          <a:custGeom>
            <a:avLst/>
            <a:gdLst>
              <a:gd name="connsiteX0" fmla="*/ 833149 w 828585"/>
              <a:gd name="connsiteY0" fmla="*/ 1206627 h 1252268"/>
              <a:gd name="connsiteX1" fmla="*/ 257680 w 828585"/>
              <a:gd name="connsiteY1" fmla="*/ 1147096 h 1252268"/>
              <a:gd name="connsiteX2" fmla="*/ -288 w 828585"/>
              <a:gd name="connsiteY2" fmla="*/ -3841 h 125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8585" h="1252268">
                <a:moveTo>
                  <a:pt x="833149" y="1206627"/>
                </a:moveTo>
                <a:cubicBezTo>
                  <a:pt x="737238" y="1196705"/>
                  <a:pt x="396586" y="1348841"/>
                  <a:pt x="257680" y="1147096"/>
                </a:cubicBezTo>
                <a:cubicBezTo>
                  <a:pt x="118774" y="945351"/>
                  <a:pt x="42706" y="187981"/>
                  <a:pt x="-288" y="-3841"/>
                </a:cubicBezTo>
              </a:path>
            </a:pathLst>
          </a:custGeom>
          <a:noFill/>
          <a:ln>
            <a:solidFill>
              <a:schemeClr val="accent1">
                <a:shade val="20000"/>
              </a:schemeClr>
            </a:solidFill>
            <a:tailEnd type="triangle" w="lg" len="lg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서블릿의 데이터베이스 연동하기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40565"/>
            <a:ext cx="7625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http://localhost:8090/pro07/member</a:t>
            </a:r>
            <a:r>
              <a:rPr lang="ko-KR" altLang="en-US" sz="1200">
                <a:latin typeface="+mj-ea"/>
                <a:ea typeface="+mj-ea"/>
              </a:rPr>
              <a:t>로 요청해서 실행 결과를 확인합니다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눈으로 보면 </a:t>
            </a:r>
            <a:r>
              <a:rPr lang="en-US" altLang="ko-KR" sz="1200">
                <a:latin typeface="+mj-ea"/>
                <a:ea typeface="+mj-ea"/>
              </a:rPr>
              <a:t>Statement</a:t>
            </a:r>
            <a:r>
              <a:rPr lang="ko-KR" altLang="en-US" sz="1200">
                <a:latin typeface="+mj-ea"/>
                <a:ea typeface="+mj-ea"/>
              </a:rPr>
              <a:t>를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사용했을 때와 결과는 같습니다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하지만 데이터베이스와 연동할 경우 수행 속도가 좀 더 빠르다는 차이가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151200" y="2186895"/>
            <a:ext cx="4086225" cy="2009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4693" y="1603105"/>
            <a:ext cx="5667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altLang="ko-KR" sz="1400" b="1">
                <a:latin typeface="+mj-ea"/>
                <a:ea typeface="+mj-ea"/>
              </a:rPr>
              <a:t>ConnectionPool </a:t>
            </a:r>
            <a:r>
              <a:rPr lang="ko-KR" altLang="en-US" sz="1400" b="1">
                <a:latin typeface="+mj-ea"/>
                <a:ea typeface="+mj-ea"/>
              </a:rPr>
              <a:t>등장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96966"/>
            <a:ext cx="7052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/>
              <a:t>기존 데이터베이스 연동 방법의 문제점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574693" y="2366298"/>
            <a:ext cx="7695259" cy="62011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4077896" y="3331778"/>
            <a:ext cx="459656" cy="59909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651641" y="4340772"/>
            <a:ext cx="7618311" cy="1387366"/>
          </a:xfrm>
          <a:prstGeom prst="roundRect">
            <a:avLst>
              <a:gd name="adj" fmla="val 1062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914400" y="4477462"/>
            <a:ext cx="7041931" cy="1149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ko-KR" altLang="en-US" sz="1400" b="1">
                <a:latin typeface="+mj-ea"/>
                <a:ea typeface="+mj-ea"/>
              </a:rPr>
              <a:t>애플리케이션 실행 시 미리 </a:t>
            </a:r>
            <a:r>
              <a:rPr lang="en-US" altLang="ko-KR" sz="1400" b="1">
                <a:latin typeface="+mj-ea"/>
                <a:ea typeface="+mj-ea"/>
              </a:rPr>
              <a:t>Connection </a:t>
            </a:r>
            <a:r>
              <a:rPr lang="ko-KR" altLang="en-US" sz="1400" b="1">
                <a:latin typeface="+mj-ea"/>
                <a:ea typeface="+mj-ea"/>
              </a:rPr>
              <a:t>객체를 생성한 후</a:t>
            </a:r>
            <a:r>
              <a:rPr lang="en-US" altLang="ko-KR" sz="1400" b="1">
                <a:latin typeface="+mj-ea"/>
                <a:ea typeface="+mj-ea"/>
              </a:rPr>
              <a:t>, </a:t>
            </a:r>
            <a:r>
              <a:rPr lang="ko-KR" altLang="en-US" sz="1400" b="1">
                <a:latin typeface="+mj-ea"/>
                <a:ea typeface="+mj-ea"/>
              </a:rPr>
              <a:t>미리 데이터베이스 연결을 맺는다</a:t>
            </a:r>
            <a:r>
              <a:rPr lang="en-US" altLang="ko-KR" sz="1400" b="1">
                <a:latin typeface="+mj-ea"/>
                <a:ea typeface="+mj-ea"/>
              </a:rPr>
              <a:t>.</a:t>
            </a:r>
            <a:br>
              <a:rPr lang="en-US" altLang="ko-KR" sz="1400" b="1">
                <a:latin typeface="+mj-ea"/>
                <a:ea typeface="+mj-ea"/>
              </a:rPr>
            </a:br>
            <a:endParaRPr lang="en-US" altLang="ko-KR" sz="1400" b="1">
              <a:latin typeface="+mj-ea"/>
              <a:ea typeface="+mj-ea"/>
            </a:endParaRPr>
          </a:p>
          <a:p>
            <a:pPr marL="285750" indent="-285750">
              <a:buFont typeface="Wingdings"/>
              <a:buChar char="Ø"/>
            </a:pPr>
            <a:r>
              <a:rPr lang="ko-KR" altLang="en-US" sz="1400" b="1">
                <a:latin typeface="+mj-ea"/>
                <a:ea typeface="+mj-ea"/>
              </a:rPr>
              <a:t>애플리케이션은 데이터베이스 연동 작업 발생 시 이 </a:t>
            </a:r>
            <a:r>
              <a:rPr lang="en-US" altLang="ko-KR" sz="1400" b="1">
                <a:latin typeface="+mj-ea"/>
                <a:ea typeface="+mj-ea"/>
              </a:rPr>
              <a:t>Connection </a:t>
            </a:r>
            <a:r>
              <a:rPr lang="ko-KR" altLang="en-US" sz="1400" b="1">
                <a:latin typeface="+mj-ea"/>
                <a:ea typeface="+mj-ea"/>
              </a:rPr>
              <a:t>객체를 이용해서 작업을 한다</a:t>
            </a:r>
            <a:r>
              <a:rPr lang="en-US" altLang="ko-KR" sz="1400" b="1">
                <a:latin typeface="+mj-ea"/>
                <a:ea typeface="+mj-ea"/>
              </a:rPr>
              <a:t>.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9649" y="2491687"/>
            <a:ext cx="7420301" cy="29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ko-KR" altLang="en-US" sz="1400" b="1">
                <a:latin typeface="+mj-ea"/>
                <a:ea typeface="+mj-ea"/>
              </a:rPr>
              <a:t>애플리케이션에서 데이터베이스 연결 과정에서 시간이 너무 많이 걸린다</a:t>
            </a:r>
            <a:r>
              <a:rPr lang="en-US" altLang="ko-KR" sz="1400" b="1">
                <a:latin typeface="+mj-ea"/>
                <a:ea typeface="+mj-ea"/>
              </a:rPr>
              <a:t>.</a:t>
            </a:r>
            <a:endParaRPr lang="ko-KR" altLang="en-US" sz="1400" b="1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05119" y="1386198"/>
            <a:ext cx="8039111" cy="497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520315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 spc="-94"/>
              <a:t>7.3.1 </a:t>
            </a:r>
            <a:r>
              <a:rPr lang="ko-KR" altLang="en-US" b="1" spc="-94"/>
              <a:t>커넥션풀 동작 과정</a:t>
            </a:r>
            <a:endParaRPr lang="en-US" altLang="ko-KR" b="1" spc="-94"/>
          </a:p>
        </p:txBody>
      </p:sp>
      <p:sp>
        <p:nvSpPr>
          <p:cNvPr id="3" name="TextBox 2"/>
          <p:cNvSpPr txBox="1"/>
          <p:nvPr/>
        </p:nvSpPr>
        <p:spPr>
          <a:xfrm>
            <a:off x="745435" y="1841644"/>
            <a:ext cx="6979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톰캣 컨테이너를 실행한 후 응용 프로그램을 실행합니다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084957" y="2130933"/>
            <a:ext cx="4715141" cy="18109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879098" y="4082309"/>
            <a:ext cx="7545577" cy="266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톰캣 컨테이너 실행 시 </a:t>
            </a:r>
            <a:r>
              <a:rPr lang="en-US" altLang="ko-KR" sz="1200">
                <a:latin typeface="+mj-ea"/>
                <a:ea typeface="+mj-ea"/>
              </a:rPr>
              <a:t>ConnectionPool </a:t>
            </a:r>
            <a:r>
              <a:rPr lang="ko-KR" altLang="en-US" sz="1200">
                <a:latin typeface="+mj-ea"/>
                <a:ea typeface="+mj-ea"/>
              </a:rPr>
              <a:t>객체를 생성합니다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0" name="그림 9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081742" y="4422821"/>
            <a:ext cx="4743675" cy="2302428"/>
          </a:xfrm>
          <a:prstGeom prst="rect">
            <a:avLst/>
          </a:prstGeom>
        </p:spPr>
      </p:pic>
      <p:sp>
        <p:nvSpPr>
          <p:cNvPr id="11" name="Text Box 2909"/>
          <p:cNvSpPr txBox="1"/>
          <p:nvPr/>
        </p:nvSpPr>
        <p:spPr>
          <a:xfrm>
            <a:off x="2846626" y="5577999"/>
            <a:ext cx="1653540" cy="23050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 lvl="0" algn="just" latinLnBrk="1">
              <a:spcAft>
                <a:spcPct val="3000"/>
              </a:spcAft>
              <a:defRPr/>
            </a:pPr>
            <a:r>
              <a:rPr lang="en-US" altLang="en-US" sz="1000" b="1">
                <a:cs typeface="Times New Roman"/>
              </a:rPr>
              <a:t>ConnectionPool </a:t>
            </a:r>
            <a:r>
              <a:rPr lang="ko-KR" altLang="en-US" sz="1000" b="1">
                <a:cs typeface="Times New Roman"/>
              </a:rPr>
              <a:t>객체 생성</a:t>
            </a:r>
            <a:endParaRPr lang="ko-KR" altLang="en-US" sz="1000"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70383"/>
            <a:ext cx="7575394" cy="26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생성된 커넥션 객체는 </a:t>
            </a:r>
            <a:r>
              <a:rPr lang="en-US" altLang="ko-KR" sz="1200">
                <a:latin typeface="+mj-ea"/>
                <a:ea typeface="+mj-ea"/>
              </a:rPr>
              <a:t>DBMS</a:t>
            </a:r>
            <a:r>
              <a:rPr lang="ko-KR" altLang="en-US" sz="1200">
                <a:latin typeface="+mj-ea"/>
                <a:ea typeface="+mj-ea"/>
              </a:rPr>
              <a:t>와 미리 연결합니다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784660" y="1948311"/>
            <a:ext cx="4448768" cy="252004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7" name="Text Box 2914"/>
          <p:cNvSpPr txBox="1"/>
          <p:nvPr/>
        </p:nvSpPr>
        <p:spPr>
          <a:xfrm>
            <a:off x="2788363" y="2230379"/>
            <a:ext cx="1653540" cy="23050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 algn="ctr" latinLnBrk="1">
              <a:spcAft>
                <a:spcPct val="3000"/>
              </a:spcAft>
            </a:pPr>
            <a:r>
              <a:rPr lang="en-US" altLang="en-US" sz="1000" b="1">
                <a:latin typeface="+mj-ea"/>
                <a:ea typeface="+mj-ea"/>
                <a:cs typeface="Times New Roman"/>
              </a:rPr>
              <a:t>DBMS </a:t>
            </a:r>
            <a:r>
              <a:rPr lang="ko-KR" altLang="en-US" sz="1000" b="1">
                <a:latin typeface="+mj-ea"/>
                <a:ea typeface="+mj-ea"/>
                <a:cs typeface="Times New Roman"/>
              </a:rPr>
              <a:t>연결</a:t>
            </a:r>
            <a:endParaRPr lang="ko-KR" altLang="en-US" sz="1100">
              <a:latin typeface="+mj-ea"/>
              <a:ea typeface="+mj-ea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90261"/>
            <a:ext cx="7664846" cy="446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데이터베이스와의 연동 작업이 필요할 경우 응용 프로그램은 </a:t>
            </a:r>
            <a:r>
              <a:rPr lang="en-US" altLang="ko-KR" sz="1200">
                <a:latin typeface="+mj-ea"/>
                <a:ea typeface="+mj-ea"/>
              </a:rPr>
              <a:t>ConnectinPool</a:t>
            </a:r>
            <a:r>
              <a:rPr lang="ko-KR" altLang="en-US" sz="1200">
                <a:latin typeface="+mj-ea"/>
                <a:ea typeface="+mj-ea"/>
              </a:rPr>
              <a:t>에서 제공하는 메서드를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호출하여 연동합니다</a:t>
            </a: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566668" y="2288333"/>
            <a:ext cx="5056505" cy="24999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05119" y="1386198"/>
            <a:ext cx="8039111" cy="497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520315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 spc="-94"/>
              <a:t>7.3.2 </a:t>
            </a:r>
            <a:r>
              <a:rPr lang="ko-KR" altLang="en-US" b="1" spc="-94"/>
              <a:t> </a:t>
            </a:r>
            <a:r>
              <a:rPr lang="en-US" altLang="ko-KR" b="1" spc="-94"/>
              <a:t>JNDI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5922" y="1841644"/>
            <a:ext cx="7404652" cy="45197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ko-KR" sz="1200">
                <a:latin typeface="+mj-ea"/>
                <a:ea typeface="+mj-ea"/>
              </a:rPr>
              <a:t>JNDI(Java Naming and Directory Interface)</a:t>
            </a:r>
            <a:r>
              <a:rPr lang="ko-KR" altLang="en-US" sz="1200">
                <a:latin typeface="+mj-ea"/>
                <a:ea typeface="+mj-ea"/>
              </a:rPr>
              <a:t>란 필요한 자원을 키</a:t>
            </a:r>
            <a:r>
              <a:rPr lang="en-US" altLang="ko-KR" sz="1200">
                <a:latin typeface="+mj-ea"/>
                <a:ea typeface="+mj-ea"/>
              </a:rPr>
              <a:t>/</a:t>
            </a:r>
            <a:r>
              <a:rPr lang="ko-KR" altLang="en-US" sz="1200">
                <a:latin typeface="+mj-ea"/>
                <a:ea typeface="+mj-ea"/>
              </a:rPr>
              <a:t>값</a:t>
            </a:r>
            <a:r>
              <a:rPr lang="en-US" altLang="ko-KR" sz="1200">
                <a:latin typeface="+mj-ea"/>
                <a:ea typeface="+mj-ea"/>
              </a:rPr>
              <a:t>(key/value) </a:t>
            </a:r>
            <a:r>
              <a:rPr lang="ko-KR" altLang="en-US" sz="1200">
                <a:latin typeface="+mj-ea"/>
                <a:ea typeface="+mj-ea"/>
              </a:rPr>
              <a:t>쌍으로 저장한 후 필요할</a:t>
            </a:r>
          </a:p>
          <a:p>
            <a:pPr lvl="0"/>
            <a:r>
              <a:rPr lang="ko-KR" altLang="en-US" sz="1200">
                <a:latin typeface="+mj-ea"/>
                <a:ea typeface="+mj-ea"/>
              </a:rPr>
              <a:t>때 키를 이용해 값을 얻는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22" y="2604052"/>
            <a:ext cx="1948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400" b="1">
                <a:latin typeface="+mj-ea"/>
                <a:ea typeface="+mj-ea"/>
              </a:rPr>
              <a:t>JNDI</a:t>
            </a:r>
            <a:r>
              <a:rPr lang="ko-KR" altLang="en-US" sz="1400" b="1">
                <a:latin typeface="+mj-ea"/>
                <a:ea typeface="+mj-ea"/>
              </a:rPr>
              <a:t>의 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923" y="2912166"/>
            <a:ext cx="7404652" cy="9054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웹 브라우저에서 </a:t>
            </a:r>
            <a:r>
              <a:rPr lang="en-US" altLang="ko-KR" sz="1200">
                <a:latin typeface="+mj-ea"/>
                <a:ea typeface="+mj-ea"/>
              </a:rPr>
              <a:t>name/value </a:t>
            </a:r>
            <a:r>
              <a:rPr lang="ko-KR" altLang="en-US" sz="1200">
                <a:latin typeface="+mj-ea"/>
                <a:ea typeface="+mj-ea"/>
              </a:rPr>
              <a:t>쌍으로 전송한 후 서블릿에서 </a:t>
            </a:r>
            <a:r>
              <a:rPr lang="en-US" altLang="ko-KR" sz="1200">
                <a:latin typeface="+mj-ea"/>
                <a:ea typeface="+mj-ea"/>
              </a:rPr>
              <a:t>getParameter(name)</a:t>
            </a:r>
            <a:r>
              <a:rPr lang="ko-KR" altLang="en-US" sz="1200">
                <a:latin typeface="+mj-ea"/>
                <a:ea typeface="+mj-ea"/>
              </a:rPr>
              <a:t>로 값을가져올 때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해시맵</a:t>
            </a:r>
            <a:r>
              <a:rPr lang="en-US" altLang="ko-KR" sz="1200">
                <a:latin typeface="+mj-ea"/>
                <a:ea typeface="+mj-ea"/>
              </a:rPr>
              <a:t>(HashMap)</a:t>
            </a:r>
            <a:r>
              <a:rPr lang="ko-KR" altLang="en-US" sz="1200">
                <a:latin typeface="+mj-ea"/>
                <a:ea typeface="+mj-ea"/>
              </a:rPr>
              <a:t>이나 해시테이블</a:t>
            </a:r>
            <a:r>
              <a:rPr lang="en-US" altLang="ko-KR" sz="1200">
                <a:latin typeface="+mj-ea"/>
                <a:ea typeface="+mj-ea"/>
              </a:rPr>
              <a:t>(HashTable)</a:t>
            </a:r>
            <a:r>
              <a:rPr lang="ko-KR" altLang="en-US" sz="1200">
                <a:latin typeface="+mj-ea"/>
                <a:ea typeface="+mj-ea"/>
              </a:rPr>
              <a:t>에 키</a:t>
            </a:r>
            <a:r>
              <a:rPr lang="en-US" altLang="ko-KR" sz="1200">
                <a:latin typeface="+mj-ea"/>
                <a:ea typeface="+mj-ea"/>
              </a:rPr>
              <a:t>/</a:t>
            </a:r>
            <a:r>
              <a:rPr lang="ko-KR" altLang="en-US" sz="1200">
                <a:latin typeface="+mj-ea"/>
                <a:ea typeface="+mj-ea"/>
              </a:rPr>
              <a:t>값으로 저장한 후 키를 이용해 값을 가져올 때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웹 브라우저에서 도메인 네임으로 </a:t>
            </a:r>
            <a:r>
              <a:rPr lang="en-US" altLang="ko-KR" sz="1200">
                <a:latin typeface="+mj-ea"/>
                <a:ea typeface="+mj-ea"/>
              </a:rPr>
              <a:t>DNS </a:t>
            </a:r>
            <a:r>
              <a:rPr lang="ko-KR" altLang="en-US" sz="1200">
                <a:latin typeface="+mj-ea"/>
                <a:ea typeface="+mj-ea"/>
              </a:rPr>
              <a:t>서버에 요청할 경우 도메인 네임에 대한 </a:t>
            </a:r>
            <a:r>
              <a:rPr lang="en-US" altLang="ko-KR" sz="1200">
                <a:latin typeface="+mj-ea"/>
                <a:ea typeface="+mj-ea"/>
              </a:rPr>
              <a:t>IP </a:t>
            </a:r>
            <a:r>
              <a:rPr lang="ko-KR" altLang="en-US" sz="1200">
                <a:latin typeface="+mj-ea"/>
                <a:ea typeface="+mj-ea"/>
              </a:rPr>
              <a:t>주소를가져올 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923" y="4731026"/>
            <a:ext cx="7404651" cy="90586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톰캣 컨테이너가 </a:t>
            </a:r>
            <a:r>
              <a:rPr lang="en-US" altLang="ko-KR" sz="1200">
                <a:latin typeface="+mj-ea"/>
                <a:ea typeface="+mj-ea"/>
              </a:rPr>
              <a:t>ConnnectionPool </a:t>
            </a:r>
            <a:r>
              <a:rPr lang="ko-KR" altLang="en-US" sz="1200">
                <a:latin typeface="+mj-ea"/>
                <a:ea typeface="+mj-ea"/>
              </a:rPr>
              <a:t>객체를 생성하면 이 객체에 대한 </a:t>
            </a:r>
            <a:r>
              <a:rPr lang="en-US" altLang="ko-KR" sz="1200">
                <a:latin typeface="+mj-ea"/>
                <a:ea typeface="+mj-ea"/>
              </a:rPr>
              <a:t>JNDI </a:t>
            </a:r>
            <a:r>
              <a:rPr lang="ko-KR" altLang="en-US" sz="1200">
                <a:latin typeface="+mj-ea"/>
                <a:ea typeface="+mj-ea"/>
              </a:rPr>
              <a:t>이름</a:t>
            </a:r>
            <a:r>
              <a:rPr lang="en-US" altLang="ko-KR" sz="1200">
                <a:latin typeface="+mj-ea"/>
                <a:ea typeface="+mj-ea"/>
              </a:rPr>
              <a:t>(key)</a:t>
            </a:r>
            <a:r>
              <a:rPr lang="ko-KR" altLang="en-US" sz="1200">
                <a:latin typeface="+mj-ea"/>
                <a:ea typeface="+mj-ea"/>
              </a:rPr>
              <a:t>을 미리 설정해 놓음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그러면 웹 애플리케이션에서 데이터베이스와 연동 작업을 할 때 이 </a:t>
            </a:r>
            <a:r>
              <a:rPr lang="en-US" altLang="ko-KR" sz="1200">
                <a:latin typeface="+mj-ea"/>
                <a:ea typeface="+mj-ea"/>
              </a:rPr>
              <a:t>JNDI </a:t>
            </a:r>
            <a:r>
              <a:rPr lang="ko-KR" altLang="en-US" sz="1200">
                <a:latin typeface="+mj-ea"/>
                <a:ea typeface="+mj-ea"/>
              </a:rPr>
              <a:t>이름</a:t>
            </a:r>
            <a:r>
              <a:rPr lang="en-US" altLang="ko-KR" sz="1200">
                <a:latin typeface="+mj-ea"/>
                <a:ea typeface="+mj-ea"/>
              </a:rPr>
              <a:t>(key)</a:t>
            </a:r>
            <a:r>
              <a:rPr lang="ko-KR" altLang="en-US" sz="1200">
                <a:latin typeface="+mj-ea"/>
                <a:ea typeface="+mj-ea"/>
              </a:rPr>
              <a:t>으로 접근하여 작업을 수행함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23" y="4378187"/>
            <a:ext cx="1948068" cy="296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400" b="1">
                <a:latin typeface="+mj-ea"/>
                <a:ea typeface="+mj-ea"/>
              </a:rPr>
              <a:t>커넥션풀에 적용하기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05119" y="1386198"/>
            <a:ext cx="8039111" cy="497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520315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 spc="-94"/>
              <a:t>7.3.3 </a:t>
            </a:r>
            <a:r>
              <a:rPr lang="ko-KR" altLang="en-US" b="1" spc="-94"/>
              <a:t>톰캣의 </a:t>
            </a:r>
            <a:r>
              <a:rPr lang="en-US" altLang="ko-KR" b="1" spc="-94"/>
              <a:t>DataSource </a:t>
            </a:r>
            <a:r>
              <a:rPr lang="ko-KR" altLang="en-US" b="1" spc="-94"/>
              <a:t>설정 및 사용 방법</a:t>
            </a:r>
            <a:endParaRPr lang="en-US" altLang="ko-KR" b="1" spc="-94"/>
          </a:p>
        </p:txBody>
      </p:sp>
      <p:sp>
        <p:nvSpPr>
          <p:cNvPr id="3" name="TextBox 2"/>
          <p:cNvSpPr txBox="1"/>
          <p:nvPr/>
        </p:nvSpPr>
        <p:spPr>
          <a:xfrm>
            <a:off x="1566597" y="1918252"/>
            <a:ext cx="48900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톰캣의 </a:t>
            </a:r>
            <a:r>
              <a:rPr lang="en-US" altLang="ko-KR" sz="1200" b="1"/>
              <a:t>ConnectionPool </a:t>
            </a:r>
            <a:r>
              <a:rPr lang="ko-KR" altLang="en-US" sz="1200" b="1"/>
              <a:t>설정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939" y="5808607"/>
            <a:ext cx="6659218" cy="523220"/>
          </a:xfrm>
          <a:prstGeom prst="rect">
            <a:avLst/>
          </a:prstGeom>
          <a:noFill/>
          <a:ln w="19050">
            <a:solidFill>
              <a:srgbClr val="B8301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en-US" altLang="ko-KR" sz="1400" b="1">
                <a:latin typeface="+mj-ea"/>
                <a:ea typeface="+mj-ea"/>
              </a:rPr>
              <a:t>ConnectionPool </a:t>
            </a:r>
            <a:r>
              <a:rPr lang="ko-KR" altLang="en-US" sz="1400" b="1">
                <a:latin typeface="+mj-ea"/>
                <a:ea typeface="+mj-ea"/>
              </a:rPr>
              <a:t>관련 라이브러리 다운로드 받기</a:t>
            </a:r>
          </a:p>
          <a:p>
            <a:pPr lvl="0"/>
            <a:r>
              <a:rPr lang="en-US" altLang="ko-KR" sz="1400" b="1">
                <a:latin typeface="+mj-ea"/>
                <a:ea typeface="+mj-ea"/>
              </a:rPr>
              <a:t>  </a:t>
            </a:r>
            <a:r>
              <a:rPr lang="en-US" altLang="ko-KR" sz="1400" b="1">
                <a:solidFill>
                  <a:srgbClr val="FF0000"/>
                </a:solidFill>
                <a:latin typeface="+mj-ea"/>
              </a:rPr>
              <a:t>• </a:t>
            </a:r>
            <a:r>
              <a:rPr lang="en-US" altLang="ko-KR" sz="1100" b="1">
                <a:solidFill>
                  <a:srgbClr val="FF0000"/>
                </a:solidFill>
                <a:latin typeface="+mj-ea"/>
              </a:rPr>
              <a:t>http://www.java2s.com/Code/Jar/t/Downloadtomcatdbcp7030jar.htm</a:t>
            </a:r>
            <a:endParaRPr lang="ko-KR" altLang="en-US" sz="1100" b="1">
              <a:solidFill>
                <a:srgbClr val="FF0000"/>
              </a:solidFill>
              <a:latin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566597" y="2226029"/>
            <a:ext cx="5021631" cy="31382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79789" y="2685435"/>
            <a:ext cx="1514686" cy="5620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676418" y="3648187"/>
            <a:ext cx="2303979" cy="13928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331949" y="5171406"/>
            <a:ext cx="2652429" cy="3447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05119" y="1386198"/>
            <a:ext cx="8039111" cy="497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520315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  <a:defRPr/>
            </a:pPr>
            <a:r>
              <a:rPr lang="en-US" altLang="ko-KR" b="1" spc="-94"/>
              <a:t>7.3.4  </a:t>
            </a:r>
            <a:r>
              <a:rPr lang="ko-KR" altLang="en-US" b="1" spc="-94"/>
              <a:t>이클립스에서 톰캣 </a:t>
            </a:r>
            <a:r>
              <a:rPr lang="en-US" altLang="ko-KR" b="1" spc="-94"/>
              <a:t>DataSource </a:t>
            </a:r>
            <a:r>
              <a:rPr lang="ko-KR" altLang="en-US" b="1" spc="-94"/>
              <a:t>설정</a:t>
            </a:r>
            <a:endParaRPr lang="en-US" altLang="ko-KR" b="1" spc="-94"/>
          </a:p>
        </p:txBody>
      </p:sp>
      <p:sp>
        <p:nvSpPr>
          <p:cNvPr id="3" name="TextBox 2"/>
          <p:cNvSpPr txBox="1"/>
          <p:nvPr/>
        </p:nvSpPr>
        <p:spPr>
          <a:xfrm>
            <a:off x="1081380" y="1977887"/>
            <a:ext cx="70090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latin typeface="+mj-ea"/>
                <a:ea typeface="+mj-ea"/>
              </a:rPr>
              <a:t>프로젝트의 </a:t>
            </a:r>
            <a:r>
              <a:rPr lang="en-US" altLang="ko-KR" sz="1200" b="1">
                <a:latin typeface="+mj-ea"/>
                <a:ea typeface="+mj-ea"/>
              </a:rPr>
              <a:t>WEB-INF/lib </a:t>
            </a:r>
            <a:r>
              <a:rPr lang="ko-KR" altLang="en-US" sz="1200" b="1">
                <a:latin typeface="+mj-ea"/>
                <a:ea typeface="+mj-ea"/>
              </a:rPr>
              <a:t>폴더에 드라이버와 </a:t>
            </a:r>
            <a:r>
              <a:rPr lang="en-US" altLang="ko-KR" sz="1200" b="1">
                <a:latin typeface="+mj-ea"/>
                <a:ea typeface="+mj-ea"/>
              </a:rPr>
              <a:t>ConnectionPool</a:t>
            </a:r>
            <a:r>
              <a:rPr lang="ko-KR" altLang="en-US" sz="1200" b="1">
                <a:latin typeface="+mj-ea"/>
                <a:ea typeface="+mj-ea"/>
              </a:rPr>
              <a:t>관련 라이브러리 설치</a:t>
            </a: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324274" y="2422869"/>
            <a:ext cx="2305050" cy="24098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4008161" y="2412928"/>
            <a:ext cx="2638425" cy="14001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10" name="가로 글상자 12"/>
          <p:cNvSpPr txBox="1"/>
          <p:nvPr/>
        </p:nvSpPr>
        <p:spPr>
          <a:xfrm>
            <a:off x="1839408" y="3636007"/>
            <a:ext cx="688257" cy="163465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100" b="1"/>
              <a:t>webapp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30626"/>
            <a:ext cx="7803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context.xml </a:t>
            </a:r>
            <a:r>
              <a:rPr lang="ko-KR" altLang="en-US" sz="1200" b="1">
                <a:latin typeface="+mj-ea"/>
                <a:ea typeface="+mj-ea"/>
              </a:rPr>
              <a:t>파일에 </a:t>
            </a:r>
            <a:r>
              <a:rPr lang="en-US" altLang="ko-KR" sz="1200" b="1">
                <a:latin typeface="+mj-ea"/>
                <a:ea typeface="+mj-ea"/>
              </a:rPr>
              <a:t>&lt;Resource&gt; </a:t>
            </a:r>
            <a:r>
              <a:rPr lang="ko-KR" altLang="en-US" sz="1200" b="1">
                <a:latin typeface="+mj-ea"/>
                <a:ea typeface="+mj-ea"/>
              </a:rPr>
              <a:t>태그를 이용해 톰캣 실행 시 연결할 데이터베이스를 설정</a:t>
            </a: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172817" y="1920005"/>
            <a:ext cx="5943600" cy="32962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1798983" y="3369365"/>
            <a:ext cx="1381539" cy="19878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7" y="1511396"/>
            <a:ext cx="78437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자바 클래스에서는 </a:t>
            </a:r>
            <a:r>
              <a:rPr lang="en-US" altLang="ko-KR" sz="1200" b="1">
                <a:latin typeface="+mj-ea"/>
                <a:ea typeface="+mj-ea"/>
              </a:rPr>
              <a:t>name </a:t>
            </a:r>
            <a:r>
              <a:rPr lang="ko-KR" altLang="en-US" sz="1200" b="1">
                <a:latin typeface="+mj-ea"/>
                <a:ea typeface="+mj-ea"/>
              </a:rPr>
              <a:t>속성의 </a:t>
            </a:r>
            <a:r>
              <a:rPr lang="en-US" altLang="ko-KR" sz="1200" b="1">
                <a:latin typeface="+mj-ea"/>
                <a:ea typeface="+mj-ea"/>
              </a:rPr>
              <a:t>jdbc/oracle</a:t>
            </a:r>
            <a:r>
              <a:rPr lang="ko-KR" altLang="en-US" sz="1200" b="1">
                <a:latin typeface="+mj-ea"/>
                <a:ea typeface="+mj-ea"/>
              </a:rPr>
              <a:t>로 </a:t>
            </a:r>
            <a:r>
              <a:rPr lang="en-US" altLang="ko-KR" sz="1200" b="1">
                <a:latin typeface="+mj-ea"/>
                <a:ea typeface="+mj-ea"/>
              </a:rPr>
              <a:t>DataSource</a:t>
            </a:r>
            <a:r>
              <a:rPr lang="ko-KR" altLang="en-US" sz="1200" b="1">
                <a:latin typeface="+mj-ea"/>
                <a:ea typeface="+mj-ea"/>
              </a:rPr>
              <a:t>에 접근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93011" y="1788394"/>
            <a:ext cx="6829425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805070" y="1837442"/>
          <a:ext cx="731035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5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6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6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name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대한 </a:t>
                      </a:r>
                      <a:r>
                        <a:rPr lang="en-US" altLang="ko-KR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JNDI </a:t>
                      </a:r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auth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인증 주체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2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driverClassName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연결할 데이터베이스 종류에 따른 드라이버 클래스 이름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9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factory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연결할 데이터베이스 종류에 따른 </a:t>
                      </a:r>
                      <a:r>
                        <a:rPr lang="en-US" altLang="ko-KR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ConnectionPool </a:t>
                      </a:r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생성 클래스 이름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9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maxActive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동시에 최대로 데이터베이스에 연결할 수 있는 </a:t>
                      </a:r>
                      <a:r>
                        <a:rPr lang="en-US" altLang="ko-KR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Connection </a:t>
                      </a:r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9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maxIdle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동시에 </a:t>
                      </a:r>
                      <a:r>
                        <a:rPr lang="en-US" altLang="ko-KR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idle </a:t>
                      </a:r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상태로 대기할 수 있는 최대 수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9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maxWait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새로운 연결이 생길 때까지 기다릴 수 있는 최대 시간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0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user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데이터베이스 접속 </a:t>
                      </a:r>
                      <a:r>
                        <a:rPr lang="en-US" altLang="ko-KR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1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password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데이터베이스 접속 비밀번호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type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데이터베이스 종류별 </a:t>
                      </a:r>
                      <a:r>
                        <a:rPr lang="en-US" altLang="ko-KR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69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url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접속할 데이터베이스 주소와 포트 번호 및 </a:t>
                      </a:r>
                      <a:r>
                        <a:rPr lang="en-US" altLang="ko-KR" sz="1200" b="0" i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SID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05070" y="1560443"/>
            <a:ext cx="3975652" cy="266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/>
              <a:t>ConnectionPool</a:t>
            </a:r>
            <a:r>
              <a:rPr lang="ko-KR" altLang="en-US" sz="1200" b="1"/>
              <a:t>로 연결할 데이터베이스 속성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165" y="5645426"/>
            <a:ext cx="7504043" cy="27699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ko-KR" altLang="en-US" sz="1200"/>
              <a:t>다른 속성들은 고정적으로 사용되며</a:t>
            </a:r>
            <a:r>
              <a:rPr lang="en-US" altLang="ko-KR" sz="1200"/>
              <a:t>, </a:t>
            </a:r>
            <a:r>
              <a:rPr lang="ko-KR" altLang="en-US" sz="1200"/>
              <a:t>주로 </a:t>
            </a:r>
            <a:r>
              <a:rPr lang="en-US" altLang="ko-KR" sz="1200"/>
              <a:t>driverClassName, user, password, url</a:t>
            </a:r>
            <a:r>
              <a:rPr lang="ko-KR" altLang="en-US" sz="1200"/>
              <a:t>만 변경해서 사용합니다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7" name="TextBox 6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4" name="TextBox 3"/>
          <p:cNvSpPr txBox="1"/>
          <p:nvPr/>
        </p:nvSpPr>
        <p:spPr>
          <a:xfrm>
            <a:off x="505117" y="1386198"/>
            <a:ext cx="8039111" cy="497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520315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  <a:defRPr/>
            </a:pPr>
            <a:r>
              <a:rPr lang="en-US" altLang="ko-KR" b="1" spc="-94"/>
              <a:t>7.3.5  </a:t>
            </a:r>
            <a:r>
              <a:rPr lang="ko-KR" altLang="en-US" b="1" spc="-94"/>
              <a:t>톰캣의 </a:t>
            </a:r>
            <a:r>
              <a:rPr lang="en-US" altLang="ko-KR" b="1" spc="-94"/>
              <a:t>DataSource</a:t>
            </a:r>
            <a:r>
              <a:rPr lang="ko-KR" altLang="en-US" b="1" spc="-94"/>
              <a:t>로 연동해 회원 정보 조회 실습</a:t>
            </a:r>
            <a:endParaRPr lang="en-US" altLang="ko-KR" b="1" spc="-94"/>
          </a:p>
        </p:txBody>
      </p:sp>
      <p:sp>
        <p:nvSpPr>
          <p:cNvPr id="3" name="TextBox 2"/>
          <p:cNvSpPr txBox="1"/>
          <p:nvPr/>
        </p:nvSpPr>
        <p:spPr>
          <a:xfrm>
            <a:off x="665921" y="1839464"/>
            <a:ext cx="8060633" cy="44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1. </a:t>
            </a:r>
            <a:r>
              <a:rPr lang="en-US" altLang="ko-KR" sz="1200">
                <a:latin typeface="한컴산뜻돋움"/>
                <a:ea typeface="한컴산뜻돋움"/>
              </a:rPr>
              <a:t>sec02.ex01 </a:t>
            </a:r>
            <a:r>
              <a:rPr lang="ko-KR" altLang="en-US" sz="1200">
                <a:latin typeface="한컴산뜻돋움"/>
                <a:ea typeface="한컴산뜻돋움"/>
              </a:rPr>
              <a:t>패키지를 만들고 앞에서 사용한 </a:t>
            </a:r>
            <a:r>
              <a:rPr lang="en-US" altLang="ko-KR" sz="1200" b="1">
                <a:solidFill>
                  <a:srgbClr val="FF6600"/>
                </a:solidFill>
                <a:latin typeface="한컴산뜻돋움"/>
                <a:ea typeface="한컴산뜻돋움"/>
              </a:rPr>
              <a:t>MemberDAO, MemberServlet, MemberVO </a:t>
            </a:r>
            <a:r>
              <a:rPr lang="ko-KR" altLang="en-US" sz="1200" b="1">
                <a:solidFill>
                  <a:srgbClr val="FF6600"/>
                </a:solidFill>
                <a:latin typeface="한컴산뜻돋움"/>
                <a:ea typeface="한컴산뜻돋움"/>
              </a:rPr>
              <a:t>클래스를 복사</a:t>
            </a:r>
            <a:r>
              <a:rPr lang="ko-KR" altLang="en-US" sz="1200">
                <a:latin typeface="한컴산뜻돋움"/>
                <a:ea typeface="한컴산뜻돋움"/>
              </a:rPr>
              <a:t>하여 붙여</a:t>
            </a:r>
          </a:p>
          <a:p>
            <a:pPr lvl="0">
              <a:defRPr/>
            </a:pPr>
            <a:r>
              <a:rPr lang="en-US" altLang="ko-KR" sz="1200">
                <a:latin typeface="한컴산뜻돋움"/>
                <a:ea typeface="한컴산뜻돋움"/>
              </a:rPr>
              <a:t>   </a:t>
            </a:r>
            <a:r>
              <a:rPr lang="ko-KR" altLang="en-US" sz="1200">
                <a:latin typeface="한컴산뜻돋움"/>
                <a:ea typeface="한컴산뜻돋움"/>
              </a:rPr>
              <a:t>넣습니다</a:t>
            </a:r>
            <a:r>
              <a:rPr lang="en-US" altLang="ko-KR" sz="1200">
                <a:latin typeface="한컴산뜻돋움"/>
                <a:ea typeface="한컴산뜻돋움"/>
              </a:rPr>
              <a:t>.</a:t>
            </a:r>
            <a:endParaRPr lang="ko-KR" altLang="en-US" sz="1200">
              <a:latin typeface="한컴산뜻돋움"/>
              <a:ea typeface="한컴산뜻돋움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854601" y="2301129"/>
            <a:ext cx="1924050" cy="18719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3369365" y="3647661"/>
            <a:ext cx="1326873" cy="52544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789198" y="4380537"/>
            <a:ext cx="7762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복사한 </a:t>
            </a:r>
            <a:r>
              <a:rPr lang="en-US" altLang="ko-KR" sz="1200">
                <a:latin typeface="+mj-ea"/>
                <a:ea typeface="+mj-ea"/>
              </a:rPr>
              <a:t>MemberServlet </a:t>
            </a:r>
            <a:r>
              <a:rPr lang="ko-KR" altLang="en-US" sz="1200">
                <a:latin typeface="+mj-ea"/>
                <a:ea typeface="+mj-ea"/>
              </a:rPr>
              <a:t>클래스의 서블릿 매핑 이름을 </a:t>
            </a:r>
            <a:r>
              <a:rPr lang="en-US" altLang="ko-KR" sz="1200">
                <a:latin typeface="+mj-ea"/>
                <a:ea typeface="+mj-ea"/>
              </a:rPr>
              <a:t>/member2</a:t>
            </a:r>
            <a:r>
              <a:rPr lang="ko-KR" altLang="en-US" sz="1200">
                <a:latin typeface="+mj-ea"/>
                <a:ea typeface="+mj-ea"/>
              </a:rPr>
              <a:t>로 변경합니다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1" name="그림 10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077528" y="4795785"/>
            <a:ext cx="4230181" cy="16835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1"/>
          <p:cNvSpPr/>
          <p:nvPr/>
        </p:nvSpPr>
        <p:spPr>
          <a:xfrm>
            <a:off x="2081286" y="4907312"/>
            <a:ext cx="1977887" cy="27829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5" name="TextBox 4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9876" y="133350"/>
            <a:ext cx="7362031" cy="6490574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package sec02.ex01;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java.sql.Connection;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java.sql.Date;</a:t>
            </a:r>
          </a:p>
          <a:p>
            <a:pPr>
              <a:defRPr/>
            </a:pP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import java.sql.DriverManager;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java.sql.PreparedStatement;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java.sql.ResultSet;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java.util.ArrayList;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import java.util.List;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import javax.naming.Context;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  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//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 인터페이스</a:t>
            </a:r>
          </a:p>
          <a:p>
            <a:pPr>
              <a:defRPr/>
            </a:pP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import javax.naming.InitialContext;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   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//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 구현 클래스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-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 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naming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 작동을 위한 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context 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시작 클래스</a:t>
            </a:r>
          </a:p>
          <a:p>
            <a:pPr>
              <a:defRPr/>
            </a:pP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import javax.sql.DataSource;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public class MemberDAO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</a:t>
            </a:r>
            <a:r>
              <a:rPr lang="en-US" altLang="ko-KR" sz="1200" b="1">
                <a:solidFill>
                  <a:srgbClr val="0000FF"/>
                </a:solidFill>
                <a:latin typeface="한컴산뜻돋움"/>
                <a:ea typeface="한컴산뜻돋움"/>
              </a:rPr>
              <a:t>/*</a:t>
            </a:r>
          </a:p>
          <a:p>
            <a:pPr>
              <a:defRPr/>
            </a:pPr>
            <a:r>
              <a:rPr lang="en-US" altLang="ko-KR" sz="1200" b="1">
                <a:solidFill>
                  <a:srgbClr val="0000FF"/>
                </a:solidFill>
                <a:latin typeface="한컴산뜻돋움"/>
                <a:ea typeface="한컴산뜻돋움"/>
              </a:rPr>
              <a:t>	private static final String driver = "oracle.jdbc.driver.OracleDriver";</a:t>
            </a:r>
          </a:p>
          <a:p>
            <a:pPr>
              <a:defRPr/>
            </a:pPr>
            <a:r>
              <a:rPr lang="en-US" altLang="ko-KR" sz="1200" b="1">
                <a:solidFill>
                  <a:srgbClr val="0000FF"/>
                </a:solidFill>
                <a:latin typeface="한컴산뜻돋움"/>
                <a:ea typeface="한컴산뜻돋움"/>
              </a:rPr>
              <a:t>	private static final String url = "jdbc:oracle:thin:@localhost:1521:XE";</a:t>
            </a:r>
          </a:p>
          <a:p>
            <a:pPr>
              <a:defRPr/>
            </a:pPr>
            <a:r>
              <a:rPr lang="en-US" altLang="ko-KR" sz="1200" b="1">
                <a:solidFill>
                  <a:srgbClr val="0000FF"/>
                </a:solidFill>
                <a:latin typeface="한컴산뜻돋움"/>
                <a:ea typeface="한컴산뜻돋움"/>
              </a:rPr>
              <a:t>	private static final String user = "scott";</a:t>
            </a:r>
          </a:p>
          <a:p>
            <a:pPr>
              <a:defRPr/>
            </a:pPr>
            <a:r>
              <a:rPr lang="en-US" altLang="ko-KR" sz="1200" b="1">
                <a:solidFill>
                  <a:srgbClr val="0000FF"/>
                </a:solidFill>
                <a:latin typeface="한컴산뜻돋움"/>
                <a:ea typeface="한컴산뜻돋움"/>
              </a:rPr>
              <a:t>	private static final String pwd = "tiger";</a:t>
            </a:r>
          </a:p>
          <a:p>
            <a:pPr>
              <a:defRPr/>
            </a:pPr>
            <a:r>
              <a:rPr lang="en-US" altLang="ko-KR" sz="1200" b="1">
                <a:solidFill>
                  <a:srgbClr val="0000FF"/>
                </a:solidFill>
                <a:latin typeface="한컴산뜻돋움"/>
                <a:ea typeface="한컴산뜻돋움"/>
              </a:rPr>
              <a:t>	*/</a:t>
            </a:r>
          </a:p>
          <a:p>
            <a:pPr>
              <a:defRPr/>
            </a:pPr>
            <a:r>
              <a:rPr lang="en-US" altLang="ko-KR" sz="1200" b="1">
                <a:solidFill>
                  <a:srgbClr val="0000FF"/>
                </a:solidFill>
                <a:latin typeface="한컴산뜻돋움"/>
                <a:ea typeface="한컴산뜻돋움"/>
              </a:rPr>
              <a:t>	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private Connection con;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private PreparedStatement pstmt;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private DataSource dataFactory;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public MemberDAO()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try {</a:t>
            </a:r>
          </a:p>
          <a:p>
            <a:pPr>
              <a:defRPr/>
            </a:pP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			Context ctx = new InitialContext();</a:t>
            </a:r>
          </a:p>
          <a:p>
            <a:pPr>
              <a:defRPr/>
            </a:pP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			Context envContext = (Context) ctx.lookup("java:/comp/env");</a:t>
            </a:r>
          </a:p>
          <a:p>
            <a:pPr>
              <a:defRPr/>
            </a:pP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			dataFactory = (DataSource) envContext.lookup("jdbc/oracle");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} catch (Exception e)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e.printStackTrace();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}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}</a:t>
            </a:r>
          </a:p>
        </p:txBody>
      </p:sp>
      <p:sp>
        <p:nvSpPr>
          <p:cNvPr id="8" name="자유형 7"/>
          <p:cNvSpPr/>
          <p:nvPr/>
        </p:nvSpPr>
        <p:spPr>
          <a:xfrm>
            <a:off x="6063019" y="2179418"/>
            <a:ext cx="1609369" cy="2936368"/>
          </a:xfrm>
          <a:custGeom>
            <a:avLst/>
            <a:gdLst>
              <a:gd name="connsiteX0" fmla="*/ 1674539 w 2100982"/>
              <a:gd name="connsiteY0" fmla="*/ 49034 h 3114578"/>
              <a:gd name="connsiteX1" fmla="*/ 2001961 w 2100982"/>
              <a:gd name="connsiteY1" fmla="*/ 168096 h 3114578"/>
              <a:gd name="connsiteX2" fmla="*/ 1912664 w 2100982"/>
              <a:gd name="connsiteY2" fmla="*/ 1874659 h 3114578"/>
              <a:gd name="connsiteX3" fmla="*/ -2258 w 2100982"/>
              <a:gd name="connsiteY3" fmla="*/ 3114894 h 3114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0982" h="3114578">
                <a:moveTo>
                  <a:pt x="1674539" y="49034"/>
                </a:moveTo>
                <a:cubicBezTo>
                  <a:pt x="1729109" y="68878"/>
                  <a:pt x="1962273" y="-136174"/>
                  <a:pt x="2001961" y="168096"/>
                </a:cubicBezTo>
                <a:cubicBezTo>
                  <a:pt x="2041648" y="472367"/>
                  <a:pt x="2246700" y="1383526"/>
                  <a:pt x="1912664" y="1874659"/>
                </a:cubicBezTo>
                <a:cubicBezTo>
                  <a:pt x="1578627" y="2365792"/>
                  <a:pt x="316895" y="2908188"/>
                  <a:pt x="-2258" y="3114894"/>
                </a:cubicBezTo>
              </a:path>
            </a:pathLst>
          </a:custGeom>
          <a:noFill/>
          <a:ln>
            <a:solidFill>
              <a:schemeClr val="accent1">
                <a:shade val="20000"/>
              </a:schemeClr>
            </a:solidFill>
            <a:tailEnd type="triangle" w="lg" len="lg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056061" y="3756422"/>
            <a:ext cx="4975823" cy="1004173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>
                <a:latin typeface="한컴산뜻돋움"/>
                <a:ea typeface="한컴산뜻돋움"/>
              </a:rPr>
              <a:t>데이터 소스 와 같은 기타 아티팩트</a:t>
            </a:r>
            <a:r>
              <a:rPr lang="en-US" altLang="ko-KR" sz="1200" b="1">
                <a:latin typeface="한컴산뜻돋움"/>
                <a:ea typeface="한컴산뜻돋움"/>
              </a:rPr>
              <a:t>(</a:t>
            </a:r>
            <a:r>
              <a:rPr lang="ko-KR" altLang="en-US" sz="1200" b="1">
                <a:latin typeface="한컴산뜻돋움"/>
                <a:ea typeface="한컴산뜻돋움"/>
              </a:rPr>
              <a:t>산출물</a:t>
            </a:r>
            <a:r>
              <a:rPr lang="en-US" altLang="ko-KR" sz="1200" b="1">
                <a:latin typeface="한컴산뜻돋움"/>
                <a:ea typeface="한컴산뜻돋움"/>
              </a:rPr>
              <a:t>)</a:t>
            </a:r>
            <a:r>
              <a:rPr lang="ko-KR" altLang="en-US" sz="1200" b="1">
                <a:latin typeface="한컴산뜻돋움"/>
                <a:ea typeface="한컴산뜻돋움"/>
              </a:rPr>
              <a:t>에 대한 참조는 네임스페이스에 바인드된다. 이러한 오브젝트는 JNDI(Java™ Naming and   Directory Interface)를 통해 확보할 수 있다. JNDI 작업을 수행하려면 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초기 컨텍스트</a:t>
            </a:r>
            <a:r>
              <a:rPr lang="ko-KR" altLang="en-US" sz="1200" b="1">
                <a:latin typeface="한컴산뜻돋움"/>
                <a:ea typeface="한컴산뜻돋움"/>
              </a:rPr>
              <a:t>를 가져와야 한다. 초기 컨텍스트를 사용하여 네임 스페이스에 바인드된 오브젝트를 찾아볼 수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0867" y="4966890"/>
            <a:ext cx="2361407" cy="1184355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  <p:txBody>
          <a:bodyPr vert="horz" wrap="square" lIns="91440" tIns="45720" rIns="91440" bIns="45720" anchor="t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lang="ko-KR" altLang="en-US" sz="1200" b="1">
                <a:solidFill>
                  <a:schemeClr val="tx1"/>
                </a:solidFill>
                <a:latin typeface="한컴산뜻돋움"/>
                <a:ea typeface="한컴산뜻돋움"/>
              </a:rPr>
              <a:t>DataSource란 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Data 저장기능</a:t>
            </a:r>
            <a:r>
              <a:rPr lang="ko-KR" altLang="en-US" sz="1200" b="1">
                <a:solidFill>
                  <a:schemeClr val="tx1"/>
                </a:solidFill>
                <a:latin typeface="한컴산뜻돋움"/>
                <a:ea typeface="한컴산뜻돋움"/>
              </a:rPr>
              <a:t>을 의미한다. 애플리케이션은 Connection으로 DataSource에 접근하는데, 이때 DataSource 객체는 특정 DataSource에 대해 연결되는 </a:t>
            </a:r>
            <a:r>
              <a:rPr lang="ko-KR" altLang="en-US" sz="1200" b="1">
                <a:solidFill>
                  <a:srgbClr val="FF0000"/>
                </a:solidFill>
                <a:latin typeface="한컴산뜻돋움"/>
                <a:ea typeface="한컴산뜻돋움"/>
              </a:rPr>
              <a:t>Factory</a:t>
            </a:r>
            <a:r>
              <a:rPr lang="ko-KR" altLang="en-US" sz="1200" b="1">
                <a:solidFill>
                  <a:schemeClr val="tx1"/>
                </a:solidFill>
                <a:latin typeface="한컴산뜻돋움"/>
                <a:ea typeface="한컴산뜻돋움"/>
              </a:rPr>
              <a:t>로 취급된다.</a:t>
            </a:r>
          </a:p>
        </p:txBody>
      </p:sp>
      <p:sp>
        <p:nvSpPr>
          <p:cNvPr id="11" name="곱셈 기호 10"/>
          <p:cNvSpPr/>
          <p:nvPr/>
        </p:nvSpPr>
        <p:spPr>
          <a:xfrm>
            <a:off x="3549315" y="2962776"/>
            <a:ext cx="832184" cy="571500"/>
          </a:xfrm>
          <a:prstGeom prst="mathMultiply">
            <a:avLst>
              <a:gd name="adj1" fmla="val 2352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567090" y="4850718"/>
            <a:ext cx="2217867" cy="40508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12109" y="6018549"/>
            <a:ext cx="1812775" cy="729161"/>
          </a:xfrm>
          <a:prstGeom prst="rect">
            <a:avLst/>
          </a:prstGeom>
        </p:spPr>
      </p:pic>
      <p:cxnSp>
        <p:nvCxnSpPr>
          <p:cNvPr id="14" name="직선 연결선 13"/>
          <p:cNvCxnSpPr/>
          <p:nvPr/>
        </p:nvCxnSpPr>
        <p:spPr>
          <a:xfrm flipV="1">
            <a:off x="4782553" y="5830302"/>
            <a:ext cx="872289" cy="180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2"/>
          <p:cNvSpPr txBox="1"/>
          <p:nvPr/>
        </p:nvSpPr>
        <p:spPr>
          <a:xfrm>
            <a:off x="2260246" y="120315"/>
            <a:ext cx="6883753" cy="272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3.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DataSource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를 이용해 데이터베이스와 연동하는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MemberDAO 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000000"/>
                </a:solidFill>
                <a:latin typeface="Calibri Light"/>
                <a:ea typeface="맑은 고딕"/>
              </a:rPr>
              <a:t>클래스를 다음과 같이 수정합니다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kumimoji="0" lang="ko-KR" altLang="en-US" sz="1200" b="0" i="0" u="none" strike="noStrike" kern="1200" cap="none" spc="0" normalizeH="0" baseline="0">
              <a:solidFill>
                <a:srgbClr val="000000"/>
              </a:solidFill>
              <a:latin typeface="Calibri Light"/>
              <a:ea typeface="맑은 고딕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569368" y="377383"/>
            <a:ext cx="3297426" cy="277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5" name="TextBox 4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9876" y="133350"/>
            <a:ext cx="7362031" cy="6122670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public List listMembers()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List list = new ArrayList();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try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//connDB();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</a:t>
            </a:r>
            <a:r>
              <a:rPr lang="en-US" altLang="ko-KR" sz="1200" b="1">
                <a:solidFill>
                  <a:srgbClr val="FF0000"/>
                </a:solidFill>
                <a:latin typeface="한컴산뜻돋움"/>
                <a:ea typeface="한컴산뜻돋움"/>
              </a:rPr>
              <a:t>con=dataFactory.getConnection();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String query = "select * from t_member ";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System.out.println("prepareStatememt: " + query);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pstmt = con.prepareStatement(query);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ResultSet rs = pstmt.</a:t>
            </a:r>
            <a:r>
              <a:rPr lang="en-US" altLang="ko-KR" sz="1200" b="1">
                <a:solidFill>
                  <a:srgbClr val="800080"/>
                </a:solidFill>
                <a:latin typeface="한컴산뜻돋움"/>
                <a:ea typeface="한컴산뜻돋움"/>
              </a:rPr>
              <a:t>executeQuery();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while (rs.next())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String id = rs.getString("id");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String pwd = rs.getString("pwd");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String name = rs.getString("name");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String email = rs.getString("email");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Date joinDate = rs.getDate("joinDate");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MemberVO vo = new MemberVO();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vo.setId(id);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vo.setPwd(pwd);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vo.setName(name);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vo.setEmail(email);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vo.setJoinDate(joinDate);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	list.add(vo);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}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rs.close();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pstmt.close();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con.close();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} catch (Exception e) {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	e.printStackTrace();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}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	return list;</a:t>
            </a:r>
          </a:p>
          <a:p>
            <a:pPr>
              <a:defRPr/>
            </a:pPr>
            <a:r>
              <a:rPr lang="en-US" altLang="ko-KR" sz="1200" b="1">
                <a:latin typeface="한컴산뜻돋움"/>
                <a:ea typeface="한컴산뜻돋움"/>
              </a:rPr>
              <a:t>	}</a:t>
            </a:r>
          </a:p>
          <a:p>
            <a:pPr>
              <a:defRPr/>
            </a:pPr>
            <a:endParaRPr lang="en-US" altLang="ko-KR" sz="1200" b="1">
              <a:latin typeface="한컴산뜻돋움"/>
              <a:ea typeface="한컴산뜻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58407" y="4285456"/>
            <a:ext cx="5278437" cy="2465864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/*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private void connDB()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try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Class.forName(driver);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System.out.println("Oracle 드라이버 로딩 성공");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con = DriverManager.getConnection(url, user, pwd);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System.out.println("Connection 생성 성공");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} catch (Exception e)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e.printStackTrace();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*/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}</a:t>
            </a:r>
          </a:p>
        </p:txBody>
      </p:sp>
      <p:sp>
        <p:nvSpPr>
          <p:cNvPr id="10" name="곱셈 기호 9"/>
          <p:cNvSpPr/>
          <p:nvPr/>
        </p:nvSpPr>
        <p:spPr>
          <a:xfrm>
            <a:off x="6858000" y="4717381"/>
            <a:ext cx="832184" cy="571500"/>
          </a:xfrm>
          <a:prstGeom prst="mathMultiply">
            <a:avLst>
              <a:gd name="adj1" fmla="val 23520"/>
            </a:avLst>
          </a:prstGeom>
          <a:solidFill>
            <a:srgbClr val="4472C4">
              <a:alpha val="100000"/>
            </a:srgbClr>
          </a:solidFill>
          <a:ln w="12700" cap="flat" cmpd="sng" algn="ctr">
            <a:solidFill>
              <a:srgbClr val="21375E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50246" y="960103"/>
            <a:ext cx="2256630" cy="506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8" name="TextBox 7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9" name="내용 개체 틀 2"/>
          <p:cNvSpPr>
            <a:spLocks noGrp="1"/>
          </p:cNvSpPr>
          <p:nvPr/>
        </p:nvSpPr>
        <p:spPr>
          <a:xfrm>
            <a:off x="1246039" y="3165112"/>
            <a:ext cx="6966087" cy="173404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</a:ln>
        </p:spPr>
        <p:txBody>
          <a:bodyPr vert="horz" lIns="91440" tIns="45720" rIns="91440" bIns="45720"/>
          <a:lstStyle/>
          <a:p>
            <a:pPr marL="447675" lvl="1" indent="-257175" algn="l" latinLnBrk="1" hangingPunct="1">
              <a:lnSpc>
                <a:spcPct val="150000"/>
              </a:lnSpc>
              <a:spcBef>
                <a:spcPct val="20000"/>
              </a:spcBef>
              <a:buClr>
                <a:schemeClr val="bg2">
                  <a:lumMod val="50000"/>
                </a:schemeClr>
              </a:buClr>
              <a:buFont typeface="Wingdings"/>
              <a:buChar char="§"/>
              <a:defRPr/>
            </a:pP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Connection Pool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을 관리하는 목적으로 사용하는 객체</a:t>
            </a:r>
          </a:p>
          <a:p>
            <a:pPr marL="447675" lvl="1" indent="-257175" algn="l" latinLnBrk="1" hangingPunct="1">
              <a:lnSpc>
                <a:spcPct val="150000"/>
              </a:lnSpc>
              <a:spcBef>
                <a:spcPct val="20000"/>
              </a:spcBef>
              <a:buClr>
                <a:schemeClr val="bg2">
                  <a:lumMod val="50000"/>
                </a:schemeClr>
              </a:buClr>
              <a:buFont typeface="Wingdings"/>
              <a:buChar char="§"/>
              <a:defRPr/>
            </a:pP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웹 애플리케이션은 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DataSource 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를 통해 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Connection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을 얻고 반납하는 작업수행</a:t>
            </a:r>
          </a:p>
          <a:p>
            <a:pPr marL="447675" lvl="1" indent="-257175" algn="l" latinLnBrk="1" hangingPunct="1">
              <a:lnSpc>
                <a:spcPct val="150000"/>
              </a:lnSpc>
              <a:spcBef>
                <a:spcPct val="20000"/>
              </a:spcBef>
              <a:buClr>
                <a:schemeClr val="bg2">
                  <a:lumMod val="50000"/>
                </a:schemeClr>
              </a:buClr>
              <a:buFont typeface="Wingdings"/>
              <a:buChar char="§"/>
              <a:defRPr/>
            </a:pP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DataSource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객체는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 JNDIserver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에 의해 웹 애플리케이션에 전달하는 방식을 따름</a:t>
            </a:r>
          </a:p>
          <a:p>
            <a:pPr marL="447675" lvl="1" indent="-257175" algn="l" latinLnBrk="1" hangingPunct="1">
              <a:lnSpc>
                <a:spcPct val="150000"/>
              </a:lnSpc>
              <a:spcBef>
                <a:spcPct val="20000"/>
              </a:spcBef>
              <a:buClr>
                <a:schemeClr val="bg2">
                  <a:lumMod val="50000"/>
                </a:schemeClr>
              </a:buClr>
              <a:buFont typeface="Wingdings"/>
              <a:buChar char="§"/>
              <a:defRPr/>
            </a:pP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(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예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) 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 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  1. </a:t>
            </a:r>
            <a:r>
              <a:rPr lang="en-US" altLang="ko-KR" sz="1100" b="1" i="0" spc="5">
                <a:solidFill>
                  <a:srgbClr val="FF6600"/>
                </a:solidFill>
                <a:latin typeface="한컴산뜻돋움"/>
                <a:ea typeface="한컴산뜻돋움"/>
              </a:rPr>
              <a:t>lookup()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을 통해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 JNDIserver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에서 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DataSource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객체 획득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0000"/>
              </a:spcBef>
              <a:buClr>
                <a:schemeClr val="bg2">
                  <a:lumMod val="25000"/>
                </a:schemeClr>
              </a:buClr>
              <a:buSzPct val="80000"/>
              <a:buFont typeface="mn-ea"/>
              <a:buNone/>
              <a:defRPr/>
            </a:pP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                       2. DataSource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객체의 </a:t>
            </a:r>
            <a:r>
              <a:rPr lang="en-US" altLang="ko-KR" sz="1100" b="1" i="0" spc="5">
                <a:solidFill>
                  <a:srgbClr val="FF6600"/>
                </a:solidFill>
                <a:latin typeface="한컴산뜻돋움"/>
                <a:ea typeface="한컴산뜻돋움"/>
              </a:rPr>
              <a:t>getConnection()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을 통해 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Connection Pool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에서 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Free 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상태 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Connection 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획득</a:t>
            </a:r>
          </a:p>
          <a:p>
            <a:pPr marL="0" lvl="0" indent="0" algn="l" latinLnBrk="1" hangingPunct="1">
              <a:lnSpc>
                <a:spcPct val="150000"/>
              </a:lnSpc>
              <a:spcBef>
                <a:spcPct val="20000"/>
              </a:spcBef>
              <a:buClr>
                <a:schemeClr val="bg2">
                  <a:lumMod val="25000"/>
                </a:schemeClr>
              </a:buClr>
              <a:buSzPct val="80000"/>
              <a:buFont typeface="mn-ea"/>
              <a:buNone/>
              <a:defRPr/>
            </a:pP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                       3. Connection 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객체를 통해 </a:t>
            </a:r>
            <a:r>
              <a:rPr lang="en-US" altLang="ko-KR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DBMS </a:t>
            </a:r>
            <a:r>
              <a:rPr lang="ko-KR" altLang="en-US" sz="1100" b="1" i="0" spc="5">
                <a:solidFill>
                  <a:schemeClr val="tx1"/>
                </a:solidFill>
                <a:latin typeface="한컴산뜻돋움"/>
                <a:ea typeface="한컴산뜻돋움"/>
              </a:rPr>
              <a:t>작업수행</a:t>
            </a:r>
          </a:p>
        </p:txBody>
      </p:sp>
      <p:pic>
        <p:nvPicPr>
          <p:cNvPr id="10" name="그림 9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297162" y="1452912"/>
            <a:ext cx="4997516" cy="148646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381241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90261"/>
            <a:ext cx="7714542" cy="446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http://localhost:8090/pro07/member2</a:t>
            </a:r>
            <a:r>
              <a:rPr lang="ko-KR" altLang="en-US" sz="1200">
                <a:latin typeface="+mj-ea"/>
                <a:ea typeface="+mj-ea"/>
              </a:rPr>
              <a:t>로 요청합니다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결과는 앞에서 실습했을 때와 같지만 이번에는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커넥션풀을 이용해서 데이터베이스와 연동했다는 점에서 차이가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972710" y="2111561"/>
            <a:ext cx="4105275" cy="1962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605211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7.3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데이터베이스 연동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104" y="1610139"/>
            <a:ext cx="7553738" cy="445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sec02.ex02 </a:t>
            </a:r>
            <a:r>
              <a:rPr lang="ko-KR" altLang="en-US" sz="1200">
                <a:latin typeface="+mj-ea"/>
                <a:ea typeface="+mj-ea"/>
              </a:rPr>
              <a:t>패키지를 만들고 </a:t>
            </a:r>
            <a:r>
              <a:rPr lang="en-US" altLang="ko-KR" sz="1200">
                <a:latin typeface="+mj-ea"/>
                <a:ea typeface="+mj-ea"/>
              </a:rPr>
              <a:t>MemberVO.java</a:t>
            </a:r>
            <a:r>
              <a:rPr lang="ko-KR" altLang="en-US" sz="1200">
                <a:latin typeface="+mj-ea"/>
                <a:ea typeface="+mj-ea"/>
              </a:rPr>
              <a:t>를 복사하여 붙여 넣습니다</a:t>
            </a:r>
          </a:p>
          <a:p>
            <a:pPr lvl="0">
              <a:defRPr/>
            </a:pPr>
            <a:r>
              <a:rPr lang="ko-KR" altLang="en-US" sz="1200">
                <a:latin typeface="+mj-ea"/>
                <a:ea typeface="+mj-ea"/>
              </a:rPr>
              <a:t>    </a:t>
            </a:r>
            <a:r>
              <a:rPr lang="en-US" altLang="ko-KR" sz="1200">
                <a:latin typeface="+mj-ea"/>
                <a:ea typeface="+mj-ea"/>
              </a:rPr>
              <a:t>MemberServlet.java</a:t>
            </a:r>
            <a:r>
              <a:rPr lang="ko-KR" altLang="en-US" sz="1200">
                <a:latin typeface="+mj-ea"/>
                <a:ea typeface="+mj-ea"/>
              </a:rPr>
              <a:t> 와 </a:t>
            </a:r>
            <a:r>
              <a:rPr lang="en-US" altLang="ko-KR" sz="1200">
                <a:latin typeface="+mj-ea"/>
                <a:ea typeface="+mj-ea"/>
              </a:rPr>
              <a:t>MemberDAO.java</a:t>
            </a:r>
            <a:r>
              <a:rPr lang="ko-KR" altLang="en-US" sz="1200">
                <a:latin typeface="+mj-ea"/>
                <a:ea typeface="+mj-ea"/>
              </a:rPr>
              <a:t>는 수정보완합니다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r>
              <a:rPr lang="ko-KR" altLang="en-US" sz="1200">
                <a:latin typeface="+mj-ea"/>
                <a:ea typeface="+mj-ea"/>
              </a:rPr>
              <a:t> </a:t>
            </a: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840602" y="2129402"/>
            <a:ext cx="2347623" cy="34224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가로 글상자 12"/>
          <p:cNvSpPr txBox="1"/>
          <p:nvPr/>
        </p:nvSpPr>
        <p:spPr>
          <a:xfrm>
            <a:off x="3394991" y="4869244"/>
            <a:ext cx="688257" cy="169481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100"/>
              <a:t>webapp</a:t>
            </a:r>
          </a:p>
        </p:txBody>
      </p:sp>
      <p:sp>
        <p:nvSpPr>
          <p:cNvPr id="14" name="가로 글상자 12"/>
          <p:cNvSpPr txBox="1"/>
          <p:nvPr/>
        </p:nvSpPr>
        <p:spPr>
          <a:xfrm>
            <a:off x="3571875" y="2805943"/>
            <a:ext cx="1524000" cy="165857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1100"/>
              <a:t>src/main/java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540565"/>
            <a:ext cx="7754298" cy="4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회원 가입창을 작성하기 위해 다음과 같이 </a:t>
            </a:r>
            <a:r>
              <a:rPr lang="en-US" altLang="ko-KR" sz="1200">
                <a:latin typeface="+mj-ea"/>
                <a:ea typeface="+mj-ea"/>
              </a:rPr>
              <a:t>memberForm.html</a:t>
            </a:r>
            <a:r>
              <a:rPr lang="ko-KR" altLang="en-US" sz="1200">
                <a:latin typeface="+mj-ea"/>
                <a:ea typeface="+mj-ea"/>
              </a:rPr>
              <a:t>을 작성합니다</a:t>
            </a:r>
            <a:r>
              <a:rPr lang="en-US" altLang="ko-KR" sz="1200">
                <a:latin typeface="+mj-ea"/>
                <a:ea typeface="+mj-ea"/>
              </a:rPr>
              <a:t>. &lt;hidden&gt; </a:t>
            </a:r>
            <a:r>
              <a:rPr lang="ko-KR" altLang="en-US" sz="1200">
                <a:latin typeface="+mj-ea"/>
                <a:ea typeface="+mj-ea"/>
              </a:rPr>
              <a:t>태그를 이용해 회원</a:t>
            </a:r>
          </a:p>
          <a:p>
            <a:pPr lvl="0">
              <a:defRPr/>
            </a:pPr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가입창에서 새 회원 등록 요청을 서블릿에 전달합니다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395146" y="2002230"/>
            <a:ext cx="5778809" cy="3009084"/>
          </a:xfrm>
          <a:prstGeom prst="rect">
            <a:avLst/>
          </a:prstGeom>
          <a:solidFill>
            <a:srgbClr val="EBDEF1"/>
          </a:solidFill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4819" name="가로 글상자 12"/>
          <p:cNvSpPr txBox="1"/>
          <p:nvPr/>
        </p:nvSpPr>
        <p:spPr>
          <a:xfrm>
            <a:off x="2335711" y="2023775"/>
            <a:ext cx="2061862" cy="207080"/>
          </a:xfrm>
          <a:prstGeom prst="rect">
            <a:avLst/>
          </a:prstGeom>
          <a:solidFill>
            <a:srgbClr val="EBDEF1">
              <a:alpha val="100000"/>
            </a:srgbClr>
          </a:solidFill>
        </p:spPr>
        <p:txBody>
          <a:bodyPr wrap="square" lIns="0" tIns="0" rIns="0" bIns="0">
            <a:spAutoFit/>
          </a:bodyPr>
          <a:lstStyle/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400" b="0" i="0" u="none" strike="noStrike" kern="1200" cap="none" spc="0" normalizeH="0" baseline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webapp/MemberForm.html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524450" y="1449899"/>
            <a:ext cx="5897386" cy="51879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5" name="TextBox 4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9720" y="530225"/>
            <a:ext cx="7362031" cy="6125845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&lt;!DOCTYPE html&gt;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&lt;html&gt;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&lt;head&gt;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&lt;meta charset="UTF-8"&gt;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&lt;title&gt;회원 가입창&lt;/title&gt;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&lt;script type="text/javascript"&gt;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function fn_sendMember(){</a:t>
            </a: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var frmMember=document.frmMember;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var id=frmMember.id.value;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var pwd=frmMember.pwd.value;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var name=frmMember.name.value;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var email=frmMember.email.value;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if(id.length==0 ||id==""){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   alert("아이디는 필수입니다.");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}else if(pwd.length==0 ||pwd==""){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   alert("비밀번호는 필수입니다.");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else if(name.length==0 ||name==""){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   alert("이름은 필수입니다.");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}else if(email.length==0 ||email==""){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   alert("이메일은 필수입니다.");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}else{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   frmMember.method="post";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   frmMember.action="member3";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   frmMember.submit();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   }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}</a:t>
            </a: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&lt;/script&gt;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&lt;/head&gt;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</p:txBody>
      </p:sp>
      <p:pic>
        <p:nvPicPr>
          <p:cNvPr id="7" name="Picture 2" descr="D:\leebs\길벗자료\길벗\길벗 피드백\PDF원고\1차\1-19장\그림\7장\그림7-27.png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5239122" y="920393"/>
            <a:ext cx="3201662" cy="25120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그림 7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5239122" y="3827259"/>
            <a:ext cx="3392805" cy="238506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직선 화살표 연결선 3"/>
          <p:cNvCxnSpPr/>
          <p:nvPr/>
        </p:nvCxnSpPr>
        <p:spPr>
          <a:xfrm>
            <a:off x="7441324" y="1870841"/>
            <a:ext cx="304800" cy="2690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오른쪽 대괄호 8"/>
          <p:cNvSpPr/>
          <p:nvPr/>
        </p:nvSpPr>
        <p:spPr>
          <a:xfrm>
            <a:off x="7220607" y="1566041"/>
            <a:ext cx="147145" cy="694018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264165" y="2701759"/>
            <a:ext cx="206002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solidFill>
                  <a:srgbClr val="FF0000"/>
                </a:solidFill>
              </a:rPr>
              <a:t>화면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-&gt;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서블릿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-&gt;DAO-&gt;DB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5" name="TextBox 4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0033" y="569912"/>
            <a:ext cx="7362031" cy="5209858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&lt;body&gt;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&lt;form name="frmMember"&gt;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&lt;table&gt;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   &lt;th&gt;회원 가입창&lt;/th&gt;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  &lt;tr&gt;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&lt;td&gt;아이디&lt;/td&gt;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&lt;td&gt;&lt;input type="text" name="id"&gt;&lt;/td&gt;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  &lt;/tr&gt;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  &lt;tr&gt;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&lt;td&gt;비밀번호&lt;/td&gt;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&lt;td&gt;&lt;input type="password" name="pwd"&gt;&lt;/td&gt;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  &lt;/tr&gt;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  &lt;tr&gt;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&lt;td&gt;이름&lt;/td&gt;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&lt;td&gt;&lt;input type="text" name="name"&gt;&lt;/td&gt;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  &lt;/tr&gt;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    &lt;tr&gt;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&lt;td&gt;이메일&lt;/td&gt;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&lt;td&gt;&lt;input type="text" name="email"&gt;&lt;/td&gt;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  &lt;/tr&gt;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&lt;/table&gt;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&lt;input type="button" value="가입하기" onclick="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fn_sendMember()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"&gt;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&lt;input type="reset" value="다시입력"&gt;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&lt;input  type="hidden" name="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command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" value="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addMember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" /&gt;	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&lt;/form&gt;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&lt;/body&gt;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&lt;/html&gt;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</p:txBody>
      </p:sp>
      <p:pic>
        <p:nvPicPr>
          <p:cNvPr id="7" name="Picture 2" descr="D:\leebs\길벗자료\길벗\길벗 피드백\PDF원고\1차\1-19장\그림\7장\그림7-27.png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5521924" y="1491340"/>
            <a:ext cx="3201662" cy="25120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449899"/>
            <a:ext cx="7466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MemberServlet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548462" y="1726898"/>
            <a:ext cx="5670481" cy="5057313"/>
            <a:chOff x="865309" y="1800687"/>
            <a:chExt cx="5670481" cy="5057313"/>
          </a:xfrm>
        </p:grpSpPr>
        <p:pic>
          <p:nvPicPr>
            <p:cNvPr id="35843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875248" y="1800687"/>
              <a:ext cx="5660542" cy="658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44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865309" y="2494884"/>
              <a:ext cx="5541157" cy="43631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5845" name="TextBox 35844"/>
          <p:cNvSpPr txBox="1"/>
          <p:nvPr/>
        </p:nvSpPr>
        <p:spPr>
          <a:xfrm>
            <a:off x="7097117" y="4282281"/>
            <a:ext cx="1270000" cy="640239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>
                <a:solidFill>
                  <a:srgbClr val="0000FF"/>
                </a:solidFill>
                <a:latin typeface="한컴산뜻돋움"/>
                <a:ea typeface="한컴산뜻돋움"/>
              </a:rPr>
              <a:t>추후</a:t>
            </a:r>
            <a:r>
              <a:rPr lang="en-US" altLang="ko-KR" sz="1200">
                <a:solidFill>
                  <a:srgbClr val="0000FF"/>
                </a:solidFill>
                <a:latin typeface="한컴산뜻돋움"/>
                <a:ea typeface="한컴산뜻돋움"/>
              </a:rPr>
              <a:t>,</a:t>
            </a:r>
            <a:r>
              <a:rPr lang="ko-KR" altLang="en-US" sz="1200">
                <a:solidFill>
                  <a:srgbClr val="0000FF"/>
                </a:solidFill>
                <a:latin typeface="한컴산뜻돋움"/>
                <a:ea typeface="한컴산뜻돋움"/>
              </a:rPr>
              <a:t> 삭제기능은</a:t>
            </a:r>
          </a:p>
          <a:p>
            <a:pPr>
              <a:defRPr/>
            </a:pPr>
            <a:r>
              <a:rPr lang="en-US" altLang="ko-KR" sz="1200">
                <a:solidFill>
                  <a:srgbClr val="0000FF"/>
                </a:solidFill>
                <a:latin typeface="한컴산뜻돋움"/>
                <a:ea typeface="한컴산뜻돋움"/>
              </a:rPr>
              <a:t>command</a:t>
            </a:r>
            <a:r>
              <a:rPr lang="ko-KR" altLang="en-US" sz="1200">
                <a:solidFill>
                  <a:srgbClr val="0000FF"/>
                </a:solidFill>
                <a:latin typeface="한컴산뜻돋움"/>
                <a:ea typeface="한컴산뜻돋움"/>
              </a:rPr>
              <a:t>가</a:t>
            </a:r>
          </a:p>
          <a:p>
            <a:pPr>
              <a:defRPr/>
            </a:pPr>
            <a:r>
              <a:rPr lang="en-US" altLang="ko-KR" sz="1200">
                <a:solidFill>
                  <a:srgbClr val="0000FF"/>
                </a:solidFill>
                <a:latin typeface="한컴산뜻돋움"/>
                <a:ea typeface="한컴산뜻돋움"/>
              </a:rPr>
              <a:t>delMember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grpSp>
        <p:nvGrpSpPr>
          <p:cNvPr id="4" name="그룹 3"/>
          <p:cNvGrpSpPr/>
          <p:nvPr/>
        </p:nvGrpSpPr>
        <p:grpSpPr>
          <a:xfrm>
            <a:off x="1638806" y="1341782"/>
            <a:ext cx="5970518" cy="4063600"/>
            <a:chOff x="1211424" y="1341782"/>
            <a:chExt cx="5970518" cy="4063600"/>
          </a:xfrm>
        </p:grpSpPr>
        <p:pic>
          <p:nvPicPr>
            <p:cNvPr id="3686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1211424" y="1680336"/>
              <a:ext cx="5970518" cy="37250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TextBox 2"/>
            <p:cNvSpPr txBox="1"/>
            <p:nvPr/>
          </p:nvSpPr>
          <p:spPr>
            <a:xfrm>
              <a:off x="1539415" y="1341782"/>
              <a:ext cx="2058550" cy="2660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200"/>
                <a:t>...</a:t>
              </a:r>
              <a:endParaRPr lang="ko-KR" altLang="en-US" sz="120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5002924" y="4698124"/>
            <a:ext cx="9564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13434" y="4813739"/>
            <a:ext cx="2144110" cy="2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rgbClr val="FF0000"/>
                </a:solidFill>
              </a:rPr>
              <a:t>새 회원 등록하기</a:t>
            </a:r>
          </a:p>
        </p:txBody>
      </p:sp>
      <p:cxnSp>
        <p:nvCxnSpPr>
          <p:cNvPr id="36868" name="직선 연결선 36867"/>
          <p:cNvCxnSpPr/>
          <p:nvPr/>
        </p:nvCxnSpPr>
        <p:spPr>
          <a:xfrm flipV="1">
            <a:off x="2265164" y="4064397"/>
            <a:ext cx="1518046" cy="99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69" name="직선 연결선 36868"/>
          <p:cNvCxnSpPr/>
          <p:nvPr/>
        </p:nvCxnSpPr>
        <p:spPr>
          <a:xfrm flipV="1">
            <a:off x="2791024" y="3856434"/>
            <a:ext cx="3621484" cy="992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5" name="TextBox 4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9251" y="553004"/>
            <a:ext cx="7362031" cy="5816977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package sec02.ex02;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 dirty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import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java.io.IOException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import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java.io.PrintWriter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import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java.sql.Date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import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java.sql.Timestamp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: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 smtClean="0">
                <a:solidFill>
                  <a:srgbClr val="000000"/>
                </a:solidFill>
                <a:latin typeface="한컴산뜻돋움"/>
                <a:ea typeface="한컴산뜻돋움"/>
              </a:rPr>
              <a:t>@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WebServlet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("/member3</a:t>
            </a:r>
            <a:r>
              <a:rPr kumimoji="0" lang="en-US" altLang="ko-KR" sz="1200" b="1" i="0" u="none" strike="noStrike" kern="1200" cap="none" spc="0" normalizeH="0" baseline="0" dirty="0" smtClean="0">
                <a:solidFill>
                  <a:srgbClr val="000000"/>
                </a:solidFill>
                <a:latin typeface="한컴산뜻돋움"/>
                <a:ea typeface="한컴산뜻돋움"/>
              </a:rPr>
              <a:t>")</a:t>
            </a:r>
            <a:endParaRPr kumimoji="0" lang="en-US" altLang="ko-KR" sz="1200" b="1" i="0" u="none" strike="noStrike" kern="1200" cap="none" spc="0" normalizeH="0" baseline="0" dirty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public class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MemberServlet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extends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HttpServlet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protected void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doGet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HttpServletRequest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request,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HttpServletResponse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response) throws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ServletException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,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IOException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	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doHandle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(request, response);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 dirty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protected void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doPost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HttpServletRequest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request,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HttpServletResponse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response) throws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ServletException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,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IOException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	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doHandle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(request, response);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 dirty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private void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doHandle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HttpServletRequest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request,HttpServletResponse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response)  throws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ServletException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,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IOException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request.setCharacterEncoding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("utf-8");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response.setContentType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("text/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html;charset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=utf-8");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MemberDAO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dao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=new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MemberDAO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PrintWriter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out=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response.getWriter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 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String command=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FF0000"/>
                </a:solidFill>
                <a:latin typeface="한컴산뜻돋움"/>
                <a:ea typeface="한컴산뜻돋움"/>
              </a:rPr>
              <a:t>request.getParameter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("command");</a:t>
            </a:r>
            <a:endParaRPr kumimoji="0" lang="en-US" altLang="ko-KR" sz="1200" b="1" i="0" u="none" strike="noStrike" kern="1200" cap="none" spc="0" normalizeH="0" baseline="0" dirty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  if(command!= null &amp;&amp;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FF0000"/>
                </a:solidFill>
                <a:latin typeface="한컴산뜻돋움"/>
                <a:ea typeface="한컴산뜻돋움"/>
              </a:rPr>
              <a:t>command.equals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("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FF0000"/>
                </a:solidFill>
                <a:latin typeface="한컴산뜻돋움"/>
                <a:ea typeface="한컴산뜻돋움"/>
              </a:rPr>
              <a:t>addMember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")){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		 String _id=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FF0000"/>
                </a:solidFill>
                <a:latin typeface="한컴산뜻돋움"/>
                <a:ea typeface="한컴산뜻돋움"/>
              </a:rPr>
              <a:t>request.getParameter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("id");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		 String _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FF0000"/>
                </a:solidFill>
                <a:latin typeface="한컴산뜻돋움"/>
                <a:ea typeface="한컴산뜻돋움"/>
              </a:rPr>
              <a:t>pwd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=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FF0000"/>
                </a:solidFill>
                <a:latin typeface="한컴산뜻돋움"/>
                <a:ea typeface="한컴산뜻돋움"/>
              </a:rPr>
              <a:t>request.getParameter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("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FF0000"/>
                </a:solidFill>
                <a:latin typeface="한컴산뜻돋움"/>
                <a:ea typeface="한컴산뜻돋움"/>
              </a:rPr>
              <a:t>pwd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		 String _name=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FF0000"/>
                </a:solidFill>
                <a:latin typeface="한컴산뜻돋움"/>
                <a:ea typeface="한컴산뜻돋움"/>
              </a:rPr>
              <a:t>request.getParameter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("name");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		 String _email=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FF0000"/>
                </a:solidFill>
                <a:latin typeface="한컴산뜻돋움"/>
                <a:ea typeface="한컴산뜻돋움"/>
              </a:rPr>
              <a:t>request.getParameter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FF0000"/>
                </a:solidFill>
                <a:latin typeface="한컴산뜻돋움"/>
                <a:ea typeface="한컴산뜻돋움"/>
              </a:rPr>
              <a:t>("email");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5" name="TextBox 4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9407" y="492283"/>
            <a:ext cx="7094139" cy="5392262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MemberVO vo=new MemberVO();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vo.setId(_id);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vo.setPwd(_pwd);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vo.setName(_name);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 vo.setEmail(_email);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 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dao.addMember(vo);</a:t>
            </a:r>
            <a:endParaRPr kumimoji="0" lang="en-US" altLang="ko-KR" sz="1200" b="1" i="0" u="none" strike="noStrike" kern="1200" cap="none" spc="0" normalizeH="0" baseline="0">
              <a:solidFill>
                <a:srgbClr val="80008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    List list=dao.listMembers();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    out.print("&lt;html&gt;&lt;body&gt;");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    out.print("&lt;table border=1&gt;&lt;tr align='center' bgcolor='lightgreen'&gt;");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    out.print("&lt;td&gt;아이디&lt;/td&gt;&lt;td&gt;비밀번호&lt;/td&gt;&lt;td&gt;이름&lt;/td&gt;&lt;td&gt;이메일&lt;/td&gt;&lt;td&gt;가입일&lt;/td&gt;&lt;/tr&gt;");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  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    for (int i=0; i&lt;list.size();i++){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	MemberVO memberVO=(MemberVO) list.get(i);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	String id=memberVO.getId();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	String pwd = memberVO.getPwd();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	String name = memberVO.getName();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	String email =memberVO.getEmail();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	Date joinDate = memberVO.getJoinDate();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	out.print("&lt;tr&gt;&lt;td&gt;"+id+"&lt;/td&gt;&lt;td&gt;"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		                +pwd+"&lt;/td&gt;&lt;td&gt;"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		                +name+"&lt;/td&gt;&lt;td&gt;"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		                +email+"&lt;/td&gt;&lt;td&gt;"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		                +joinDate+"&lt;/td&gt;&lt;/tr&gt;");			                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 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	 out.print("&lt;/table&gt;&lt;/body&gt;&lt;/html&gt;");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   </a:t>
            </a:r>
            <a:r>
              <a:rPr kumimoji="0" lang="ko-KR" altLang="en-US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        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out.print("&lt;a href='/pro07/memberForm.html'&gt;새 회원 등록하기&lt;/a");</a:t>
            </a:r>
            <a:endParaRPr kumimoji="0" lang="en-US" altLang="ko-KR" sz="1200" b="1" i="0" u="none" strike="noStrike" kern="1200" cap="none" spc="0" normalizeH="0" baseline="0">
              <a:solidFill>
                <a:srgbClr val="0000FF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974034" y="2077770"/>
            <a:ext cx="6927574" cy="173032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en-US" altLang="ko-KR" sz="1200"/>
              <a:t>PreparedStatement</a:t>
            </a:r>
            <a:r>
              <a:rPr lang="ko-KR" altLang="en-US" sz="1200"/>
              <a:t>의 </a:t>
            </a:r>
            <a:r>
              <a:rPr lang="en-US" altLang="ko-KR" sz="1200"/>
              <a:t>insert</a:t>
            </a:r>
            <a:r>
              <a:rPr lang="ko-KR" altLang="en-US" sz="1200"/>
              <a:t>문은 회원 정보를 저장하기 위해 </a:t>
            </a:r>
            <a:r>
              <a:rPr lang="en-US" altLang="ko-KR" sz="1200"/>
              <a:t>?(</a:t>
            </a:r>
            <a:r>
              <a:rPr lang="ko-KR" altLang="en-US" sz="1200"/>
              <a:t>물음표</a:t>
            </a:r>
            <a:r>
              <a:rPr lang="en-US" altLang="ko-KR" sz="1200"/>
              <a:t>)</a:t>
            </a:r>
            <a:r>
              <a:rPr lang="ko-KR" altLang="en-US" sz="1200"/>
              <a:t>를 사용합니다</a:t>
            </a:r>
            <a:r>
              <a:rPr lang="en-US" altLang="ko-KR" sz="1200"/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en-US" altLang="ko-KR" sz="1200"/>
              <a:t>?</a:t>
            </a:r>
            <a:r>
              <a:rPr lang="ko-KR" altLang="en-US" sz="1200"/>
              <a:t>는 </a:t>
            </a:r>
            <a:r>
              <a:rPr lang="en-US" altLang="ko-KR" sz="1200"/>
              <a:t>id, pwd, name, age</a:t>
            </a:r>
            <a:r>
              <a:rPr lang="ko-KR" altLang="en-US" sz="1200"/>
              <a:t>에 순서대로 대응합니다</a:t>
            </a:r>
            <a:r>
              <a:rPr lang="en-US" altLang="ko-KR" sz="1200"/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200"/>
              <a:t>각 </a:t>
            </a:r>
            <a:r>
              <a:rPr lang="en-US" altLang="ko-KR" sz="1200"/>
              <a:t>?</a:t>
            </a:r>
            <a:r>
              <a:rPr lang="ko-KR" altLang="en-US" sz="1200"/>
              <a:t>에 대응하는 값을 지정하기 위해 </a:t>
            </a:r>
            <a:r>
              <a:rPr lang="en-US" altLang="ko-KR" sz="1200"/>
              <a:t>PreparedStatement</a:t>
            </a:r>
            <a:r>
              <a:rPr lang="ko-KR" altLang="en-US" sz="1200"/>
              <a:t>의 </a:t>
            </a:r>
            <a:r>
              <a:rPr lang="en-US" altLang="ko-KR" sz="1200"/>
              <a:t>setter</a:t>
            </a:r>
            <a:r>
              <a:rPr lang="ko-KR" altLang="en-US" sz="1200"/>
              <a:t>를 이용합니다</a:t>
            </a:r>
            <a:r>
              <a:rPr lang="en-US" altLang="ko-KR" sz="1200"/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200"/>
              <a:t> </a:t>
            </a:r>
            <a:r>
              <a:rPr lang="en-US" altLang="ko-KR" sz="1200"/>
              <a:t>setter( ) </a:t>
            </a:r>
            <a:r>
              <a:rPr lang="ko-KR" altLang="en-US" sz="1200"/>
              <a:t>메서드의 첫 번째 인자는 ‘</a:t>
            </a:r>
            <a:r>
              <a:rPr lang="en-US" altLang="ko-KR" sz="1200"/>
              <a:t>?</a:t>
            </a:r>
            <a:r>
              <a:rPr lang="ko-KR" altLang="en-US" sz="1200"/>
              <a:t>’의 순서를 지정합니다</a:t>
            </a:r>
            <a:r>
              <a:rPr lang="en-US" altLang="ko-KR" sz="1200"/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en-US" altLang="ko-KR" sz="1200"/>
              <a:t>?</a:t>
            </a:r>
            <a:r>
              <a:rPr lang="ko-KR" altLang="en-US" sz="1200"/>
              <a:t>은 </a:t>
            </a:r>
            <a:r>
              <a:rPr lang="en-US" altLang="ko-KR" sz="1200"/>
              <a:t>1</a:t>
            </a:r>
            <a:r>
              <a:rPr lang="ko-KR" altLang="en-US" sz="1200"/>
              <a:t>부터 시작합니다</a:t>
            </a:r>
            <a:r>
              <a:rPr lang="en-US" altLang="ko-KR" sz="1200"/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en-US" altLang="ko-KR" sz="1200"/>
              <a:t>insert, delete, update</a:t>
            </a:r>
            <a:r>
              <a:rPr lang="ko-KR" altLang="en-US" sz="1200"/>
              <a:t>문은 </a:t>
            </a:r>
            <a:r>
              <a:rPr lang="en-US" altLang="ko-KR" sz="1200" b="1">
                <a:solidFill>
                  <a:srgbClr val="800080"/>
                </a:solidFill>
              </a:rPr>
              <a:t>executeUpdate()</a:t>
            </a:r>
            <a:r>
              <a:rPr lang="en-US" altLang="ko-KR" sz="1200"/>
              <a:t> </a:t>
            </a:r>
            <a:r>
              <a:rPr lang="ko-KR" altLang="en-US" sz="1200"/>
              <a:t>메서드를 호출합니다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5" name="TextBox 4"/>
          <p:cNvSpPr txBox="1"/>
          <p:nvPr/>
        </p:nvSpPr>
        <p:spPr>
          <a:xfrm>
            <a:off x="824948" y="1769993"/>
            <a:ext cx="6669156" cy="295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/>
              <a:t>PreparedStatemet</a:t>
            </a:r>
            <a:r>
              <a:rPr lang="ko-KR" altLang="en-US" sz="1400" b="1"/>
              <a:t>에서 </a:t>
            </a:r>
            <a:r>
              <a:rPr lang="en-US" altLang="ko-KR" sz="1400" b="1"/>
              <a:t>insert</a:t>
            </a:r>
            <a:r>
              <a:rPr lang="ko-KR" altLang="en-US" sz="1400" b="1"/>
              <a:t>문 사용하는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311399"/>
            <a:ext cx="65282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MemberDAO </a:t>
            </a:r>
            <a:r>
              <a:rPr lang="ko-KR" altLang="en-US" sz="1200">
                <a:latin typeface="+mj-ea"/>
                <a:ea typeface="+mj-ea"/>
              </a:rPr>
              <a:t>클래스를 다음과 같이 수정합니다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921120" y="1588398"/>
            <a:ext cx="4984799" cy="51257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354317" y="2795752"/>
            <a:ext cx="6516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5" name="TextBox 4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2373" y="690719"/>
            <a:ext cx="4802189" cy="4107975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package sec02.ex02;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import java.sql.Connection;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: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public class MemberDAO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private Connection con;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private PreparedStatement pstmt;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private DataSource dataFactory;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public MemberDAO()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FF"/>
                </a:solidFill>
                <a:latin typeface="한컴산뜻돋움"/>
                <a:ea typeface="한컴산뜻돋움"/>
              </a:rPr>
              <a:t>		</a:t>
            </a: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try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			: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	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chemeClr val="dk1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	public List&lt;MemberVO&gt; listMembers()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		List&lt;MemberVO&gt; list = new ArrayList&lt;MemberVO&gt;();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		try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			: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	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		return list;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chemeClr val="dk1"/>
                </a:solidFill>
                <a:latin typeface="한컴산뜻돋움"/>
                <a:ea typeface="한컴산뜻돋움"/>
              </a:rPr>
              <a:t>	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8781" y="1874598"/>
            <a:ext cx="5407423" cy="4476672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public void addMember(MemberVO memberVO)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try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		con = dataFactory.getConnection();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		String id = memberVO.getId();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		String pwd = memberVO.getPwd();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		String name = memberVO.getName();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		String email = memberVO.getEmail();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String query = "insert into t_member";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query += " (id,pwd,name,email)";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query += " values(?,?,?,?)";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System.out.println("prepareStatememt: " + query);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pstmt = con.prepareStatement(query);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pstmt.setString(1, id);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pstmt.setString(2, pwd);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pstmt.setString(3, name);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pstmt.setString(4, email);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pstmt.executeUpdate();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pstmt.close();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	} catch (Exception e)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		e.printStackTrace();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		}</a:t>
            </a: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}</a:t>
            </a: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449899"/>
            <a:ext cx="7336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en-US" altLang="ko-KR" sz="1200">
                <a:latin typeface="+mj-ea"/>
                <a:ea typeface="+mj-ea"/>
              </a:rPr>
              <a:t>http://localhost:8090/pro07/memberForm.html</a:t>
            </a:r>
            <a:r>
              <a:rPr lang="ko-KR" altLang="en-US" sz="1200">
                <a:latin typeface="+mj-ea"/>
                <a:ea typeface="+mj-ea"/>
              </a:rPr>
              <a:t>로 요청하여 회원 정보를 입력한 후 가입하기를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5118" y="4239715"/>
            <a:ext cx="7088377" cy="263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ko-KR" altLang="en-US" sz="1200">
                <a:latin typeface="+mj-ea"/>
                <a:ea typeface="+mj-ea"/>
              </a:rPr>
              <a:t>다음과 같이 회원 정보가 출력됩니다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9" name="그림 8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370316" y="4612488"/>
            <a:ext cx="3204211" cy="19373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370316" y="6112565"/>
            <a:ext cx="3204211" cy="24847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05119" y="711235"/>
            <a:ext cx="755551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7.4 DataSource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회원 정보 등록하기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1026" name="Picture 2" descr="D:\leebs\길벗자료\길벗\길벗 피드백\PDF원고\1차\1-19장\그림\7장\그림7-27.png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2295248" y="1680731"/>
            <a:ext cx="3201662" cy="25120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7.5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회원 정보 삭제하기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5118" y="1451113"/>
            <a:ext cx="7704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MemberServlet </a:t>
            </a:r>
            <a:r>
              <a:rPr lang="ko-KR" altLang="en-US" sz="1200">
                <a:latin typeface="+mj-ea"/>
                <a:ea typeface="+mj-ea"/>
              </a:rPr>
              <a:t>클래스를 다음과 같이 수정합니다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10575" y="1729408"/>
            <a:ext cx="6231838" cy="4154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6456882" y="2596055"/>
            <a:ext cx="2536384" cy="14235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8665275" y="3089184"/>
            <a:ext cx="327991" cy="8311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/>
          <p:nvPr/>
        </p:nvPicPr>
        <p:blipFill rotWithShape="1">
          <a:blip r:embed="rId4">
            <a:alphaModFix/>
            <a:lum/>
          </a:blip>
          <a:stretch>
            <a:fillRect/>
          </a:stretch>
        </p:blipFill>
        <p:spPr>
          <a:xfrm>
            <a:off x="6497160" y="5005244"/>
            <a:ext cx="2455828" cy="120725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직선 화살표 연결선 3"/>
          <p:cNvCxnSpPr/>
          <p:nvPr/>
        </p:nvCxnSpPr>
        <p:spPr>
          <a:xfrm flipH="1">
            <a:off x="8665275" y="3806687"/>
            <a:ext cx="163995" cy="1332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7.5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회원 정보 삭제하기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324274" y="1543725"/>
            <a:ext cx="6164038" cy="4201091"/>
            <a:chOff x="892745" y="1543726"/>
            <a:chExt cx="5826107" cy="3964394"/>
          </a:xfrm>
        </p:grpSpPr>
        <p:sp>
          <p:nvSpPr>
            <p:cNvPr id="3" name="TextBox 2"/>
            <p:cNvSpPr txBox="1"/>
            <p:nvPr/>
          </p:nvSpPr>
          <p:spPr>
            <a:xfrm>
              <a:off x="1202632" y="1543726"/>
              <a:ext cx="2325756" cy="2402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altLang="ko-KR" sz="1100"/>
                <a:t>...</a:t>
              </a:r>
              <a:endParaRPr lang="ko-KR" altLang="en-US" sz="1100"/>
            </a:p>
          </p:txBody>
        </p:sp>
        <p:pic>
          <p:nvPicPr>
            <p:cNvPr id="4096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892745" y="1892813"/>
              <a:ext cx="5826107" cy="361530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963" name="직선 연결선 40962"/>
          <p:cNvCxnSpPr/>
          <p:nvPr/>
        </p:nvCxnSpPr>
        <p:spPr>
          <a:xfrm flipV="1">
            <a:off x="1803600" y="3308066"/>
            <a:ext cx="2008800" cy="108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4" name="직사각형 40963"/>
          <p:cNvSpPr txBox="1"/>
          <p:nvPr/>
        </p:nvSpPr>
        <p:spPr>
          <a:xfrm>
            <a:off x="4061460" y="3183255"/>
            <a:ext cx="3326130" cy="262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>
                <a:latin typeface="함초롬돋움"/>
                <a:ea typeface="함초롬돋움"/>
              </a:rPr>
              <a:t>String email = memberVO.getEmail();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7" name="TextBox 6"/>
          <p:cNvSpPr txBox="1"/>
          <p:nvPr/>
        </p:nvSpPr>
        <p:spPr>
          <a:xfrm>
            <a:off x="621704" y="1448750"/>
            <a:ext cx="7361438" cy="5078313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chemeClr val="accent1">
                <a:alpha val="100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package sec02.ex02;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: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 dirty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smtClean="0">
                <a:solidFill>
                  <a:srgbClr val="000000"/>
                </a:solidFill>
                <a:latin typeface="한컴산뜻돋움"/>
                <a:ea typeface="한컴산뜻돋움"/>
              </a:rPr>
              <a:t>@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WebServlet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("/member3</a:t>
            </a:r>
            <a:r>
              <a:rPr kumimoji="0" lang="en-US" altLang="ko-KR" sz="1200" b="1" i="0" u="none" strike="noStrike" kern="1200" cap="none" spc="0" normalizeH="0" baseline="0" dirty="0" smtClean="0">
                <a:solidFill>
                  <a:srgbClr val="000000"/>
                </a:solidFill>
                <a:latin typeface="한컴산뜻돋움"/>
                <a:ea typeface="한컴산뜻돋움"/>
              </a:rPr>
              <a:t>")</a:t>
            </a:r>
            <a:endParaRPr kumimoji="0" lang="en-US" altLang="ko-KR" sz="1200" b="1" i="0" u="none" strike="noStrike" kern="1200" cap="none" spc="0" normalizeH="0" baseline="0" dirty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public class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MemberServlet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extends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HttpServlet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: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 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private void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doHandle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HttpServletRequest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request,HttpServletResponse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response)  throws </a:t>
            </a:r>
            <a:r>
              <a:rPr kumimoji="0" lang="ko-KR" altLang="en-US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    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ServletException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,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IOException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</a:t>
            </a:r>
            <a:r>
              <a:rPr kumimoji="0" lang="ko-KR" altLang="en-US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request.setCharacterEncoding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("utf-8");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</a:t>
            </a:r>
            <a:r>
              <a:rPr kumimoji="0" lang="ko-KR" altLang="en-US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response.setContentType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("text/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html;charset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=utf-8");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 </a:t>
            </a:r>
            <a:r>
              <a:rPr kumimoji="0" lang="ko-KR" altLang="en-US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MemberDAO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dao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=new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MemberDAO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 </a:t>
            </a:r>
            <a:r>
              <a:rPr kumimoji="0" lang="ko-KR" altLang="en-US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PrintWriter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out=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response.getWriter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 </a:t>
            </a:r>
            <a:r>
              <a:rPr kumimoji="0" lang="ko-KR" altLang="en-US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String command=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request.getParameter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("command");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 dirty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   if(command!= null &amp;&amp;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command.equals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("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addMember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")){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	 String _id=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request.getParameter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("id");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	 String _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pwd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=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request.getParameter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("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pwd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	 String _name=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request.getParameter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("name");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	 String _email=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request.getParameter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("email");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	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	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MemberVO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vo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=new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MemberVO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	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vo.setId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(_id);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	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vo.setPwd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(_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pwd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	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vo.setName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(_name);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	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vo.setEmail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(_email);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	    </a:t>
            </a:r>
            <a:r>
              <a:rPr kumimoji="0" lang="ko-KR" altLang="en-US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       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 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dao.addMember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(</a:t>
            </a:r>
            <a:r>
              <a:rPr kumimoji="0" lang="en-US" altLang="ko-KR" sz="1200" b="1" i="0" u="none" strike="noStrike" kern="1200" cap="none" spc="0" normalizeH="0" baseline="0" dirty="0" err="1">
                <a:solidFill>
                  <a:srgbClr val="000000"/>
                </a:solidFill>
                <a:latin typeface="한컴산뜻돋움"/>
                <a:ea typeface="한컴산뜻돋움"/>
              </a:rPr>
              <a:t>vo</a:t>
            </a:r>
            <a:r>
              <a:rPr kumimoji="0" lang="en-US" altLang="ko-KR" sz="1200" b="1" i="0" u="none" strike="noStrike" kern="1200" cap="none" spc="0" normalizeH="0" baseline="0" dirty="0">
                <a:solidFill>
                  <a:srgbClr val="000000"/>
                </a:solidFill>
                <a:latin typeface="한컴산뜻돋움"/>
                <a:ea typeface="한컴산뜻돋움"/>
              </a:rPr>
              <a:t>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 dirty="0">
              <a:solidFill>
                <a:srgbClr val="000000"/>
              </a:solidFill>
              <a:latin typeface="한컴산뜻돋움"/>
              <a:ea typeface="한컴산뜻돋움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800" b="0" i="0" u="none" strike="noStrike" kern="1200" cap="none" spc="0" normalizeH="0" baseline="0">
                <a:solidFill>
                  <a:srgbClr val="A6A6A6"/>
                </a:solidFill>
                <a:latin typeface="Calibri"/>
                <a:ea typeface="맑은 고딕"/>
                <a:cs typeface="Calibri"/>
              </a:rPr>
              <a:t>7.5 </a:t>
            </a:r>
            <a:r>
              <a:rPr kumimoji="0" lang="ko-KR" altLang="en-US" sz="2800" b="0" i="0" u="none" strike="noStrike" kern="1200" cap="none" spc="0" normalizeH="0" baseline="0">
                <a:solidFill>
                  <a:srgbClr val="A6A6A6"/>
                </a:solidFill>
                <a:latin typeface="Calibri"/>
                <a:ea typeface="맑은 고딕"/>
                <a:cs typeface="맑은 고딕"/>
              </a:rPr>
              <a:t>회원 정보 삭제하기</a:t>
            </a:r>
            <a:endParaRPr kumimoji="0" lang="ko-KR" altLang="en-US" sz="2800" b="0" i="0" u="none" strike="noStrike" kern="1200" cap="none" spc="-88" normalizeH="0" baseline="0">
              <a:solidFill>
                <a:srgbClr val="281F3D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7" name="TextBox 6"/>
          <p:cNvSpPr txBox="1"/>
          <p:nvPr/>
        </p:nvSpPr>
        <p:spPr>
          <a:xfrm>
            <a:off x="443110" y="1325562"/>
            <a:ext cx="7986516" cy="5206683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chemeClr val="accent2">
                <a:alpha val="100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}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else if(command!= null &amp;&amp; command.equals("delMember"))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    	  String id = request.getParameter("id");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    	  dao.delMember(id);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      }</a:t>
            </a: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  List list=dao.listMembers();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out.print("&lt;html&gt;&lt;body&gt;");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out.print("&lt;table border=1&gt;&lt;tr align='center' bgcolor='lightgreen'&gt;");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out.print("&lt;td&gt;아이디&lt;/td&gt;&lt;td&gt;비밀번호&lt;/td&gt;&lt;td&gt;이름&lt;/td&gt;&lt;td&gt;이메일&lt;/td&gt;&lt;td&gt;가입일&lt;/td&gt;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&lt;td &gt;삭제&lt;/td&gt;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&lt;/tr&gt;");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for (int i=0; i&lt;list.size();i++){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	MemberVO memberVO=(MemberVO) list.get(i);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	String id=memberVO.getId();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	String pwd = memberVO.getPwd();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	String name = memberVO.getName();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	String email =memberVO.getEmail();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	Date joinDate = memberVO.getJoinDate();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	out.print("&lt;tr&gt;&lt;td&gt;"+id+"&lt;/td&gt;&lt;td&gt;"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		                +pwd+"&lt;/td&gt;&lt;td&gt;"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		                +name+"&lt;/td&gt;&lt;td&gt;"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		                +email+"&lt;/td&gt;&lt;td&gt;"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		                +joinDate+"&lt;/td&gt;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&lt;td&gt;"</a:t>
            </a: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                    +"&lt;a href='/pro07/member3?command=delMember&amp;id="+id+"'&gt;삭제 &lt;/a&gt;&lt;/td&gt;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&lt;/tr&gt;");</a:t>
            </a:r>
            <a:endParaRPr kumimoji="0" lang="en-US" altLang="ko-KR" sz="1200" b="1" i="0" u="none" strike="noStrike" kern="1200" cap="none" spc="0" normalizeH="0" baseline="0">
              <a:solidFill>
                <a:srgbClr val="FF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 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	 out.print("&lt;/table&gt;&lt;/body&gt;&lt;/html&gt;");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  out.print("&lt;a href='/pro07/memberForm.html'&gt;새 회원 등록하기&lt;/a");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   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}</a:t>
            </a:r>
          </a:p>
        </p:txBody>
      </p:sp>
      <p:sp>
        <p:nvSpPr>
          <p:cNvPr id="9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800" b="0" i="0" u="none" strike="noStrike" kern="1200" cap="none" spc="0" normalizeH="0" baseline="0">
                <a:solidFill>
                  <a:srgbClr val="A6A6A6"/>
                </a:solidFill>
                <a:latin typeface="Calibri"/>
                <a:ea typeface="맑은 고딕"/>
                <a:cs typeface="Calibri"/>
              </a:rPr>
              <a:t>7.5 </a:t>
            </a:r>
            <a:r>
              <a:rPr kumimoji="0" lang="ko-KR" altLang="en-US" sz="2800" b="0" i="0" u="none" strike="noStrike" kern="1200" cap="none" spc="0" normalizeH="0" baseline="0">
                <a:solidFill>
                  <a:srgbClr val="A6A6A6"/>
                </a:solidFill>
                <a:latin typeface="Calibri"/>
                <a:ea typeface="맑은 고딕"/>
                <a:cs typeface="맑은 고딕"/>
              </a:rPr>
              <a:t>회원 정보 삭제하기</a:t>
            </a:r>
            <a:endParaRPr kumimoji="0" lang="ko-KR" altLang="en-US" sz="2800" b="0" i="0" u="none" strike="noStrike" kern="1200" cap="none" spc="-88" normalizeH="0" baseline="0">
              <a:solidFill>
                <a:srgbClr val="281F3D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5" name="그림 4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5563503" y="3321269"/>
            <a:ext cx="2536384" cy="14235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7771896" y="3814398"/>
            <a:ext cx="327991" cy="8311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/>
          <p:cNvCxnSpPr/>
          <p:nvPr/>
        </p:nvCxnSpPr>
        <p:spPr>
          <a:xfrm flipV="1">
            <a:off x="6905919" y="4645573"/>
            <a:ext cx="819155" cy="483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7.5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회원 정보 삭제하기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490870"/>
            <a:ext cx="75356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MemberDAO </a:t>
            </a:r>
            <a:r>
              <a:rPr lang="ko-KR" altLang="en-US" sz="1200">
                <a:latin typeface="+mj-ea"/>
                <a:ea typeface="+mj-ea"/>
              </a:rPr>
              <a:t>클래스를 다음과 같이 수정합니다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96890" y="1767868"/>
            <a:ext cx="6636800" cy="38378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직선 연결선 4"/>
          <p:cNvCxnSpPr/>
          <p:nvPr/>
        </p:nvCxnSpPr>
        <p:spPr>
          <a:xfrm>
            <a:off x="1476103" y="3108960"/>
            <a:ext cx="78377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1476102" y="3331029"/>
            <a:ext cx="304857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8" name="TextBox 7"/>
          <p:cNvSpPr txBox="1"/>
          <p:nvPr/>
        </p:nvSpPr>
        <p:spPr>
          <a:xfrm>
            <a:off x="0" y="102233"/>
            <a:ext cx="5695157" cy="5753737"/>
          </a:xfrm>
          <a:prstGeom prst="rect">
            <a:avLst/>
          </a:prstGeom>
          <a:solidFill>
            <a:schemeClr val="lt1">
              <a:alpha val="100000"/>
            </a:scheme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public List&lt;MemberVO&gt; listMembers()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List&lt;MemberVO&gt; list = new ArrayList&lt;MemberVO&gt;();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try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// connDB();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con = dataFactory.getConnection();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String query = "select * from t_member ";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System.out.println("prepareStatememt: " + query);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pstmt = con.prepareStatement(query);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ResultSet rs = pstmt.executeQuery();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while (rs.next())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String id = rs.getString("id");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String pwd = rs.getString("pwd");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String name = rs.getString("name");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String email = rs.getString("email");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Date joinDate = rs.getDate("joinDate");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MemberVO vo = new MemberVO();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vo.setId(id);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vo.setPwd(pwd);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vo.setName(name);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vo.setEmail(email);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vo.setJoinDate(joinDate);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	list.add(vo);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rs.close();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pstmt.close();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con.close();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} catch (Exception e)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e.printStackTrace();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return list;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7156" y="1854833"/>
            <a:ext cx="5695157" cy="4477387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4472C4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public void addMember(MemberVO memberVO)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try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con = dataFactory.getConnection();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String id = memberVO.getId();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String pwd = memberVO.getPwd();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String name = memberVO.getName();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String email = memberVO.getEmail();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String query = "insert into t_member";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query += " (id,pwd,name,email)";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query += " values(?,?,?,?)";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System.out.println("prepareStatememt: " + query);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pstmt = con.prepareStatement(query);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pstmt.setString(1, id);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pstmt.setString(2, pwd);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pstmt.setString(3, name);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pstmt.setString(4, email);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pstmt.executeUpdate();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pstmt.close();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} catch (Exception e)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e.printStackTrace();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23579" y="3637359"/>
            <a:ext cx="5695157" cy="2827973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chemeClr val="accent2">
                <a:alpha val="100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200" b="1" i="0" u="none" strike="noStrike" kern="1200" cap="none" spc="0" normalizeH="0" baseline="0">
              <a:solidFill>
                <a:srgbClr val="000000"/>
              </a:solidFill>
              <a:latin typeface="한컴산뜻돋움"/>
              <a:ea typeface="한컴산뜻돋움"/>
            </a:endParaRP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800080"/>
                </a:solidFill>
                <a:latin typeface="한컴산뜻돋움"/>
                <a:ea typeface="한컴산뜻돋움"/>
              </a:rPr>
              <a:t>public void delMember(String id)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try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con = dataFactory.getConnection();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String query = "delete from t_member" + " where id=?";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System.out.println("prepareStatememt:" + query);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pstmt = con.prepareStatement(query);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pstmt.setString(1, id);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pstmt.executeUpdate();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FF0000"/>
                </a:solidFill>
                <a:latin typeface="한컴산뜻돋움"/>
                <a:ea typeface="한컴산뜻돋움"/>
              </a:rPr>
              <a:t>			</a:t>
            </a: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pstmt.close();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} catch (Exception e) {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	e.printStackTrace();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	}</a:t>
            </a:r>
          </a:p>
          <a:p>
            <a: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>
                <a:solidFill>
                  <a:srgbClr val="000000"/>
                </a:solidFill>
                <a:latin typeface="한컴산뜻돋움"/>
                <a:ea typeface="한컴산뜻돋움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7.5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회원 정보 삭제하기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451113"/>
            <a:ext cx="75356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http://localhost:8090/member3</a:t>
            </a:r>
            <a:r>
              <a:rPr lang="ko-KR" altLang="en-US" sz="1200">
                <a:latin typeface="+mj-ea"/>
                <a:ea typeface="+mj-ea"/>
              </a:rPr>
              <a:t>로 요청한 후 삭제를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5252" y="4214191"/>
            <a:ext cx="62517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회원 정보를 삭제한 후 남은 회원 정보가 다시 출력됩니다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986256" y="1803551"/>
            <a:ext cx="4023360" cy="22371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5555974" y="3588026"/>
            <a:ext cx="327991" cy="21866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986256" y="4614559"/>
            <a:ext cx="3927475" cy="19424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이클립스 디버깅 기능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6470" y="1386676"/>
            <a:ext cx="5655365" cy="297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400" b="1">
                <a:latin typeface="+mj-ea"/>
                <a:ea typeface="+mj-ea"/>
              </a:rPr>
              <a:t>이클립스 디버깅 기능 사용하기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5557" y="1694453"/>
            <a:ext cx="7543800" cy="446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sec02.ex02.MemberServlet </a:t>
            </a:r>
            <a:r>
              <a:rPr lang="ko-KR" altLang="en-US" sz="1200">
                <a:latin typeface="+mj-ea"/>
                <a:ea typeface="+mj-ea"/>
              </a:rPr>
              <a:t>클래스의 </a:t>
            </a:r>
            <a:r>
              <a:rPr lang="en-US" altLang="ko-KR" sz="1200">
                <a:latin typeface="+mj-ea"/>
                <a:ea typeface="+mj-ea"/>
              </a:rPr>
              <a:t>doHandle( ) </a:t>
            </a:r>
            <a:r>
              <a:rPr lang="ko-KR" altLang="en-US" sz="1200">
                <a:latin typeface="+mj-ea"/>
                <a:ea typeface="+mj-ea"/>
              </a:rPr>
              <a:t>메서드 </a:t>
            </a:r>
            <a:r>
              <a:rPr lang="en-US" altLang="ko-KR" sz="1200">
                <a:latin typeface="+mj-ea"/>
                <a:ea typeface="+mj-ea"/>
              </a:rPr>
              <a:t>28</a:t>
            </a:r>
            <a:r>
              <a:rPr lang="ko-KR" altLang="en-US" sz="1200">
                <a:latin typeface="+mj-ea"/>
                <a:ea typeface="+mj-ea"/>
              </a:rPr>
              <a:t>번 줄 번호 옆을 마우스로 더블클릭해 중단점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(breakpoint)</a:t>
            </a:r>
            <a:r>
              <a:rPr lang="ko-KR" altLang="en-US" sz="1200">
                <a:latin typeface="+mj-ea"/>
                <a:ea typeface="+mj-ea"/>
              </a:rPr>
              <a:t>을 만듭니다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5435" y="4990091"/>
            <a:ext cx="7404653" cy="26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톰캣 실행 시 버그 아이콘을 클릭해 디버그 모드로 실행합니다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9" name="그림 8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987826" y="2156118"/>
            <a:ext cx="4695107" cy="25567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1898374" y="2256183"/>
            <a:ext cx="248478" cy="14908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grpSp>
        <p:nvGrpSpPr>
          <p:cNvPr id="13" name="그룹 12"/>
          <p:cNvGrpSpPr/>
          <p:nvPr/>
        </p:nvGrpSpPr>
        <p:grpSpPr>
          <a:xfrm>
            <a:off x="2725806" y="5523258"/>
            <a:ext cx="2400300" cy="781050"/>
            <a:chOff x="2725806" y="5523258"/>
            <a:chExt cx="2400300" cy="781050"/>
          </a:xfrm>
        </p:grpSpPr>
        <p:pic>
          <p:nvPicPr>
            <p:cNvPr id="11" name="그림 10"/>
            <p:cNvPicPr/>
            <p:nvPr/>
          </p:nvPicPr>
          <p:blipFill rotWithShape="1">
            <a:blip r:embed="rId3">
              <a:alphaModFix/>
              <a:lum/>
            </a:blip>
            <a:stretch>
              <a:fillRect/>
            </a:stretch>
          </p:blipFill>
          <p:spPr>
            <a:xfrm>
              <a:off x="2725806" y="5523258"/>
              <a:ext cx="2400300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/>
            <p:cNvSpPr/>
            <p:nvPr/>
          </p:nvSpPr>
          <p:spPr>
            <a:xfrm>
              <a:off x="3888432" y="5523258"/>
              <a:ext cx="230518" cy="291133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이클립스 디버깅 기능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3221" y="1341783"/>
            <a:ext cx="7595272" cy="26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회원 가입 페이지를 열어 새 회원 정보를 입력한 후 가입하기를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5119" y="4025347"/>
            <a:ext cx="7603432" cy="449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웹 브라우저의 요청을 받은 이클립스가 디버그 모드로 전환하기 위한 동의 요청창이 나타나면 </a:t>
            </a:r>
            <a:r>
              <a:rPr lang="en-US" altLang="ko-KR" sz="1200">
                <a:latin typeface="+mj-ea"/>
                <a:ea typeface="+mj-ea"/>
              </a:rPr>
              <a:t>Remember 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  my decision </a:t>
            </a:r>
            <a:r>
              <a:rPr lang="ko-KR" altLang="en-US" sz="1200">
                <a:latin typeface="+mj-ea"/>
                <a:ea typeface="+mj-ea"/>
              </a:rPr>
              <a:t>옵션 체크박스에 체크한 후 </a:t>
            </a:r>
            <a:r>
              <a:rPr lang="en-US" altLang="ko-KR" sz="1200">
                <a:latin typeface="+mj-ea"/>
                <a:ea typeface="+mj-ea"/>
              </a:rPr>
              <a:t>Yes</a:t>
            </a:r>
            <a:r>
              <a:rPr lang="ko-KR" altLang="en-US" sz="1200">
                <a:latin typeface="+mj-ea"/>
                <a:ea typeface="+mj-ea"/>
              </a:rPr>
              <a:t>를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258171" y="1639308"/>
            <a:ext cx="3474720" cy="22358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2258171" y="3637722"/>
            <a:ext cx="673872" cy="23742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258171" y="4572000"/>
            <a:ext cx="3971290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258171" y="5893904"/>
            <a:ext cx="256429" cy="19878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701209" y="6092687"/>
            <a:ext cx="685800" cy="18884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이클립스 디버깅 기능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104" y="1510748"/>
            <a:ext cx="7454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이클립스가 디버그 모드로 전환되고 실행은 중단점에서 정지합니다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663989" y="1787747"/>
            <a:ext cx="4961255" cy="21831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1560443" y="1888435"/>
            <a:ext cx="2964231" cy="18884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  <a:defRPr/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이클립스 디버깅 기능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00809"/>
            <a:ext cx="77443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ko-KR" altLang="en-US" sz="1200">
                <a:latin typeface="+mj-ea"/>
                <a:ea typeface="+mj-ea"/>
              </a:rPr>
              <a:t>이클립스 상단의 여러 가지 버튼을 이용해 디버깅을 수행합니다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4583" y="3637722"/>
            <a:ext cx="6947452" cy="200869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400">
                <a:latin typeface="+mj-ea"/>
                <a:ea typeface="+mj-ea"/>
              </a:rPr>
              <a:t> </a:t>
            </a:r>
            <a:r>
              <a:rPr lang="en-US" altLang="ko-KR" sz="1400" b="1">
                <a:latin typeface="+mj-ea"/>
                <a:ea typeface="+mj-ea"/>
              </a:rPr>
              <a:t>Resume</a:t>
            </a:r>
            <a:r>
              <a:rPr lang="en-US" altLang="ko-KR" sz="1400">
                <a:latin typeface="+mj-ea"/>
                <a:ea typeface="+mj-ea"/>
              </a:rPr>
              <a:t>: </a:t>
            </a:r>
            <a:r>
              <a:rPr lang="ko-KR" altLang="en-US" sz="1400">
                <a:latin typeface="+mj-ea"/>
                <a:ea typeface="+mj-ea"/>
              </a:rPr>
              <a:t>다음 중단점을 만날 때까지 진행합니다</a:t>
            </a:r>
            <a:r>
              <a:rPr lang="en-US" altLang="ko-KR" sz="1400">
                <a:latin typeface="+mj-ea"/>
                <a:ea typeface="+mj-ea"/>
              </a:rPr>
              <a:t>(F8 ).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400">
                <a:latin typeface="+mj-ea"/>
                <a:ea typeface="+mj-ea"/>
              </a:rPr>
              <a:t> </a:t>
            </a:r>
            <a:r>
              <a:rPr lang="en-US" altLang="ko-KR" sz="1400" b="1">
                <a:latin typeface="+mj-ea"/>
                <a:ea typeface="+mj-ea"/>
              </a:rPr>
              <a:t>Suspend</a:t>
            </a:r>
            <a:r>
              <a:rPr lang="en-US" altLang="ko-KR" sz="1400">
                <a:latin typeface="+mj-ea"/>
                <a:ea typeface="+mj-ea"/>
              </a:rPr>
              <a:t>: </a:t>
            </a:r>
            <a:r>
              <a:rPr lang="ko-KR" altLang="en-US" sz="1400">
                <a:latin typeface="+mj-ea"/>
                <a:ea typeface="+mj-ea"/>
              </a:rPr>
              <a:t>현재 동작하고 있는 스레드를 멈춥니다</a:t>
            </a:r>
            <a:r>
              <a:rPr lang="en-US" altLang="ko-KR" sz="1400">
                <a:latin typeface="+mj-ea"/>
                <a:ea typeface="+mj-ea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400">
                <a:latin typeface="+mj-ea"/>
                <a:ea typeface="+mj-ea"/>
              </a:rPr>
              <a:t> </a:t>
            </a:r>
            <a:r>
              <a:rPr lang="en-US" altLang="ko-KR" sz="1400" b="1">
                <a:latin typeface="+mj-ea"/>
                <a:ea typeface="+mj-ea"/>
              </a:rPr>
              <a:t>Terminate</a:t>
            </a:r>
            <a:r>
              <a:rPr lang="en-US" altLang="ko-KR" sz="1400">
                <a:latin typeface="+mj-ea"/>
                <a:ea typeface="+mj-ea"/>
              </a:rPr>
              <a:t>: </a:t>
            </a:r>
            <a:r>
              <a:rPr lang="ko-KR" altLang="en-US" sz="1400">
                <a:latin typeface="+mj-ea"/>
                <a:ea typeface="+mj-ea"/>
              </a:rPr>
              <a:t>프로그램을 종료합니다</a:t>
            </a:r>
            <a:r>
              <a:rPr lang="en-US" altLang="ko-KR" sz="1400">
                <a:latin typeface="+mj-ea"/>
                <a:ea typeface="+mj-ea"/>
              </a:rPr>
              <a:t>( CTRL+ F2).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en-US" altLang="ko-KR" sz="1400">
                <a:latin typeface="+mj-ea"/>
                <a:ea typeface="+mj-ea"/>
              </a:rPr>
              <a:t> </a:t>
            </a:r>
            <a:r>
              <a:rPr lang="en-US" altLang="ko-KR" sz="1400" b="1">
                <a:latin typeface="+mj-ea"/>
                <a:ea typeface="+mj-ea"/>
              </a:rPr>
              <a:t>Step Into</a:t>
            </a:r>
            <a:r>
              <a:rPr lang="en-US" altLang="ko-KR" sz="1400">
                <a:latin typeface="+mj-ea"/>
                <a:ea typeface="+mj-ea"/>
              </a:rPr>
              <a:t>: </a:t>
            </a:r>
            <a:r>
              <a:rPr lang="ko-KR" altLang="en-US" sz="1400">
                <a:latin typeface="+mj-ea"/>
                <a:ea typeface="+mj-ea"/>
              </a:rPr>
              <a:t>메서드가 존재할 경우 그 메서드로 이동합니다</a:t>
            </a:r>
            <a:r>
              <a:rPr lang="en-US" altLang="ko-KR" sz="1400">
                <a:latin typeface="+mj-ea"/>
                <a:ea typeface="+mj-ea"/>
              </a:rPr>
              <a:t>( F5).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400">
                <a:latin typeface="+mj-ea"/>
                <a:ea typeface="+mj-ea"/>
              </a:rPr>
              <a:t> </a:t>
            </a:r>
            <a:r>
              <a:rPr lang="en-US" altLang="ko-KR" sz="1400" b="1">
                <a:latin typeface="+mj-ea"/>
                <a:ea typeface="+mj-ea"/>
              </a:rPr>
              <a:t>Step Over</a:t>
            </a:r>
            <a:r>
              <a:rPr lang="en-US" altLang="ko-KR" sz="1400">
                <a:latin typeface="+mj-ea"/>
                <a:ea typeface="+mj-ea"/>
              </a:rPr>
              <a:t>: </a:t>
            </a:r>
            <a:r>
              <a:rPr lang="ko-KR" altLang="en-US" sz="1400">
                <a:solidFill>
                  <a:srgbClr val="FF0000"/>
                </a:solidFill>
                <a:latin typeface="+mj-ea"/>
                <a:ea typeface="+mj-ea"/>
              </a:rPr>
              <a:t>한 라인씩 실행합니다</a:t>
            </a:r>
            <a:r>
              <a:rPr lang="en-US" altLang="ko-KR" sz="1400">
                <a:solidFill>
                  <a:srgbClr val="FF0000"/>
                </a:solidFill>
                <a:latin typeface="+mj-ea"/>
                <a:ea typeface="+mj-ea"/>
              </a:rPr>
              <a:t>(F6).</a:t>
            </a:r>
            <a:endParaRPr lang="en-US" altLang="ko-KR" sz="140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ko-KR" altLang="en-US" sz="1400">
                <a:latin typeface="+mj-ea"/>
                <a:ea typeface="+mj-ea"/>
              </a:rPr>
              <a:t> </a:t>
            </a:r>
            <a:r>
              <a:rPr lang="en-US" altLang="ko-KR" sz="1400" b="1">
                <a:latin typeface="+mj-ea"/>
                <a:ea typeface="+mj-ea"/>
              </a:rPr>
              <a:t>Step Return</a:t>
            </a:r>
            <a:r>
              <a:rPr lang="en-US" altLang="ko-KR" sz="1400">
                <a:latin typeface="+mj-ea"/>
                <a:ea typeface="+mj-ea"/>
              </a:rPr>
              <a:t>: ‘Step Into’</a:t>
            </a:r>
            <a:r>
              <a:rPr lang="ko-KR" altLang="en-US" sz="1400">
                <a:latin typeface="+mj-ea"/>
                <a:ea typeface="+mj-ea"/>
              </a:rPr>
              <a:t>로 이동한 메서드에서 원래 위치로 복귀합니다</a:t>
            </a:r>
            <a:r>
              <a:rPr lang="en-US" altLang="ko-KR" sz="1400">
                <a:latin typeface="+mj-ea"/>
                <a:ea typeface="+mj-ea"/>
              </a:rPr>
              <a:t>( F7).</a:t>
            </a:r>
            <a:endParaRPr lang="ko-KR" altLang="en-US" sz="1400"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962319" y="1984928"/>
            <a:ext cx="5943600" cy="781050"/>
            <a:chOff x="962319" y="1984928"/>
            <a:chExt cx="5943600" cy="781050"/>
          </a:xfrm>
        </p:grpSpPr>
        <p:pic>
          <p:nvPicPr>
            <p:cNvPr id="7" name="그림 6"/>
            <p:cNvPicPr/>
            <p:nvPr/>
          </p:nvPicPr>
          <p:blipFill rotWithShape="1">
            <a:blip r:embed="rId2">
              <a:alphaModFix/>
              <a:lum/>
            </a:blip>
            <a:stretch>
              <a:fillRect/>
            </a:stretch>
          </p:blipFill>
          <p:spPr>
            <a:xfrm>
              <a:off x="962319" y="1984928"/>
              <a:ext cx="5943600" cy="7810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Text Box 2876"/>
            <p:cNvSpPr txBox="1"/>
            <p:nvPr/>
          </p:nvSpPr>
          <p:spPr>
            <a:xfrm>
              <a:off x="3417887" y="2476501"/>
              <a:ext cx="309880" cy="28575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 latinLnBrk="1">
                <a:spcAft>
                  <a:spcPct val="3000"/>
                </a:spcAft>
                <a:defRPr/>
              </a:pPr>
              <a:r>
                <a:rPr lang="ko-KR" altLang="en-US" sz="1000" b="1">
                  <a:solidFill>
                    <a:srgbClr val="FF0000"/>
                  </a:solidFill>
                  <a:cs typeface="Times New Roman"/>
                </a:rPr>
                <a:t>①</a:t>
              </a:r>
            </a:p>
          </p:txBody>
        </p:sp>
        <p:sp>
          <p:nvSpPr>
            <p:cNvPr id="9" name="Text Box 2876"/>
            <p:cNvSpPr txBox="1"/>
            <p:nvPr/>
          </p:nvSpPr>
          <p:spPr>
            <a:xfrm>
              <a:off x="3773332" y="2468220"/>
              <a:ext cx="309880" cy="28575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 latinLnBrk="1">
                <a:spcAft>
                  <a:spcPct val="3000"/>
                </a:spcAft>
                <a:defRPr/>
              </a:pPr>
              <a:r>
                <a:rPr lang="ko-KR" altLang="en-US" sz="1000" b="1">
                  <a:solidFill>
                    <a:srgbClr val="FF0000"/>
                  </a:solidFill>
                  <a:cs typeface="Times New Roman"/>
                </a:rPr>
                <a:t>③</a:t>
              </a:r>
            </a:p>
          </p:txBody>
        </p:sp>
        <p:sp>
          <p:nvSpPr>
            <p:cNvPr id="10" name="Text Box 2877"/>
            <p:cNvSpPr txBox="1"/>
            <p:nvPr/>
          </p:nvSpPr>
          <p:spPr>
            <a:xfrm>
              <a:off x="3584483" y="2476501"/>
              <a:ext cx="309880" cy="28575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 latinLnBrk="1">
                <a:spcAft>
                  <a:spcPct val="3000"/>
                </a:spcAft>
                <a:defRPr/>
              </a:pPr>
              <a:r>
                <a:rPr lang="ko-KR" altLang="en-US" sz="1000" b="1">
                  <a:solidFill>
                    <a:srgbClr val="FF0000"/>
                  </a:solidFill>
                  <a:cs typeface="Times New Roman"/>
                </a:rPr>
                <a:t>②</a:t>
              </a:r>
            </a:p>
          </p:txBody>
        </p:sp>
        <p:sp>
          <p:nvSpPr>
            <p:cNvPr id="11" name="Text Box 2876"/>
            <p:cNvSpPr txBox="1"/>
            <p:nvPr/>
          </p:nvSpPr>
          <p:spPr>
            <a:xfrm>
              <a:off x="4048144" y="2468220"/>
              <a:ext cx="309880" cy="28575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 latinLnBrk="1">
                <a:spcAft>
                  <a:spcPct val="3000"/>
                </a:spcAft>
                <a:defRPr/>
              </a:pPr>
              <a:r>
                <a:rPr lang="ko-KR" altLang="en-US" sz="1000" b="1">
                  <a:solidFill>
                    <a:srgbClr val="FF0000"/>
                  </a:solidFill>
                  <a:cs typeface="Times New Roman"/>
                </a:rPr>
                <a:t>④</a:t>
              </a:r>
            </a:p>
          </p:txBody>
        </p:sp>
        <p:sp>
          <p:nvSpPr>
            <p:cNvPr id="14" name="Text Box 2876"/>
            <p:cNvSpPr txBox="1"/>
            <p:nvPr/>
          </p:nvSpPr>
          <p:spPr>
            <a:xfrm>
              <a:off x="4250461" y="2468220"/>
              <a:ext cx="309880" cy="28575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 latinLnBrk="1">
                <a:spcAft>
                  <a:spcPct val="3000"/>
                </a:spcAft>
                <a:defRPr/>
              </a:pPr>
              <a:r>
                <a:rPr lang="ko-KR" altLang="en-US" sz="1000" b="1">
                  <a:solidFill>
                    <a:srgbClr val="FF0000"/>
                  </a:solidFill>
                  <a:cs typeface="Times New Roman"/>
                </a:rPr>
                <a:t>⑤</a:t>
              </a:r>
            </a:p>
          </p:txBody>
        </p:sp>
        <p:sp>
          <p:nvSpPr>
            <p:cNvPr id="15" name="Text Box 2876"/>
            <p:cNvSpPr txBox="1"/>
            <p:nvPr/>
          </p:nvSpPr>
          <p:spPr>
            <a:xfrm>
              <a:off x="4459230" y="2468220"/>
              <a:ext cx="309880" cy="28575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 latinLnBrk="1">
                <a:spcAft>
                  <a:spcPct val="3000"/>
                </a:spcAft>
                <a:defRPr/>
              </a:pPr>
              <a:r>
                <a:rPr lang="ko-KR" altLang="en-US" sz="1000" b="1">
                  <a:solidFill>
                    <a:srgbClr val="FF0000"/>
                  </a:solidFill>
                  <a:cs typeface="Times New Roman"/>
                </a:rPr>
                <a:t>⑥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이클립스 디버깅 기능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7" y="1471637"/>
            <a:ext cx="78338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7. </a:t>
            </a:r>
            <a:r>
              <a:rPr lang="ko-KR" altLang="en-US" sz="1200">
                <a:latin typeface="+mj-ea"/>
                <a:ea typeface="+mj-ea"/>
              </a:rPr>
              <a:t>가장 자주 사용하는 </a:t>
            </a:r>
            <a:r>
              <a:rPr lang="en-US" altLang="ko-KR" sz="1200">
                <a:latin typeface="+mj-ea"/>
                <a:ea typeface="+mj-ea"/>
              </a:rPr>
              <a:t>Step Over </a:t>
            </a:r>
            <a:r>
              <a:rPr lang="ko-KR" altLang="en-US" sz="1200">
                <a:latin typeface="+mj-ea"/>
                <a:ea typeface="+mj-ea"/>
              </a:rPr>
              <a:t>아이콘을 클릭해 중단점에서 다음 라인으로 이동합니다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654293" y="1867259"/>
            <a:ext cx="5901815" cy="37475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449995" y="2007704"/>
            <a:ext cx="188844" cy="25841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654293" y="4124739"/>
            <a:ext cx="4835959" cy="19878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이클립스 디버깅 기능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3529" y="1470992"/>
            <a:ext cx="8082290" cy="451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8. </a:t>
            </a:r>
            <a:r>
              <a:rPr lang="ko-KR" altLang="en-US" sz="1200">
                <a:latin typeface="+mj-ea"/>
                <a:ea typeface="+mj-ea"/>
              </a:rPr>
              <a:t>계속해서 </a:t>
            </a:r>
            <a:r>
              <a:rPr lang="en-US" altLang="ko-KR" sz="1200">
                <a:latin typeface="+mj-ea"/>
                <a:ea typeface="+mj-ea"/>
              </a:rPr>
              <a:t>Step Over </a:t>
            </a:r>
            <a:r>
              <a:rPr lang="ko-KR" altLang="en-US" sz="1200">
                <a:latin typeface="+mj-ea"/>
                <a:ea typeface="+mj-ea"/>
              </a:rPr>
              <a:t>아이콘을 클릭해 </a:t>
            </a:r>
            <a:r>
              <a:rPr lang="en-US" altLang="ko-KR" sz="1200">
                <a:latin typeface="+mj-ea"/>
                <a:ea typeface="+mj-ea"/>
              </a:rPr>
              <a:t>32</a:t>
            </a:r>
            <a:r>
              <a:rPr lang="ko-KR" altLang="en-US" sz="1200">
                <a:latin typeface="+mj-ea"/>
                <a:ea typeface="+mj-ea"/>
              </a:rPr>
              <a:t>행의 실행문을 실행한 후 변수 </a:t>
            </a:r>
            <a:r>
              <a:rPr lang="en-US" altLang="ko-KR" sz="1200">
                <a:latin typeface="+mj-ea"/>
                <a:ea typeface="+mj-ea"/>
              </a:rPr>
              <a:t>command </a:t>
            </a:r>
            <a:r>
              <a:rPr lang="ko-KR" altLang="en-US" sz="1200">
                <a:latin typeface="+mj-ea"/>
                <a:ea typeface="+mj-ea"/>
              </a:rPr>
              <a:t>위에 마우스 포인터를 놓으면</a:t>
            </a: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command</a:t>
            </a:r>
            <a:r>
              <a:rPr lang="ko-KR" altLang="en-US" sz="1200">
                <a:latin typeface="+mj-ea"/>
                <a:ea typeface="+mj-ea"/>
              </a:rPr>
              <a:t>의 값을 팝업창으로 표시해 줍니다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431235" y="2041987"/>
            <a:ext cx="5943600" cy="30657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623930" y="3803476"/>
            <a:ext cx="934279" cy="21866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이클립스 디버깅 기능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40565"/>
            <a:ext cx="7595272" cy="26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9. </a:t>
            </a:r>
            <a:r>
              <a:rPr lang="en-US" altLang="ko-KR" sz="1200">
                <a:latin typeface="+mj-ea"/>
                <a:ea typeface="+mj-ea"/>
              </a:rPr>
              <a:t>Step Over </a:t>
            </a:r>
            <a:r>
              <a:rPr lang="ko-KR" altLang="en-US" sz="1200">
                <a:latin typeface="+mj-ea"/>
                <a:ea typeface="+mj-ea"/>
              </a:rPr>
              <a:t>아이콘을 계속 클릭하면 </a:t>
            </a:r>
            <a:r>
              <a:rPr lang="en-US" altLang="ko-KR" sz="1200">
                <a:latin typeface="+mj-ea"/>
                <a:ea typeface="+mj-ea"/>
              </a:rPr>
              <a:t>if</a:t>
            </a:r>
            <a:r>
              <a:rPr lang="ko-KR" altLang="en-US" sz="1200">
                <a:latin typeface="+mj-ea"/>
                <a:ea typeface="+mj-ea"/>
              </a:rPr>
              <a:t>문이 참이므로 회원 정보를 가져옵니다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330955" y="1856740"/>
            <a:ext cx="5943600" cy="31445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782957" y="3886200"/>
            <a:ext cx="427382" cy="26835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이클립스 디버깅 기능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00809"/>
            <a:ext cx="7774177" cy="449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10. </a:t>
            </a:r>
            <a:r>
              <a:rPr lang="ko-KR" altLang="en-US" sz="1200">
                <a:latin typeface="+mj-ea"/>
                <a:ea typeface="+mj-ea"/>
              </a:rPr>
              <a:t>디버깅이 끝났으면 </a:t>
            </a:r>
            <a:r>
              <a:rPr lang="en-US" altLang="ko-KR" sz="1200">
                <a:latin typeface="+mj-ea"/>
                <a:ea typeface="+mj-ea"/>
              </a:rPr>
              <a:t>Resume </a:t>
            </a:r>
            <a:r>
              <a:rPr lang="ko-KR" altLang="en-US" sz="1200">
                <a:latin typeface="+mj-ea"/>
                <a:ea typeface="+mj-ea"/>
              </a:rPr>
              <a:t>아이콘을 클릭해 다음 중단점으로 이동합니다</a:t>
            </a:r>
            <a:r>
              <a:rPr lang="en-US" altLang="ko-KR" sz="1200">
                <a:latin typeface="+mj-ea"/>
                <a:ea typeface="+mj-ea"/>
              </a:rPr>
              <a:t>(</a:t>
            </a:r>
            <a:r>
              <a:rPr lang="ko-KR" altLang="en-US" sz="1200">
                <a:latin typeface="+mj-ea"/>
                <a:ea typeface="+mj-ea"/>
              </a:rPr>
              <a:t>중단점은 여러 개를 지정할 수</a:t>
            </a:r>
          </a:p>
          <a:p>
            <a:pPr lvl="0"/>
            <a:r>
              <a:rPr lang="ko-KR" altLang="en-US" sz="1200">
                <a:latin typeface="+mj-ea"/>
                <a:ea typeface="+mj-ea"/>
              </a:rPr>
              <a:t>     있습니다</a:t>
            </a:r>
            <a:r>
              <a:rPr lang="en-US" altLang="ko-KR" sz="1200">
                <a:latin typeface="+mj-ea"/>
                <a:ea typeface="+mj-ea"/>
              </a:rPr>
              <a:t>). </a:t>
            </a:r>
            <a:r>
              <a:rPr lang="ko-KR" altLang="en-US" sz="1200">
                <a:latin typeface="+mj-ea"/>
                <a:ea typeface="+mj-ea"/>
              </a:rPr>
              <a:t>중단점이 더 없으면 종료합니다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614338" y="1962474"/>
            <a:ext cx="5555735" cy="3116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156791" y="2126974"/>
            <a:ext cx="208722" cy="18884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이클립스 디버깅 기능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00808"/>
            <a:ext cx="7734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11. </a:t>
            </a:r>
            <a:r>
              <a:rPr lang="ko-KR" altLang="en-US" sz="1200">
                <a:latin typeface="+mj-ea"/>
                <a:ea typeface="+mj-ea"/>
              </a:rPr>
              <a:t>이클립스를 다시 편집 모드로 되돌리기 위해 오른쪽 상단의 </a:t>
            </a:r>
            <a:r>
              <a:rPr lang="en-US" altLang="ko-KR" sz="1200">
                <a:latin typeface="+mj-ea"/>
                <a:ea typeface="+mj-ea"/>
              </a:rPr>
              <a:t>Java EE Perspective </a:t>
            </a:r>
            <a:r>
              <a:rPr lang="ko-KR" altLang="en-US" sz="1200">
                <a:latin typeface="+mj-ea"/>
                <a:ea typeface="+mj-ea"/>
              </a:rPr>
              <a:t>아이콘을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2549593" y="1976590"/>
            <a:ext cx="2752725" cy="1295400"/>
            <a:chOff x="2549593" y="1966291"/>
            <a:chExt cx="2752725" cy="1295400"/>
          </a:xfrm>
        </p:grpSpPr>
        <p:pic>
          <p:nvPicPr>
            <p:cNvPr id="6" name="그림 5"/>
            <p:cNvPicPr/>
            <p:nvPr/>
          </p:nvPicPr>
          <p:blipFill rotWithShape="1">
            <a:blip r:embed="rId2">
              <a:alphaModFix/>
              <a:lum/>
            </a:blip>
            <a:stretch>
              <a:fillRect/>
            </a:stretch>
          </p:blipFill>
          <p:spPr>
            <a:xfrm>
              <a:off x="2549593" y="1966291"/>
              <a:ext cx="2752725" cy="1295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직사각형 3"/>
            <p:cNvSpPr/>
            <p:nvPr/>
          </p:nvSpPr>
          <p:spPr>
            <a:xfrm>
              <a:off x="4780722" y="2375452"/>
              <a:ext cx="238539" cy="238539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이클립스 디버깅 기능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119" y="1470992"/>
            <a:ext cx="7615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12. </a:t>
            </a:r>
            <a:r>
              <a:rPr lang="ko-KR" altLang="en-US" sz="1200">
                <a:latin typeface="+mj-ea"/>
                <a:ea typeface="+mj-ea"/>
              </a:rPr>
              <a:t>이클립스를 편집 모드로 전환합니다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461052" y="1916956"/>
            <a:ext cx="5943600" cy="31280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7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서블릿 비즈니스 로직 처리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이클립스 디버깅 기능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00809"/>
            <a:ext cx="7694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13. </a:t>
            </a:r>
            <a:r>
              <a:rPr lang="ko-KR" altLang="en-US" sz="1200">
                <a:latin typeface="+mj-ea"/>
                <a:ea typeface="+mj-ea"/>
              </a:rPr>
              <a:t>정상적으로 회원이 등록된 것을 확인할 수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127180" y="1936833"/>
            <a:ext cx="3895725" cy="21120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71309"/>
            <a:ext cx="9144000" cy="618951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00" b="1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데이터베이스 활용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1. WEB-INF / lib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드라이버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/ ojdbc6.jar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커넥션풀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/ tomcat-dbcp-7.0.30.jar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설치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(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다운로드사이트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/ www.java2s.com/Code/Jar/t/Downloadtomcatdbcp7030jar.htm)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2. Servers / Tomcat v9.0 Server at localhost-config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context.xml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내용에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&lt;Resource&gt;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태그를 사용하여 톰캣 실행시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db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설정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 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&lt;Resource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 </a:t>
            </a:r>
            <a:r>
              <a:rPr lang="en-US" altLang="ko-KR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name = "jdbc/oracle"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altLang="ko-KR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auth = "Container"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altLang="ko-KR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type = "javax.sql.DataSource"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 </a:t>
            </a:r>
            <a:r>
              <a:rPr lang="en-US" altLang="ko-KR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driverClassName = "oracle.jdbc.driver.OracleDriver"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altLang="ko-KR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url = "jdbc:oracle:thin:@localhost:1521:XE"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altLang="ko-KR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username = "</a:t>
            </a:r>
            <a:r>
              <a:rPr lang="en-US" altLang="ko-KR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system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altLang="ko-KR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password = "</a:t>
            </a:r>
            <a:r>
              <a:rPr lang="en-US" altLang="ko-KR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12345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"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altLang="ko-KR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maxActive = "50"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altLang="ko-KR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maxWait = "-1"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   </a:t>
            </a:r>
            <a:r>
              <a:rPr lang="EN-US" sz="1200" b="1" i="0" u="none" strike="noStrike">
                <a:solidFill>
                  <a:srgbClr val="0000FF"/>
                </a:solidFill>
                <a:latin typeface="한컴산뜻돋움"/>
                <a:ea typeface="한컴산뜻돋움"/>
                <a:cs typeface="한컴산뜻돋움"/>
              </a:rPr>
              <a:t>/&gt;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3. Dao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클래스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db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연동 코드작성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(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참고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469, 246p)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4.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오라클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DBMS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내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PC /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관리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/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서비스 및 응용 프로그램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/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서비스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OracleServiceXE / OracleXTNSListner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서비스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-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시작 눌러 실행상태 체크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(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참고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86p)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5. SQL Developer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db 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테이블 활성화 체크</a:t>
            </a:r>
            <a:r>
              <a:rPr lang="en-US" altLang="ko-KR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(</a:t>
            </a:r>
            <a:r>
              <a:rPr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참고 </a:t>
            </a:r>
            <a:r>
              <a:rPr lang="EN-US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91p)</a:t>
            </a:r>
            <a:r>
              <a:rPr lang="en-US" altLang="ko-KR" sz="1200" b="0" i="0" u="none" strike="noStrike">
                <a:solidFill>
                  <a:srgbClr val="000000"/>
                </a:solidFill>
                <a:latin typeface="한컴산뜻돋움"/>
                <a:ea typeface="한컴산뜻돋움"/>
                <a:cs typeface="한컴산뜻돋움"/>
              </a:rPr>
              <a:t> </a:t>
            </a:r>
          </a:p>
        </p:txBody>
      </p:sp>
      <p:sp>
        <p:nvSpPr>
          <p:cNvPr id="15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457200" rtl="0" eaLnBrk="1" latinLnBrk="0" hangingPunct="1">
              <a:lnSpc>
                <a:spcPct val="1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500" b="0" i="0" u="none" strike="noStrike" kern="1200" cap="none" spc="0" normalizeH="0" baseline="0">
                <a:solidFill>
                  <a:srgbClr val="A6A6A6"/>
                </a:solidFill>
                <a:latin typeface="Calibri"/>
                <a:ea typeface="맑은 고딕"/>
                <a:cs typeface="Calibri"/>
              </a:rPr>
              <a:t>7</a:t>
            </a:r>
            <a:r>
              <a:rPr kumimoji="0" lang="ko-KR" altLang="en-US" sz="1500" b="0" i="0" u="none" strike="noStrike" kern="1200" cap="none" spc="0" normalizeH="0" baseline="0">
                <a:solidFill>
                  <a:srgbClr val="A6A6A6"/>
                </a:solidFill>
                <a:latin typeface="Calibri"/>
                <a:ea typeface="맑은 고딕"/>
                <a:cs typeface="맑은 고딕"/>
              </a:rPr>
              <a:t>장 서블릿 비즈니스 로직 처리</a:t>
            </a:r>
            <a:endParaRPr kumimoji="0" lang="ko-KR" altLang="en-US" sz="1500" b="0" i="0" u="none" strike="noStrike" kern="1200" cap="none" spc="0" normalizeH="0" baseline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3454</Words>
  <Application>Microsoft Office PowerPoint</Application>
  <PresentationFormat>화면 슬라이드 쇼(4:3)</PresentationFormat>
  <Paragraphs>1046</Paragraphs>
  <Slides>77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77</vt:i4>
      </vt:variant>
    </vt:vector>
  </HeadingPairs>
  <TitlesOfParts>
    <vt:vector size="87" baseType="lpstr">
      <vt:lpstr>mn-ea</vt:lpstr>
      <vt:lpstr>맑은 고딕</vt:lpstr>
      <vt:lpstr>한컴산뜻돋움</vt:lpstr>
      <vt:lpstr>함초롬돋움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SSEN Kim</dc:creator>
  <cp:lastModifiedBy>JA-PROFESSOR</cp:lastModifiedBy>
  <cp:revision>773</cp:revision>
  <dcterms:created xsi:type="dcterms:W3CDTF">2018-08-29T04:30:46Z</dcterms:created>
  <dcterms:modified xsi:type="dcterms:W3CDTF">2025-08-18T00:34:22Z</dcterms:modified>
  <cp:version/>
</cp:coreProperties>
</file>